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437046420f47fe" /><Relationship Type="http://schemas.openxmlformats.org/officeDocument/2006/relationships/extended-properties" Target="/docProps/app.xml" Id="R12b513c8a1734b10" /><Relationship Type="http://schemas.openxmlformats.org/officeDocument/2006/relationships/officeDocument" Target="/ppt/presentation.xml" Id="R3f920731f9ae46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263b3d46374a36"/>
  </p:sldMasterIdLst>
  <p:notesMasterIdLst>
    <p:notesMasterId xmlns:r="http://schemas.openxmlformats.org/officeDocument/2006/relationships" r:id="Rc8d45415846b49a1"/>
  </p:notesMasterIdLst>
  <p:sldIdLst>
    <p:sldId xmlns:r="http://schemas.openxmlformats.org/officeDocument/2006/relationships" id="256" r:id="Rb3c3804dc8164e97"/>
    <p:sldId xmlns:r="http://schemas.openxmlformats.org/officeDocument/2006/relationships" id="257" r:id="R42a35c11575840dc"/>
    <p:sldId xmlns:r="http://schemas.openxmlformats.org/officeDocument/2006/relationships" id="258" r:id="Rcdefed1505374913"/>
    <p:sldId xmlns:r="http://schemas.openxmlformats.org/officeDocument/2006/relationships" id="259" r:id="Rc448a6c17a0e4345"/>
    <p:sldId xmlns:r="http://schemas.openxmlformats.org/officeDocument/2006/relationships" id="260" r:id="Ra92dcaf41164444a"/>
    <p:sldId xmlns:r="http://schemas.openxmlformats.org/officeDocument/2006/relationships" id="261" r:id="R5be5ecd04d2649a3"/>
    <p:sldId xmlns:r="http://schemas.openxmlformats.org/officeDocument/2006/relationships" id="262" r:id="R717602225b0244dc"/>
    <p:sldId xmlns:r="http://schemas.openxmlformats.org/officeDocument/2006/relationships" id="263" r:id="R97d00ea39468412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c30795f805426d" /><Relationship Type="http://schemas.openxmlformats.org/officeDocument/2006/relationships/slideMaster" Target="/ppt/slideMasters/slideMaster1.xml" Id="R6c263b3d46374a36" /><Relationship Type="http://schemas.openxmlformats.org/officeDocument/2006/relationships/notesMaster" Target="/ppt/notesMasters/notesMaster1.xml" Id="Rc8d45415846b49a1" /><Relationship Type="http://schemas.openxmlformats.org/officeDocument/2006/relationships/presProps" Target="/ppt/presProps.xml" Id="R6712418210ed4a34" /><Relationship Type="http://schemas.openxmlformats.org/officeDocument/2006/relationships/tableStyles" Target="/ppt/tableStyles.xml" Id="R06f4dc954a27496d" /><Relationship Type="http://schemas.openxmlformats.org/officeDocument/2006/relationships/slide" Target="/ppt/slides/slide1.xml" Id="Rb3c3804dc8164e97" /><Relationship Type="http://schemas.openxmlformats.org/officeDocument/2006/relationships/slide" Target="/ppt/slides/slide2.xml" Id="R42a35c11575840dc" /><Relationship Type="http://schemas.openxmlformats.org/officeDocument/2006/relationships/slide" Target="/ppt/slides/slide3.xml" Id="Rcdefed1505374913" /><Relationship Type="http://schemas.openxmlformats.org/officeDocument/2006/relationships/slide" Target="/ppt/slides/slide4.xml" Id="Rc448a6c17a0e4345" /><Relationship Type="http://schemas.openxmlformats.org/officeDocument/2006/relationships/slide" Target="/ppt/slides/slide5.xml" Id="Ra92dcaf41164444a" /><Relationship Type="http://schemas.openxmlformats.org/officeDocument/2006/relationships/slide" Target="/ppt/slides/slide6.xml" Id="R5be5ecd04d2649a3" /><Relationship Type="http://schemas.openxmlformats.org/officeDocument/2006/relationships/slide" Target="/ppt/slides/slide7.xml" Id="R717602225b0244dc" /><Relationship Type="http://schemas.openxmlformats.org/officeDocument/2006/relationships/slide" Target="/ppt/slides/slide8.xml" Id="R97d00ea3946841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61f47de01a49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c6111f8a294c70" /><Relationship Type="http://schemas.openxmlformats.org/officeDocument/2006/relationships/notesMaster" Target="/ppt/notesMasters/notesMaster1.xml" Id="Rb69b02126d2b43d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009760bf074f26" /><Relationship Type="http://schemas.openxmlformats.org/officeDocument/2006/relationships/notesMaster" Target="/ppt/notesMasters/notesMaster1.xml" Id="R94040b4d3710410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2c0c951b364068" /><Relationship Type="http://schemas.openxmlformats.org/officeDocument/2006/relationships/notesMaster" Target="/ppt/notesMasters/notesMaster1.xml" Id="R42b05190bea84d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da40f443dd444a0" /><Relationship Type="http://schemas.openxmlformats.org/officeDocument/2006/relationships/notesMaster" Target="/ppt/notesMasters/notesMaster1.xml" Id="Rb4f6976d28504e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67a23c37b444b7" /><Relationship Type="http://schemas.openxmlformats.org/officeDocument/2006/relationships/notesMaster" Target="/ppt/notesMasters/notesMaster1.xml" Id="R2a5caa7b157648f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462e3b33fd4f6c" /><Relationship Type="http://schemas.openxmlformats.org/officeDocument/2006/relationships/notesMaster" Target="/ppt/notesMasters/notesMaster1.xml" Id="R1c823ec0a56348c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214bbb9c78a467b" /><Relationship Type="http://schemas.openxmlformats.org/officeDocument/2006/relationships/notesMaster" Target="/ppt/notesMasters/notesMaster1.xml" Id="Rf9923ec5729c4a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6ccce2509ec45e1" /><Relationship Type="http://schemas.openxmlformats.org/officeDocument/2006/relationships/notesMaster" Target="/ppt/notesMasters/notesMaster1.xml" Id="R35bf305e1f434f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005594d83749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818a760eaa40a2" /><Relationship Type="http://schemas.openxmlformats.org/officeDocument/2006/relationships/slideLayout" Target="/ppt/slideLayouts/slideLayout1.xml" Id="R2870e3592bf044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70e3592bf044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1183c3b90e4697" /><Relationship Type="http://schemas.openxmlformats.org/officeDocument/2006/relationships/notesSlide" Target="/ppt/notesSlides/notesSlide1.xml" Id="R30f56478a3e643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ee7b0218704340" /><Relationship Type="http://schemas.openxmlformats.org/officeDocument/2006/relationships/notesSlide" Target="/ppt/notesSlides/notesSlide2.xml" Id="R1b98acf060ec4c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50ad1e9d0948dd" /><Relationship Type="http://schemas.openxmlformats.org/officeDocument/2006/relationships/notesSlide" Target="/ppt/notesSlides/notesSlide3.xml" Id="R1c8b94b19ad144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20478ba6cf4f74" /><Relationship Type="http://schemas.openxmlformats.org/officeDocument/2006/relationships/notesSlide" Target="/ppt/notesSlides/notesSlide4.xml" Id="R8bbf6aefecad44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5d417975d04771" /><Relationship Type="http://schemas.openxmlformats.org/officeDocument/2006/relationships/notesSlide" Target="/ppt/notesSlides/notesSlide5.xml" Id="Rc32376e119c74c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37ad0fd10c41e6" /><Relationship Type="http://schemas.openxmlformats.org/officeDocument/2006/relationships/notesSlide" Target="/ppt/notesSlides/notesSlide6.xml" Id="R9f3bcbf4096f431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2e7da4aabb464b" /><Relationship Type="http://schemas.openxmlformats.org/officeDocument/2006/relationships/notesSlide" Target="/ppt/notesSlides/notesSlide7.xml" Id="R79bb7bc2ce0e475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994c809c6d41ea" /><Relationship Type="http://schemas.openxmlformats.org/officeDocument/2006/relationships/notesSlide" Target="/ppt/notesSlides/notesSlide8.xml" Id="Rce5f0df115694c3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B1EF6D9D-4E16-460D-8907-B2D18A34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eck-type">
            <a:extLst xmlns:a="http://schemas.openxmlformats.org/drawingml/2006/main">
              <a:ext uri="{FF2B5EF4-FFF2-40B4-BE49-F238E27FC236}">
                <a16:creationId xmlns:a16="http://schemas.microsoft.com/office/drawing/2014/main" id="{EF2E3884-9935-4B36-A354-C5783772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144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C7A"/>
                </a:solidFill>
              </a:defRPr>
            </a:pPr>
            <a:r>
              <a:rPr sz="1275" b="1">
                <a:solidFill>
                  <a:srgbClr val="007C7A"/>
                </a:solidFill>
              </a:rPr>
              <a:t>文献与方法综述</a:t>
            </a:r>
          </a:p>
        </p:txBody>
      </p:sp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5492F483-F1BE-4905-A7FC-034EB89A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7524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63D3D"/>
                </a:solidFill>
              </a:defRPr>
            </a:pPr>
            <a:r>
              <a:rPr sz="3900" b="1">
                <a:solidFill>
                  <a:srgbClr val="163D3D"/>
                </a:solidFill>
              </a:rPr>
              <a:t>研究主题：从生物学问题</a:t>
            </a:r>
          </a:p>
          <a:p xmlns:a="http://schemas.openxmlformats.org/drawingml/2006/main">
            <a:pPr>
              <a:defRPr sz="3900" b="1">
                <a:solidFill>
                  <a:srgbClr val="163D3D"/>
                </a:solidFill>
              </a:defRPr>
            </a:pPr>
            <a:r>
              <a:rPr sz="3900" b="1">
                <a:solidFill>
                  <a:srgbClr val="163D3D"/>
                </a:solidFill>
              </a:rPr>
              <a:t>到可验证的证据链</a:t>
            </a:r>
          </a:p>
        </p:txBody>
      </p:sp>
      <p:sp>
        <p:nvSpPr>
          <p:cNvPr id="4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F5F42D30-CD8B-4150-B3EC-D7232143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733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36E6D"/>
                </a:solidFill>
              </a:defRPr>
            </a:pPr>
            <a:r>
              <a:rPr sz="1725">
                <a:solidFill>
                  <a:srgbClr val="536E6D"/>
                </a:solidFill>
              </a:rPr>
              <a:t>围绕机制、方法与应用案例建立清晰的综述框架</a:t>
            </a:r>
          </a:p>
        </p:txBody>
      </p:sp>
      <p:sp>
        <p:nvSpPr>
          <p:cNvPr id="5" name="accent-block">
            <a:extLst xmlns:a="http://schemas.openxmlformats.org/drawingml/2006/main">
              <a:ext uri="{FF2B5EF4-FFF2-40B4-BE49-F238E27FC236}">
                <a16:creationId xmlns:a16="http://schemas.microsoft.com/office/drawing/2014/main" id="{356CFDA1-C9BD-40F8-B574-91068CF6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390650"/>
            <a:ext cx="1962150" cy="37147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0F8F6"/>
          </a:solidFill>
          <a:ln xmlns:a="http://schemas.openxmlformats.org/drawingml/2006/main" w="9525">
            <a:solidFill>
              <a:srgbClr val="CFE4DF"/>
            </a:solidFill>
            <a:prstDash val="solid"/>
          </a:ln>
        </p:spPr>
      </p:sp>
      <p:sp>
        <p:nvSpPr>
          <p:cNvPr id="6" name="motif-1">
            <a:extLst xmlns:a="http://schemas.openxmlformats.org/drawingml/2006/main">
              <a:ext uri="{FF2B5EF4-FFF2-40B4-BE49-F238E27FC236}">
                <a16:creationId xmlns:a16="http://schemas.microsoft.com/office/drawing/2014/main" id="{E2BC6E2E-3C50-4BA6-8423-2D671A4C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8097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otif-2">
            <a:extLst xmlns:a="http://schemas.openxmlformats.org/drawingml/2006/main">
              <a:ext uri="{FF2B5EF4-FFF2-40B4-BE49-F238E27FC236}">
                <a16:creationId xmlns:a16="http://schemas.microsoft.com/office/drawing/2014/main" id="{A6AA7438-4FD3-4C36-B537-56DE8AFA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5527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C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otif-3">
            <a:extLst xmlns:a="http://schemas.openxmlformats.org/drawingml/2006/main">
              <a:ext uri="{FF2B5EF4-FFF2-40B4-BE49-F238E27FC236}">
                <a16:creationId xmlns:a16="http://schemas.microsoft.com/office/drawing/2014/main" id="{35EC6125-D7EA-412D-9F15-C5A80F19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2766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7C7A"/>
            </a:solidFill>
            <a:prstDash val="solid"/>
          </a:ln>
        </p:spPr>
      </p:sp>
      <p:sp>
        <p:nvSpPr>
          <p:cNvPr id="9" name="author">
            <a:extLst xmlns:a="http://schemas.openxmlformats.org/drawingml/2006/main">
              <a:ext uri="{FF2B5EF4-FFF2-40B4-BE49-F238E27FC236}">
                <a16:creationId xmlns:a16="http://schemas.microsoft.com/office/drawing/2014/main" id="{278AED46-C704-4A72-8282-90AE1B4A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53050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E6D"/>
                </a:solidFill>
              </a:defRPr>
            </a:pPr>
            <a:r>
              <a:rPr sz="1275">
                <a:solidFill>
                  <a:srgbClr val="536E6D"/>
                </a:solidFill>
              </a:rPr>
              <a:t>汇报人｜课题组｜日期</a:t>
            </a:r>
          </a:p>
        </p:txBody>
      </p:sp>
      <p:sp>
        <p:nvSpPr>
          <p:cNvPr id="10" name="palette">
            <a:extLst xmlns:a="http://schemas.openxmlformats.org/drawingml/2006/main">
              <a:ext uri="{FF2B5EF4-FFF2-40B4-BE49-F238E27FC236}">
                <a16:creationId xmlns:a16="http://schemas.microsoft.com/office/drawing/2014/main" id="{3C5BD183-AF0E-43C3-A533-BD003E3E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41020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7C7A"/>
                </a:solidFill>
              </a:defRPr>
            </a:pPr>
            <a:r>
              <a:rPr sz="1050" b="1">
                <a:solidFill>
                  <a:srgbClr val="007C7A"/>
                </a:solidFill>
              </a:rPr>
              <a:t>B  生命青绿</a:t>
            </a:r>
          </a:p>
        </p:txBody>
      </p:sp>
    </p:spTree>
    <p:extLst>
      <p:ext uri="{BB962C8B-B14F-4D97-AF65-F5344CB8AC3E}">
        <p14:creationId xmlns:p14="http://schemas.microsoft.com/office/powerpoint/2010/main" val="16825607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ide-rule">
            <a:extLst xmlns:a="http://schemas.openxmlformats.org/drawingml/2006/main">
              <a:ext uri="{FF2B5EF4-FFF2-40B4-BE49-F238E27FC236}">
                <a16:creationId xmlns:a16="http://schemas.microsoft.com/office/drawing/2014/main" id="{44C0AE92-F99E-48BB-9BA4-046290A8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6C2A86A4-EE0A-4601-B2B3-5C8BC5A8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85850"/>
            <a:ext cx="152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007C7A"/>
                </a:solidFill>
              </a:defRPr>
            </a:pPr>
            <a:r>
              <a:rPr sz="5400" b="1">
                <a:solidFill>
                  <a:srgbClr val="007C7A"/>
                </a:solidFill>
              </a:rPr>
              <a:t>01</a:t>
            </a:r>
          </a:p>
        </p:txBody>
      </p:sp>
      <p:sp>
        <p:nvSpPr>
          <p:cNvPr id="3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E6A46079-DBBE-4D73-B74B-CE6C5002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704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63D3D"/>
                </a:solidFill>
              </a:defRPr>
            </a:pPr>
            <a:r>
              <a:rPr sz="3750" b="1">
                <a:solidFill>
                  <a:srgbClr val="163D3D"/>
                </a:solidFill>
              </a:rPr>
              <a:t>问题与研究边界</a:t>
            </a:r>
          </a:p>
        </p:txBody>
      </p:sp>
      <p:sp>
        <p:nvSpPr>
          <p:cNvPr id="4" name="section-subtitle">
            <a:extLst xmlns:a="http://schemas.openxmlformats.org/drawingml/2006/main">
              <a:ext uri="{FF2B5EF4-FFF2-40B4-BE49-F238E27FC236}">
                <a16:creationId xmlns:a16="http://schemas.microsoft.com/office/drawing/2014/main" id="{E49E7E4D-467C-4C1F-A6C8-FE788F1EB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36E6D"/>
                </a:solidFill>
              </a:defRPr>
            </a:pPr>
            <a:r>
              <a:rPr sz="1725">
                <a:solidFill>
                  <a:srgbClr val="536E6D"/>
                </a:solidFill>
              </a:rPr>
              <a:t>先明确要检测的对象，再讨论方法是否合适</a:t>
            </a:r>
          </a:p>
        </p:txBody>
      </p:sp>
      <p:sp>
        <p:nvSpPr>
          <p:cNvPr id="5" name="section-field">
            <a:extLst xmlns:a="http://schemas.openxmlformats.org/drawingml/2006/main">
              <a:ext uri="{FF2B5EF4-FFF2-40B4-BE49-F238E27FC236}">
                <a16:creationId xmlns:a16="http://schemas.microsoft.com/office/drawing/2014/main" id="{9527FC72-0DB9-4B47-B18A-1418C9A8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971550"/>
            <a:ext cx="2647950" cy="476250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0F8F6"/>
          </a:solidFill>
          <a:ln xmlns:a="http://schemas.openxmlformats.org/drawingml/2006/main" w="9525">
            <a:solidFill>
              <a:srgbClr val="CFE4DF"/>
            </a:solidFill>
            <a:prstDash val="solid"/>
          </a:ln>
        </p:spPr>
      </p:sp>
      <p:sp>
        <p:nvSpPr>
          <p:cNvPr id="6" name="section-prompt">
            <a:extLst xmlns:a="http://schemas.openxmlformats.org/drawingml/2006/main">
              <a:ext uri="{FF2B5EF4-FFF2-40B4-BE49-F238E27FC236}">
                <a16:creationId xmlns:a16="http://schemas.microsoft.com/office/drawing/2014/main" id="{8770B4CA-89DA-4AB8-AFE8-0107CCE9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6383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C7A"/>
                </a:solidFill>
              </a:defRPr>
            </a:pPr>
            <a:r>
              <a:rPr sz="1125" b="1">
                <a:solidFill>
                  <a:srgbClr val="007C7A"/>
                </a:solidFill>
              </a:rPr>
              <a:t>本节回答</a:t>
            </a:r>
          </a:p>
        </p:txBody>
      </p:sp>
      <p:sp>
        <p:nvSpPr>
          <p:cNvPr id="7" name="section-question">
            <a:extLst xmlns:a="http://schemas.openxmlformats.org/drawingml/2006/main">
              <a:ext uri="{FF2B5EF4-FFF2-40B4-BE49-F238E27FC236}">
                <a16:creationId xmlns:a16="http://schemas.microsoft.com/office/drawing/2014/main" id="{279CB6D8-13B5-475B-BF81-CDB06C22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71700"/>
            <a:ext cx="19431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3D3D"/>
                </a:solidFill>
              </a:defRPr>
            </a:pPr>
            <a:r>
              <a:rPr sz="1575" b="1">
                <a:solidFill>
                  <a:srgbClr val="163D3D"/>
                </a:solidFill>
              </a:rPr>
              <a:t>• 研究对象是什么</a:t>
            </a:r>
          </a:p>
          <a:p xmlns:a="http://schemas.openxmlformats.org/drawingml/2006/main">
            <a:pPr>
              <a:defRPr sz="1575" b="1">
                <a:solidFill>
                  <a:srgbClr val="163D3D"/>
                </a:solidFill>
              </a:defRPr>
            </a:pPr>
            <a:r>
              <a:rPr sz="1575" b="1">
                <a:solidFill>
                  <a:srgbClr val="163D3D"/>
                </a:solidFill>
              </a:rPr>
              <a:t>• 直接证据有哪些</a:t>
            </a:r>
          </a:p>
          <a:p xmlns:a="http://schemas.openxmlformats.org/drawingml/2006/main">
            <a:pPr>
              <a:defRPr sz="1575" b="1">
                <a:solidFill>
                  <a:srgbClr val="163D3D"/>
                </a:solidFill>
              </a:defRPr>
            </a:pPr>
            <a:r>
              <a:rPr sz="1575" b="1">
                <a:solidFill>
                  <a:srgbClr val="163D3D"/>
                </a:solidFill>
              </a:rPr>
              <a:t>• 哪些只是间接指标</a:t>
            </a:r>
          </a:p>
        </p:txBody>
      </p:sp>
    </p:spTree>
    <p:extLst>
      <p:ext uri="{BB962C8B-B14F-4D97-AF65-F5344CB8AC3E}">
        <p14:creationId xmlns:p14="http://schemas.microsoft.com/office/powerpoint/2010/main" val="14937939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-rule">
            <a:extLst xmlns:a="http://schemas.openxmlformats.org/drawingml/2006/main">
              <a:ext uri="{FF2B5EF4-FFF2-40B4-BE49-F238E27FC236}">
                <a16:creationId xmlns:a16="http://schemas.microsoft.com/office/drawing/2014/main" id="{3AFB0B5E-C50B-4D05-A9F6-7A68C0E3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E3A5FC29-8FB8-4051-ACAE-1C1B4606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7C7A"/>
                </a:solidFill>
              </a:defRPr>
            </a:pPr>
            <a:r>
              <a:rPr sz="1050" b="1">
                <a:solidFill>
                  <a:srgbClr val="007C7A"/>
                </a:solidFill>
              </a:rPr>
              <a:t>概念框架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A78EAD6-221C-4EF1-B86F-FCAB8D36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63D3D"/>
                </a:solidFill>
              </a:defRPr>
            </a:pPr>
            <a:r>
              <a:rPr sz="2925" b="1">
                <a:solidFill>
                  <a:srgbClr val="163D3D"/>
                </a:solidFill>
              </a:rPr>
              <a:t>先区分检测对象，再选择实验方法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9E0AC51-C511-486F-A8CC-4D89BE08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8286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7C7A"/>
                </a:solidFill>
              </a:defRPr>
            </a:pPr>
            <a:r>
              <a:rPr sz="1200" b="1">
                <a:solidFill>
                  <a:srgbClr val="007C7A"/>
                </a:solidFill>
              </a:rPr>
              <a:t>03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756E765-71FF-4FB5-95FE-9C5E6C71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4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11A2E23-A643-40CB-8B19-B15D91167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8908E"/>
                </a:solidFill>
              </a:defRPr>
            </a:pPr>
            <a:r>
              <a:rPr sz="825">
                <a:solidFill>
                  <a:srgbClr val="78908E"/>
                </a:solidFill>
              </a:rPr>
              <a:t>综述型组会 · 示例版式</a:t>
            </a:r>
          </a:p>
        </p:txBody>
      </p:sp>
      <p:sp>
        <p:nvSpPr>
          <p:cNvPr id="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0D2FDF02-BD20-4B3B-B72F-31FA8F57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78908E"/>
                </a:solidFill>
              </a:defRPr>
            </a:pPr>
            <a:r>
              <a:rPr sz="825">
                <a:solidFill>
                  <a:srgbClr val="78908E"/>
                </a:solidFill>
              </a:rPr>
              <a:t>B · 生命青绿</a:t>
            </a:r>
          </a:p>
        </p:txBody>
      </p:sp>
      <p:sp>
        <p:nvSpPr>
          <p:cNvPr id="8" name="subtitle">
            <a:extLst xmlns:a="http://schemas.openxmlformats.org/drawingml/2006/main">
              <a:ext uri="{FF2B5EF4-FFF2-40B4-BE49-F238E27FC236}">
                <a16:creationId xmlns:a16="http://schemas.microsoft.com/office/drawing/2014/main" id="{0A0C95B5-830D-4E1F-913B-B8A1AD02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E6D"/>
                </a:solidFill>
              </a:defRPr>
            </a:pPr>
            <a:r>
              <a:rPr sz="1350">
                <a:solidFill>
                  <a:srgbClr val="536E6D"/>
                </a:solidFill>
              </a:rPr>
              <a:t>同一信号可能对应不同层级的生物学变化</a:t>
            </a:r>
          </a:p>
        </p:txBody>
      </p:sp>
      <p:sp>
        <p:nvSpPr>
          <p:cNvPr id="9" name="concept-field-0">
            <a:extLst xmlns:a="http://schemas.openxmlformats.org/drawingml/2006/main">
              <a:ext uri="{FF2B5EF4-FFF2-40B4-BE49-F238E27FC236}">
                <a16:creationId xmlns:a16="http://schemas.microsoft.com/office/drawing/2014/main" id="{7E509050-8CC5-48A1-9952-8487F40F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2766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0F8F6"/>
          </a:solidFill>
          <a:ln xmlns:a="http://schemas.openxmlformats.org/drawingml/2006/main" w="9525">
            <a:solidFill>
              <a:srgbClr val="CFE4DF"/>
            </a:solidFill>
            <a:prstDash val="solid"/>
          </a:ln>
        </p:spPr>
      </p:sp>
      <p:sp>
        <p:nvSpPr>
          <p:cNvPr id="10" name="concept-number-bg-0">
            <a:extLst xmlns:a="http://schemas.openxmlformats.org/drawingml/2006/main">
              <a:ext uri="{FF2B5EF4-FFF2-40B4-BE49-F238E27FC236}">
                <a16:creationId xmlns:a16="http://schemas.microsoft.com/office/drawing/2014/main" id="{0C907DEC-A759-412E-9A4B-07529E5A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14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7A"/>
          </a:solidFill>
          <a:ln xmlns:a="http://schemas.openxmlformats.org/drawingml/2006/main" w="9525">
            <a:solidFill>
              <a:srgbClr val="CFE4DF"/>
            </a:solidFill>
            <a:prstDash val="solid"/>
          </a:ln>
        </p:spPr>
      </p:sp>
      <p:sp>
        <p:nvSpPr>
          <p:cNvPr id="11" name="concept-number-0">
            <a:extLst xmlns:a="http://schemas.openxmlformats.org/drawingml/2006/main">
              <a:ext uri="{FF2B5EF4-FFF2-40B4-BE49-F238E27FC236}">
                <a16:creationId xmlns:a16="http://schemas.microsoft.com/office/drawing/2014/main" id="{A331B580-B841-49D0-9EB3-0B72CA0A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9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concept-title-0">
            <a:extLst xmlns:a="http://schemas.openxmlformats.org/drawingml/2006/main">
              <a:ext uri="{FF2B5EF4-FFF2-40B4-BE49-F238E27FC236}">
                <a16:creationId xmlns:a16="http://schemas.microsoft.com/office/drawing/2014/main" id="{A4F7BD5B-F698-4DE8-A2AC-BC0DE09F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194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3D3D"/>
                </a:solidFill>
              </a:defRPr>
            </a:pPr>
            <a:r>
              <a:rPr sz="1875" b="1">
                <a:solidFill>
                  <a:srgbClr val="163D3D"/>
                </a:solidFill>
              </a:rPr>
              <a:t>分子状态</a:t>
            </a:r>
          </a:p>
        </p:txBody>
      </p:sp>
      <p:sp>
        <p:nvSpPr>
          <p:cNvPr id="13" name="concept-body-0">
            <a:extLst xmlns:a="http://schemas.openxmlformats.org/drawingml/2006/main">
              <a:ext uri="{FF2B5EF4-FFF2-40B4-BE49-F238E27FC236}">
                <a16:creationId xmlns:a16="http://schemas.microsoft.com/office/drawing/2014/main" id="{54C447F2-B5CC-4DD2-AF9F-3224ECA1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48100"/>
            <a:ext cx="2647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E6D"/>
                </a:solidFill>
              </a:defRPr>
            </a:pPr>
            <a:r>
              <a:rPr sz="1350">
                <a:solidFill>
                  <a:srgbClr val="536E6D"/>
                </a:solidFill>
              </a:rPr>
              <a:t>构象变化、错误折叠、聚集体形成</a:t>
            </a:r>
          </a:p>
        </p:txBody>
      </p:sp>
      <p:sp>
        <p:nvSpPr>
          <p:cNvPr id="14" name="concept-field-1">
            <a:extLst xmlns:a="http://schemas.openxmlformats.org/drawingml/2006/main">
              <a:ext uri="{FF2B5EF4-FFF2-40B4-BE49-F238E27FC236}">
                <a16:creationId xmlns:a16="http://schemas.microsoft.com/office/drawing/2014/main" id="{2A0B139C-CC97-4778-ADD6-B5728C3D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190750"/>
            <a:ext cx="32766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4DF"/>
            </a:solidFill>
            <a:prstDash val="solid"/>
          </a:ln>
        </p:spPr>
      </p:sp>
      <p:sp>
        <p:nvSpPr>
          <p:cNvPr id="15" name="concept-number-bg-1">
            <a:extLst xmlns:a="http://schemas.openxmlformats.org/drawingml/2006/main">
              <a:ext uri="{FF2B5EF4-FFF2-40B4-BE49-F238E27FC236}">
                <a16:creationId xmlns:a16="http://schemas.microsoft.com/office/drawing/2014/main" id="{98E1EC76-4FB0-4E21-B3D9-C0044C4E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514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8F6"/>
          </a:solidFill>
          <a:ln xmlns:a="http://schemas.openxmlformats.org/drawingml/2006/main" w="9525">
            <a:solidFill>
              <a:srgbClr val="CFE4DF"/>
            </a:solidFill>
            <a:prstDash val="solid"/>
          </a:ln>
        </p:spPr>
      </p:sp>
      <p:sp>
        <p:nvSpPr>
          <p:cNvPr id="16" name="concept-number-1">
            <a:extLst xmlns:a="http://schemas.openxmlformats.org/drawingml/2006/main">
              <a:ext uri="{FF2B5EF4-FFF2-40B4-BE49-F238E27FC236}">
                <a16:creationId xmlns:a16="http://schemas.microsoft.com/office/drawing/2014/main" id="{AF6F230A-FA27-439E-A543-5248DC88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59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7C7A"/>
                </a:solidFill>
              </a:defRPr>
            </a:pPr>
            <a:r>
              <a:rPr sz="1275" b="1">
                <a:solidFill>
                  <a:srgbClr val="007C7A"/>
                </a:solidFill>
              </a:rPr>
              <a:t>2</a:t>
            </a:r>
          </a:p>
        </p:txBody>
      </p:sp>
      <p:sp>
        <p:nvSpPr>
          <p:cNvPr id="17" name="concept-title-1">
            <a:extLst xmlns:a="http://schemas.openxmlformats.org/drawingml/2006/main">
              <a:ext uri="{FF2B5EF4-FFF2-40B4-BE49-F238E27FC236}">
                <a16:creationId xmlns:a16="http://schemas.microsoft.com/office/drawing/2014/main" id="{7471ECA0-790E-42D7-ADE5-AF7C48FC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2194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3D3D"/>
                </a:solidFill>
              </a:defRPr>
            </a:pPr>
            <a:r>
              <a:rPr sz="1875" b="1">
                <a:solidFill>
                  <a:srgbClr val="163D3D"/>
                </a:solidFill>
              </a:rPr>
              <a:t>细胞定位</a:t>
            </a:r>
          </a:p>
        </p:txBody>
      </p:sp>
      <p:sp>
        <p:nvSpPr>
          <p:cNvPr id="18" name="concept-body-1">
            <a:extLst xmlns:a="http://schemas.openxmlformats.org/drawingml/2006/main">
              <a:ext uri="{FF2B5EF4-FFF2-40B4-BE49-F238E27FC236}">
                <a16:creationId xmlns:a16="http://schemas.microsoft.com/office/drawing/2014/main" id="{F557E945-AD2A-46DB-AC55-FF3D3A27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48100"/>
            <a:ext cx="2647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E6D"/>
                </a:solidFill>
              </a:defRPr>
            </a:pPr>
            <a:r>
              <a:rPr sz="1350">
                <a:solidFill>
                  <a:srgbClr val="536E6D"/>
                </a:solidFill>
              </a:rPr>
              <a:t>胞质、细胞器或特定亚细胞区域</a:t>
            </a:r>
          </a:p>
        </p:txBody>
      </p:sp>
      <p:sp>
        <p:nvSpPr>
          <p:cNvPr id="19" name="concept-field-2">
            <a:extLst xmlns:a="http://schemas.openxmlformats.org/drawingml/2006/main">
              <a:ext uri="{FF2B5EF4-FFF2-40B4-BE49-F238E27FC236}">
                <a16:creationId xmlns:a16="http://schemas.microsoft.com/office/drawing/2014/main" id="{C4D50F65-159D-4210-91B4-DAB5A304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90750"/>
            <a:ext cx="32766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4DF"/>
            </a:solidFill>
            <a:prstDash val="solid"/>
          </a:ln>
        </p:spPr>
      </p:sp>
      <p:sp>
        <p:nvSpPr>
          <p:cNvPr id="20" name="concept-number-bg-2">
            <a:extLst xmlns:a="http://schemas.openxmlformats.org/drawingml/2006/main">
              <a:ext uri="{FF2B5EF4-FFF2-40B4-BE49-F238E27FC236}">
                <a16:creationId xmlns:a16="http://schemas.microsoft.com/office/drawing/2014/main" id="{20F22E53-4F40-4344-888F-F358B971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14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8F6"/>
          </a:solidFill>
          <a:ln xmlns:a="http://schemas.openxmlformats.org/drawingml/2006/main" w="9525">
            <a:solidFill>
              <a:srgbClr val="CFE4DF"/>
            </a:solidFill>
            <a:prstDash val="solid"/>
          </a:ln>
        </p:spPr>
      </p:sp>
      <p:sp>
        <p:nvSpPr>
          <p:cNvPr id="21" name="concept-number-2">
            <a:extLst xmlns:a="http://schemas.openxmlformats.org/drawingml/2006/main">
              <a:ext uri="{FF2B5EF4-FFF2-40B4-BE49-F238E27FC236}">
                <a16:creationId xmlns:a16="http://schemas.microsoft.com/office/drawing/2014/main" id="{B7C984E2-3DD7-4420-8955-FCC8FBA8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90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7C7A"/>
                </a:solidFill>
              </a:defRPr>
            </a:pPr>
            <a:r>
              <a:rPr sz="1275" b="1">
                <a:solidFill>
                  <a:srgbClr val="007C7A"/>
                </a:solidFill>
              </a:rPr>
              <a:t>3</a:t>
            </a:r>
          </a:p>
        </p:txBody>
      </p:sp>
      <p:sp>
        <p:nvSpPr>
          <p:cNvPr id="22" name="concept-title-2">
            <a:extLst xmlns:a="http://schemas.openxmlformats.org/drawingml/2006/main">
              <a:ext uri="{FF2B5EF4-FFF2-40B4-BE49-F238E27FC236}">
                <a16:creationId xmlns:a16="http://schemas.microsoft.com/office/drawing/2014/main" id="{B5DAEC06-7BE6-4B4E-BE51-279F08DA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194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3D3D"/>
                </a:solidFill>
              </a:defRPr>
            </a:pPr>
            <a:r>
              <a:rPr sz="1875" b="1">
                <a:solidFill>
                  <a:srgbClr val="163D3D"/>
                </a:solidFill>
              </a:rPr>
              <a:t>功能后果</a:t>
            </a:r>
          </a:p>
        </p:txBody>
      </p:sp>
      <p:sp>
        <p:nvSpPr>
          <p:cNvPr id="23" name="concept-body-2">
            <a:extLst xmlns:a="http://schemas.openxmlformats.org/drawingml/2006/main">
              <a:ext uri="{FF2B5EF4-FFF2-40B4-BE49-F238E27FC236}">
                <a16:creationId xmlns:a16="http://schemas.microsoft.com/office/drawing/2014/main" id="{BA74C944-FB27-4B0E-9EB5-6EE98203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48100"/>
            <a:ext cx="2647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E6D"/>
                </a:solidFill>
              </a:defRPr>
            </a:pPr>
            <a:r>
              <a:rPr sz="1350">
                <a:solidFill>
                  <a:srgbClr val="536E6D"/>
                </a:solidFill>
              </a:rPr>
              <a:t>应激反应、降解障碍或细胞毒性</a:t>
            </a:r>
          </a:p>
        </p:txBody>
      </p:sp>
    </p:spTree>
    <p:extLst>
      <p:ext uri="{BB962C8B-B14F-4D97-AF65-F5344CB8AC3E}">
        <p14:creationId xmlns:p14="http://schemas.microsoft.com/office/powerpoint/2010/main" val="16705791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ule">
            <a:extLst xmlns:a="http://schemas.openxmlformats.org/drawingml/2006/main">
              <a:ext uri="{FF2B5EF4-FFF2-40B4-BE49-F238E27FC236}">
                <a16:creationId xmlns:a16="http://schemas.microsoft.com/office/drawing/2014/main" id="{0E1E19F2-0BB2-4A15-9233-FCA51898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A75E4383-3845-440C-ABE5-4A1422BB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7C7A"/>
                </a:solidFill>
              </a:defRPr>
            </a:pPr>
            <a:r>
              <a:rPr sz="1050" b="1">
                <a:solidFill>
                  <a:srgbClr val="007C7A"/>
                </a:solidFill>
              </a:rPr>
              <a:t>应用案例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3EC6DA1-1A58-451E-ACB2-C9A207C3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63D3D"/>
                </a:solidFill>
              </a:defRPr>
            </a:pPr>
            <a:r>
              <a:rPr sz="2925" b="1">
                <a:solidFill>
                  <a:srgbClr val="163D3D"/>
                </a:solidFill>
              </a:rPr>
              <a:t>文献图应服务于一个明确判断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E676164-8372-4208-90F9-7A0B261E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8286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7C7A"/>
                </a:solidFill>
              </a:defRPr>
            </a:pPr>
            <a:r>
              <a:rPr sz="1200" b="1">
                <a:solidFill>
                  <a:srgbClr val="007C7A"/>
                </a:solidFill>
              </a:rPr>
              <a:t>04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68D6E23-9294-453D-877A-173A60A9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4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D484D18-8E85-440A-977F-9B394C2A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8908E"/>
                </a:solidFill>
              </a:defRPr>
            </a:pPr>
            <a:r>
              <a:rPr sz="825">
                <a:solidFill>
                  <a:srgbClr val="78908E"/>
                </a:solidFill>
              </a:rPr>
              <a:t>综述型组会 · 示例版式</a:t>
            </a:r>
          </a:p>
        </p:txBody>
      </p:sp>
      <p:sp>
        <p:nvSpPr>
          <p:cNvPr id="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FB3E37E3-BD71-47F5-812F-5BE57B2D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78908E"/>
                </a:solidFill>
              </a:defRPr>
            </a:pPr>
            <a:r>
              <a:rPr sz="825">
                <a:solidFill>
                  <a:srgbClr val="78908E"/>
                </a:solidFill>
              </a:rPr>
              <a:t>B · 生命青绿</a:t>
            </a:r>
          </a:p>
        </p:txBody>
      </p:sp>
      <p:sp>
        <p:nvSpPr>
          <p:cNvPr id="8" name="figure-frame">
            <a:extLst xmlns:a="http://schemas.openxmlformats.org/drawingml/2006/main">
              <a:ext uri="{FF2B5EF4-FFF2-40B4-BE49-F238E27FC236}">
                <a16:creationId xmlns:a16="http://schemas.microsoft.com/office/drawing/2014/main" id="{2DA9B3A6-E353-4089-9A1A-D7877FAC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6400800" cy="3600450"/>
          </a:xfrm>
          <a:prstGeom xmlns:a="http://schemas.openxmlformats.org/drawingml/2006/main" prst="roundRect">
            <a:avLst>
              <a:gd name="adj" fmla="val 2116"/>
            </a:avLst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CFE4DF"/>
            </a:solidFill>
            <a:prstDash val="solid"/>
          </a:ln>
        </p:spPr>
      </p:sp>
      <p:sp>
        <p:nvSpPr>
          <p:cNvPr id="9" name="figure-label">
            <a:extLst xmlns:a="http://schemas.openxmlformats.org/drawingml/2006/main">
              <a:ext uri="{FF2B5EF4-FFF2-40B4-BE49-F238E27FC236}">
                <a16:creationId xmlns:a16="http://schemas.microsoft.com/office/drawing/2014/main" id="{B59A35F9-A70F-4D9C-AB4A-834D064B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19450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8908E"/>
                </a:solidFill>
              </a:defRPr>
            </a:pPr>
            <a:r>
              <a:rPr sz="1950" b="1">
                <a:solidFill>
                  <a:srgbClr val="78908E"/>
                </a:solidFill>
              </a:rPr>
              <a:t>文献图 / 实验图</a:t>
            </a:r>
          </a:p>
        </p:txBody>
      </p:sp>
      <p:sp>
        <p:nvSpPr>
          <p:cNvPr id="10" name="figure-source">
            <a:extLst xmlns:a="http://schemas.openxmlformats.org/drawingml/2006/main">
              <a:ext uri="{FF2B5EF4-FFF2-40B4-BE49-F238E27FC236}">
                <a16:creationId xmlns:a16="http://schemas.microsoft.com/office/drawing/2014/main" id="{006AECA4-AA2A-48E4-B376-885FC439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7909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78908E"/>
                </a:solidFill>
              </a:defRPr>
            </a:pPr>
            <a:r>
              <a:rPr sz="1050">
                <a:solidFill>
                  <a:srgbClr val="78908E"/>
                </a:solidFill>
              </a:rPr>
              <a:t>图源与面板说明置于图下或备注区</a:t>
            </a:r>
          </a:p>
        </p:txBody>
      </p:sp>
      <p:sp>
        <p:nvSpPr>
          <p:cNvPr id="11" name="finding-label">
            <a:extLst xmlns:a="http://schemas.openxmlformats.org/drawingml/2006/main">
              <a:ext uri="{FF2B5EF4-FFF2-40B4-BE49-F238E27FC236}">
                <a16:creationId xmlns:a16="http://schemas.microsoft.com/office/drawing/2014/main" id="{DC7B3711-134A-4DB0-9998-95A96343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00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C7A"/>
                </a:solidFill>
              </a:defRPr>
            </a:pPr>
            <a:r>
              <a:rPr sz="1200" b="1">
                <a:solidFill>
                  <a:srgbClr val="007C7A"/>
                </a:solidFill>
              </a:rPr>
              <a:t>本页结论</a:t>
            </a:r>
          </a:p>
        </p:txBody>
      </p:sp>
      <p:sp>
        <p:nvSpPr>
          <p:cNvPr id="12" name="finding">
            <a:extLst xmlns:a="http://schemas.openxmlformats.org/drawingml/2006/main">
              <a:ext uri="{FF2B5EF4-FFF2-40B4-BE49-F238E27FC236}">
                <a16:creationId xmlns:a16="http://schemas.microsoft.com/office/drawing/2014/main" id="{AD8DE6CA-5F88-4DFD-83BB-E7E13712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57450"/>
            <a:ext cx="3524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63D3D"/>
                </a:solidFill>
              </a:defRPr>
            </a:pPr>
            <a:r>
              <a:rPr sz="2175" b="1">
                <a:solidFill>
                  <a:srgbClr val="163D3D"/>
                </a:solidFill>
              </a:rPr>
              <a:t>先讲图中最重要的变化，</a:t>
            </a:r>
          </a:p>
          <a:p xmlns:a="http://schemas.openxmlformats.org/drawingml/2006/main">
            <a:pPr>
              <a:defRPr sz="2175" b="1">
                <a:solidFill>
                  <a:srgbClr val="163D3D"/>
                </a:solidFill>
              </a:defRPr>
            </a:pPr>
            <a:r>
              <a:rPr sz="2175" b="1">
                <a:solidFill>
                  <a:srgbClr val="163D3D"/>
                </a:solidFill>
              </a:rPr>
              <a:t>再说明它支持什么结论。</a:t>
            </a:r>
          </a:p>
        </p:txBody>
      </p:sp>
      <p:sp>
        <p:nvSpPr>
          <p:cNvPr id="13" name="interpretation-rule">
            <a:extLst xmlns:a="http://schemas.openxmlformats.org/drawingml/2006/main">
              <a:ext uri="{FF2B5EF4-FFF2-40B4-BE49-F238E27FC236}">
                <a16:creationId xmlns:a16="http://schemas.microsoft.com/office/drawing/2014/main" id="{102A9644-7450-4558-A6A4-8C808AE2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81425"/>
            <a:ext cx="352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interpretation">
            <a:extLst xmlns:a="http://schemas.openxmlformats.org/drawingml/2006/main">
              <a:ext uri="{FF2B5EF4-FFF2-40B4-BE49-F238E27FC236}">
                <a16:creationId xmlns:a16="http://schemas.microsoft.com/office/drawing/2014/main" id="{DD8EFB7B-00BB-41D1-9668-72AFB38C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57650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E6D"/>
                </a:solidFill>
              </a:defRPr>
            </a:pPr>
            <a:r>
              <a:rPr sz="1350">
                <a:solidFill>
                  <a:srgbClr val="536E6D"/>
                </a:solidFill>
              </a:rPr>
              <a:t>避免逐项复述坐标、图例和每一个面板；同时交代样本、对照和证据边界。</a:t>
            </a:r>
          </a:p>
        </p:txBody>
      </p:sp>
    </p:spTree>
    <p:extLst>
      <p:ext uri="{BB962C8B-B14F-4D97-AF65-F5344CB8AC3E}">
        <p14:creationId xmlns:p14="http://schemas.microsoft.com/office/powerpoint/2010/main" val="15519712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top-rule">
            <a:extLst xmlns:a="http://schemas.openxmlformats.org/drawingml/2006/main">
              <a:ext uri="{FF2B5EF4-FFF2-40B4-BE49-F238E27FC236}">
                <a16:creationId xmlns:a16="http://schemas.microsoft.com/office/drawing/2014/main" id="{EFE49A05-B960-4D51-A482-F36B5F38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26AF47D0-2C87-494E-84E1-7F9BAC0C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7C7A"/>
                </a:solidFill>
              </a:defRPr>
            </a:pPr>
            <a:r>
              <a:rPr sz="1050" b="1">
                <a:solidFill>
                  <a:srgbClr val="007C7A"/>
                </a:solidFill>
              </a:rPr>
              <a:t>方法比较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FEF927A-42F3-4424-9915-EECE94F0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63D3D"/>
                </a:solidFill>
              </a:defRPr>
            </a:pPr>
            <a:r>
              <a:rPr sz="2925" b="1">
                <a:solidFill>
                  <a:srgbClr val="163D3D"/>
                </a:solidFill>
              </a:rPr>
              <a:t>方法选择取决于研究问题与证据强度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DA7F9AA-A4B7-4545-9C5A-26C57420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8286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7C7A"/>
                </a:solidFill>
              </a:defRPr>
            </a:pPr>
            <a:r>
              <a:rPr sz="1200" b="1">
                <a:solidFill>
                  <a:srgbClr val="007C7A"/>
                </a:solidFill>
              </a:rPr>
              <a:t>05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276C277-BE97-496D-96B0-8FEBE942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4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8E9CAC6-DE94-42E9-AF11-065EEA45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8908E"/>
                </a:solidFill>
              </a:defRPr>
            </a:pPr>
            <a:r>
              <a:rPr sz="825">
                <a:solidFill>
                  <a:srgbClr val="78908E"/>
                </a:solidFill>
              </a:rPr>
              <a:t>综述型组会 · 示例版式</a:t>
            </a:r>
          </a:p>
        </p:txBody>
      </p:sp>
      <p:sp>
        <p:nvSpPr>
          <p:cNvPr id="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EE51B8A0-2987-4D58-B03F-49690107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78908E"/>
                </a:solidFill>
              </a:defRPr>
            </a:pPr>
            <a:r>
              <a:rPr sz="825">
                <a:solidFill>
                  <a:srgbClr val="78908E"/>
                </a:solidFill>
              </a:rPr>
              <a:t>B · 生命青绿</a:t>
            </a:r>
          </a:p>
        </p:txBody>
      </p:sp>
      <p:sp>
        <p:nvSpPr>
          <p:cNvPr id="8" name="head-0">
            <a:extLst xmlns:a="http://schemas.openxmlformats.org/drawingml/2006/main">
              <a:ext uri="{FF2B5EF4-FFF2-40B4-BE49-F238E27FC236}">
                <a16:creationId xmlns:a16="http://schemas.microsoft.com/office/drawing/2014/main" id="{EED9A647-C5FE-4D0E-B67E-DFF2FA54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819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A"/>
          </a:solidFill>
          <a:ln xmlns:a="http://schemas.openxmlformats.org/drawingml/2006/main" w="9525">
            <a:solidFill>
              <a:srgbClr val="CFE4DF"/>
            </a:solidFill>
            <a:prstDash val="solid"/>
          </a:ln>
        </p:spPr>
      </p:sp>
      <p:sp>
        <p:nvSpPr>
          <p:cNvPr id="9" name="head-text-0">
            <a:extLst xmlns:a="http://schemas.openxmlformats.org/drawingml/2006/main">
              <a:ext uri="{FF2B5EF4-FFF2-40B4-BE49-F238E27FC236}">
                <a16:creationId xmlns:a16="http://schemas.microsoft.com/office/drawing/2014/main" id="{0F603070-1D48-4E49-B8C0-42771BD69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2407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方法</a:t>
            </a:r>
          </a:p>
        </p:txBody>
      </p:sp>
      <p:sp>
        <p:nvSpPr>
          <p:cNvPr id="10" name="head-1">
            <a:extLst xmlns:a="http://schemas.openxmlformats.org/drawingml/2006/main">
              <a:ext uri="{FF2B5EF4-FFF2-40B4-BE49-F238E27FC236}">
                <a16:creationId xmlns:a16="http://schemas.microsoft.com/office/drawing/2014/main" id="{973B5125-9EF1-4884-9D3F-2DC0B5AD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52625"/>
            <a:ext cx="2266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8F6"/>
          </a:solidFill>
          <a:ln xmlns:a="http://schemas.openxmlformats.org/drawingml/2006/main" w="9525">
            <a:solidFill>
              <a:srgbClr val="CFE4DF"/>
            </a:solidFill>
            <a:prstDash val="solid"/>
          </a:ln>
        </p:spPr>
      </p:sp>
      <p:sp>
        <p:nvSpPr>
          <p:cNvPr id="11" name="head-text-1">
            <a:extLst xmlns:a="http://schemas.openxmlformats.org/drawingml/2006/main">
              <a:ext uri="{FF2B5EF4-FFF2-40B4-BE49-F238E27FC236}">
                <a16:creationId xmlns:a16="http://schemas.microsoft.com/office/drawing/2014/main" id="{B9899BFB-72DF-4EF4-8F57-AEE998CD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240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3D3D"/>
                </a:solidFill>
              </a:defRPr>
            </a:pPr>
            <a:r>
              <a:rPr sz="1200" b="1">
                <a:solidFill>
                  <a:srgbClr val="163D3D"/>
                </a:solidFill>
              </a:rPr>
              <a:t>主要读出</a:t>
            </a:r>
          </a:p>
        </p:txBody>
      </p:sp>
      <p:sp>
        <p:nvSpPr>
          <p:cNvPr id="12" name="head-2">
            <a:extLst xmlns:a="http://schemas.openxmlformats.org/drawingml/2006/main">
              <a:ext uri="{FF2B5EF4-FFF2-40B4-BE49-F238E27FC236}">
                <a16:creationId xmlns:a16="http://schemas.microsoft.com/office/drawing/2014/main" id="{08998A00-68C6-4CD3-AE28-762DEB0F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952625"/>
            <a:ext cx="2266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8F6"/>
          </a:solidFill>
          <a:ln xmlns:a="http://schemas.openxmlformats.org/drawingml/2006/main" w="9525">
            <a:solidFill>
              <a:srgbClr val="CFE4DF"/>
            </a:solidFill>
            <a:prstDash val="solid"/>
          </a:ln>
        </p:spPr>
      </p:sp>
      <p:sp>
        <p:nvSpPr>
          <p:cNvPr id="13" name="head-text-2">
            <a:extLst xmlns:a="http://schemas.openxmlformats.org/drawingml/2006/main">
              <a:ext uri="{FF2B5EF4-FFF2-40B4-BE49-F238E27FC236}">
                <a16:creationId xmlns:a16="http://schemas.microsoft.com/office/drawing/2014/main" id="{5DEB6E07-C0FD-4355-8CE1-3356CC9A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240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3D3D"/>
                </a:solidFill>
              </a:defRPr>
            </a:pPr>
            <a:r>
              <a:rPr sz="1200" b="1">
                <a:solidFill>
                  <a:srgbClr val="163D3D"/>
                </a:solidFill>
              </a:rPr>
              <a:t>优势</a:t>
            </a:r>
          </a:p>
        </p:txBody>
      </p:sp>
      <p:sp>
        <p:nvSpPr>
          <p:cNvPr id="14" name="head-3">
            <a:extLst xmlns:a="http://schemas.openxmlformats.org/drawingml/2006/main">
              <a:ext uri="{FF2B5EF4-FFF2-40B4-BE49-F238E27FC236}">
                <a16:creationId xmlns:a16="http://schemas.microsoft.com/office/drawing/2014/main" id="{F2B46A14-F766-4897-B2E9-60C2878E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52625"/>
            <a:ext cx="194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8F6"/>
          </a:solidFill>
          <a:ln xmlns:a="http://schemas.openxmlformats.org/drawingml/2006/main" w="9525">
            <a:solidFill>
              <a:srgbClr val="CFE4DF"/>
            </a:solidFill>
            <a:prstDash val="solid"/>
          </a:ln>
        </p:spPr>
      </p:sp>
      <p:sp>
        <p:nvSpPr>
          <p:cNvPr id="15" name="head-text-3">
            <a:extLst xmlns:a="http://schemas.openxmlformats.org/drawingml/2006/main">
              <a:ext uri="{FF2B5EF4-FFF2-40B4-BE49-F238E27FC236}">
                <a16:creationId xmlns:a16="http://schemas.microsoft.com/office/drawing/2014/main" id="{34B75638-1C3D-4AB9-9E64-4846399D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24075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3D3D"/>
                </a:solidFill>
              </a:defRPr>
            </a:pPr>
            <a:r>
              <a:rPr sz="1200" b="1">
                <a:solidFill>
                  <a:srgbClr val="163D3D"/>
                </a:solidFill>
              </a:rPr>
              <a:t>局限</a:t>
            </a:r>
          </a:p>
        </p:txBody>
      </p:sp>
      <p:sp>
        <p:nvSpPr>
          <p:cNvPr id="16" name="head-4">
            <a:extLst xmlns:a="http://schemas.openxmlformats.org/drawingml/2006/main">
              <a:ext uri="{FF2B5EF4-FFF2-40B4-BE49-F238E27FC236}">
                <a16:creationId xmlns:a16="http://schemas.microsoft.com/office/drawing/2014/main" id="{E5323D8E-1915-4B4E-9FB2-2467A5A5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952625"/>
            <a:ext cx="152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8F6"/>
          </a:solidFill>
          <a:ln xmlns:a="http://schemas.openxmlformats.org/drawingml/2006/main" w="9525">
            <a:solidFill>
              <a:srgbClr val="CFE4DF"/>
            </a:solidFill>
            <a:prstDash val="solid"/>
          </a:ln>
        </p:spPr>
      </p:sp>
      <p:sp>
        <p:nvSpPr>
          <p:cNvPr id="17" name="head-text-4">
            <a:extLst xmlns:a="http://schemas.openxmlformats.org/drawingml/2006/main">
              <a:ext uri="{FF2B5EF4-FFF2-40B4-BE49-F238E27FC236}">
                <a16:creationId xmlns:a16="http://schemas.microsoft.com/office/drawing/2014/main" id="{0C918CFD-B39A-4A38-8ED0-8F081070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124075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3D3D"/>
                </a:solidFill>
              </a:defRPr>
            </a:pPr>
            <a:r>
              <a:rPr sz="1200" b="1">
                <a:solidFill>
                  <a:srgbClr val="163D3D"/>
                </a:solidFill>
              </a:rPr>
              <a:t>推荐场景</a:t>
            </a:r>
          </a:p>
        </p:txBody>
      </p:sp>
      <p:sp>
        <p:nvSpPr>
          <p:cNvPr id="18" name="cell-0-0">
            <a:extLst xmlns:a="http://schemas.openxmlformats.org/drawingml/2006/main">
              <a:ext uri="{FF2B5EF4-FFF2-40B4-BE49-F238E27FC236}">
                <a16:creationId xmlns:a16="http://schemas.microsoft.com/office/drawing/2014/main" id="{224EEB53-15D7-465B-AC05-118E78B90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62225"/>
            <a:ext cx="2819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4DF"/>
            </a:solidFill>
            <a:prstDash val="solid"/>
          </a:ln>
        </p:spPr>
      </p:sp>
      <p:sp>
        <p:nvSpPr>
          <p:cNvPr id="19" name="cell-text-0-0">
            <a:extLst xmlns:a="http://schemas.openxmlformats.org/drawingml/2006/main">
              <a:ext uri="{FF2B5EF4-FFF2-40B4-BE49-F238E27FC236}">
                <a16:creationId xmlns:a16="http://schemas.microsoft.com/office/drawing/2014/main" id="{31C6DBCD-230F-4C2F-AB7A-D42B312E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552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C7A"/>
                </a:solidFill>
              </a:defRPr>
            </a:pPr>
            <a:r>
              <a:rPr sz="1275" b="1">
                <a:solidFill>
                  <a:srgbClr val="007C7A"/>
                </a:solidFill>
              </a:rPr>
              <a:t>构象探针</a:t>
            </a:r>
          </a:p>
        </p:txBody>
      </p:sp>
      <p:sp>
        <p:nvSpPr>
          <p:cNvPr id="20" name="cell-0-1">
            <a:extLst xmlns:a="http://schemas.openxmlformats.org/drawingml/2006/main">
              <a:ext uri="{FF2B5EF4-FFF2-40B4-BE49-F238E27FC236}">
                <a16:creationId xmlns:a16="http://schemas.microsoft.com/office/drawing/2014/main" id="{CB4AA86F-2292-49D6-B60A-737A83DB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62225"/>
            <a:ext cx="22669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4DF"/>
            </a:solidFill>
            <a:prstDash val="solid"/>
          </a:ln>
        </p:spPr>
      </p:sp>
      <p:sp>
        <p:nvSpPr>
          <p:cNvPr id="21" name="cell-text-0-1">
            <a:extLst xmlns:a="http://schemas.openxmlformats.org/drawingml/2006/main">
              <a:ext uri="{FF2B5EF4-FFF2-40B4-BE49-F238E27FC236}">
                <a16:creationId xmlns:a16="http://schemas.microsoft.com/office/drawing/2014/main" id="{5DB6FF4A-A4AD-4F52-B04F-426BC424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813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E6D"/>
                </a:solidFill>
              </a:defRPr>
            </a:pPr>
            <a:r>
              <a:rPr sz="1125" b="0">
                <a:solidFill>
                  <a:srgbClr val="536E6D"/>
                </a:solidFill>
              </a:rPr>
              <a:t>局部环境变化</a:t>
            </a:r>
          </a:p>
        </p:txBody>
      </p:sp>
      <p:sp>
        <p:nvSpPr>
          <p:cNvPr id="22" name="cell-0-2">
            <a:extLst xmlns:a="http://schemas.openxmlformats.org/drawingml/2006/main">
              <a:ext uri="{FF2B5EF4-FFF2-40B4-BE49-F238E27FC236}">
                <a16:creationId xmlns:a16="http://schemas.microsoft.com/office/drawing/2014/main" id="{597AEE12-7E0B-4FCB-87EC-90CD73AF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562225"/>
            <a:ext cx="22669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4DF"/>
            </a:solidFill>
            <a:prstDash val="solid"/>
          </a:ln>
        </p:spPr>
      </p:sp>
      <p:sp>
        <p:nvSpPr>
          <p:cNvPr id="23" name="cell-text-0-2">
            <a:extLst xmlns:a="http://schemas.openxmlformats.org/drawingml/2006/main">
              <a:ext uri="{FF2B5EF4-FFF2-40B4-BE49-F238E27FC236}">
                <a16:creationId xmlns:a16="http://schemas.microsoft.com/office/drawing/2014/main" id="{A57D6474-F89B-4DF7-9FA6-F21FBF9A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813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E6D"/>
                </a:solidFill>
              </a:defRPr>
            </a:pPr>
            <a:r>
              <a:rPr sz="1125" b="0">
                <a:solidFill>
                  <a:srgbClr val="536E6D"/>
                </a:solidFill>
              </a:rPr>
              <a:t>灵敏、成像直观</a:t>
            </a:r>
          </a:p>
        </p:txBody>
      </p:sp>
      <p:sp>
        <p:nvSpPr>
          <p:cNvPr id="24" name="cell-0-3">
            <a:extLst xmlns:a="http://schemas.openxmlformats.org/drawingml/2006/main">
              <a:ext uri="{FF2B5EF4-FFF2-40B4-BE49-F238E27FC236}">
                <a16:creationId xmlns:a16="http://schemas.microsoft.com/office/drawing/2014/main" id="{B3DF369A-1BF8-4E02-A935-C185DA02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62225"/>
            <a:ext cx="1943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4DF"/>
            </a:solidFill>
            <a:prstDash val="solid"/>
          </a:ln>
        </p:spPr>
      </p:sp>
      <p:sp>
        <p:nvSpPr>
          <p:cNvPr id="25" name="cell-text-0-3">
            <a:extLst xmlns:a="http://schemas.openxmlformats.org/drawingml/2006/main">
              <a:ext uri="{FF2B5EF4-FFF2-40B4-BE49-F238E27FC236}">
                <a16:creationId xmlns:a16="http://schemas.microsoft.com/office/drawing/2014/main" id="{D862FCA8-634C-4C94-BD62-0F6FDEAD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8130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E6D"/>
                </a:solidFill>
              </a:defRPr>
            </a:pPr>
            <a:r>
              <a:rPr sz="1125" b="0">
                <a:solidFill>
                  <a:srgbClr val="536E6D"/>
                </a:solidFill>
              </a:rPr>
              <a:t>可能非特异</a:t>
            </a:r>
          </a:p>
        </p:txBody>
      </p:sp>
      <p:sp>
        <p:nvSpPr>
          <p:cNvPr id="26" name="cell-0-4">
            <a:extLst xmlns:a="http://schemas.openxmlformats.org/drawingml/2006/main">
              <a:ext uri="{FF2B5EF4-FFF2-40B4-BE49-F238E27FC236}">
                <a16:creationId xmlns:a16="http://schemas.microsoft.com/office/drawing/2014/main" id="{79E5B455-A728-43E3-A0DF-367042AA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562225"/>
            <a:ext cx="152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4DF"/>
            </a:solidFill>
            <a:prstDash val="solid"/>
          </a:ln>
        </p:spPr>
      </p:sp>
      <p:sp>
        <p:nvSpPr>
          <p:cNvPr id="27" name="cell-text-0-4">
            <a:extLst xmlns:a="http://schemas.openxmlformats.org/drawingml/2006/main">
              <a:ext uri="{FF2B5EF4-FFF2-40B4-BE49-F238E27FC236}">
                <a16:creationId xmlns:a16="http://schemas.microsoft.com/office/drawing/2014/main" id="{4C8DBACC-EEF2-40A8-B5F1-665276D0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781300"/>
            <a:ext cx="125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E6D"/>
                </a:solidFill>
              </a:defRPr>
            </a:pPr>
            <a:r>
              <a:rPr sz="1125" b="0">
                <a:solidFill>
                  <a:srgbClr val="536E6D"/>
                </a:solidFill>
              </a:rPr>
              <a:t>筛查</a:t>
            </a:r>
          </a:p>
        </p:txBody>
      </p:sp>
      <p:sp>
        <p:nvSpPr>
          <p:cNvPr id="28" name="cell-1-0">
            <a:extLst xmlns:a="http://schemas.openxmlformats.org/drawingml/2006/main">
              <a:ext uri="{FF2B5EF4-FFF2-40B4-BE49-F238E27FC236}">
                <a16:creationId xmlns:a16="http://schemas.microsoft.com/office/drawing/2014/main" id="{34F14129-CD10-4B7C-B144-FDF97241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2819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8F6"/>
          </a:solidFill>
          <a:ln xmlns:a="http://schemas.openxmlformats.org/drawingml/2006/main" w="9525">
            <a:solidFill>
              <a:srgbClr val="CFE4DF"/>
            </a:solidFill>
            <a:prstDash val="solid"/>
          </a:ln>
        </p:spPr>
      </p:sp>
      <p:sp>
        <p:nvSpPr>
          <p:cNvPr id="29" name="cell-text-1-0">
            <a:extLst xmlns:a="http://schemas.openxmlformats.org/drawingml/2006/main">
              <a:ext uri="{FF2B5EF4-FFF2-40B4-BE49-F238E27FC236}">
                <a16:creationId xmlns:a16="http://schemas.microsoft.com/office/drawing/2014/main" id="{66177DB9-DB61-4527-8941-115924BD9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95700"/>
            <a:ext cx="2552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C7A"/>
                </a:solidFill>
              </a:defRPr>
            </a:pPr>
            <a:r>
              <a:rPr sz="1275" b="1">
                <a:solidFill>
                  <a:srgbClr val="007C7A"/>
                </a:solidFill>
              </a:rPr>
              <a:t>生化分级</a:t>
            </a:r>
          </a:p>
        </p:txBody>
      </p:sp>
      <p:sp>
        <p:nvSpPr>
          <p:cNvPr id="30" name="cell-1-1">
            <a:extLst xmlns:a="http://schemas.openxmlformats.org/drawingml/2006/main">
              <a:ext uri="{FF2B5EF4-FFF2-40B4-BE49-F238E27FC236}">
                <a16:creationId xmlns:a16="http://schemas.microsoft.com/office/drawing/2014/main" id="{8866FAC7-BFCB-43DD-AC4F-388AC27D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476625"/>
            <a:ext cx="22669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8F6"/>
          </a:solidFill>
          <a:ln xmlns:a="http://schemas.openxmlformats.org/drawingml/2006/main" w="9525">
            <a:solidFill>
              <a:srgbClr val="CFE4DF"/>
            </a:solidFill>
            <a:prstDash val="solid"/>
          </a:ln>
        </p:spPr>
      </p:sp>
      <p:sp>
        <p:nvSpPr>
          <p:cNvPr id="31" name="cell-text-1-1">
            <a:extLst xmlns:a="http://schemas.openxmlformats.org/drawingml/2006/main">
              <a:ext uri="{FF2B5EF4-FFF2-40B4-BE49-F238E27FC236}">
                <a16:creationId xmlns:a16="http://schemas.microsoft.com/office/drawing/2014/main" id="{7E6339DE-4C87-4E77-91EA-C0452BFA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957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E6D"/>
                </a:solidFill>
              </a:defRPr>
            </a:pPr>
            <a:r>
              <a:rPr sz="1125" b="0">
                <a:solidFill>
                  <a:srgbClr val="536E6D"/>
                </a:solidFill>
              </a:rPr>
              <a:t>可溶 / 不溶组分</a:t>
            </a:r>
          </a:p>
        </p:txBody>
      </p:sp>
      <p:sp>
        <p:nvSpPr>
          <p:cNvPr id="32" name="cell-1-2">
            <a:extLst xmlns:a="http://schemas.openxmlformats.org/drawingml/2006/main">
              <a:ext uri="{FF2B5EF4-FFF2-40B4-BE49-F238E27FC236}">
                <a16:creationId xmlns:a16="http://schemas.microsoft.com/office/drawing/2014/main" id="{F38277C9-168B-4373-963F-3B353AD1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476625"/>
            <a:ext cx="22669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8F6"/>
          </a:solidFill>
          <a:ln xmlns:a="http://schemas.openxmlformats.org/drawingml/2006/main" w="9525">
            <a:solidFill>
              <a:srgbClr val="CFE4DF"/>
            </a:solidFill>
            <a:prstDash val="solid"/>
          </a:ln>
        </p:spPr>
      </p:sp>
      <p:sp>
        <p:nvSpPr>
          <p:cNvPr id="33" name="cell-text-1-2">
            <a:extLst xmlns:a="http://schemas.openxmlformats.org/drawingml/2006/main">
              <a:ext uri="{FF2B5EF4-FFF2-40B4-BE49-F238E27FC236}">
                <a16:creationId xmlns:a16="http://schemas.microsoft.com/office/drawing/2014/main" id="{8290065D-EC55-42C3-8CE2-224D8605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957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E6D"/>
                </a:solidFill>
              </a:defRPr>
            </a:pPr>
            <a:r>
              <a:rPr sz="1125" b="0">
                <a:solidFill>
                  <a:srgbClr val="536E6D"/>
                </a:solidFill>
              </a:rPr>
              <a:t>直接、可定量</a:t>
            </a:r>
          </a:p>
        </p:txBody>
      </p:sp>
      <p:sp>
        <p:nvSpPr>
          <p:cNvPr id="34" name="cell-1-3">
            <a:extLst xmlns:a="http://schemas.openxmlformats.org/drawingml/2006/main">
              <a:ext uri="{FF2B5EF4-FFF2-40B4-BE49-F238E27FC236}">
                <a16:creationId xmlns:a16="http://schemas.microsoft.com/office/drawing/2014/main" id="{7D9DF690-A5FD-4935-9C23-171BE91A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76625"/>
            <a:ext cx="1943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8F6"/>
          </a:solidFill>
          <a:ln xmlns:a="http://schemas.openxmlformats.org/drawingml/2006/main" w="9525">
            <a:solidFill>
              <a:srgbClr val="CFE4DF"/>
            </a:solidFill>
            <a:prstDash val="solid"/>
          </a:ln>
        </p:spPr>
      </p:sp>
      <p:sp>
        <p:nvSpPr>
          <p:cNvPr id="35" name="cell-text-1-3">
            <a:extLst xmlns:a="http://schemas.openxmlformats.org/drawingml/2006/main">
              <a:ext uri="{FF2B5EF4-FFF2-40B4-BE49-F238E27FC236}">
                <a16:creationId xmlns:a16="http://schemas.microsoft.com/office/drawing/2014/main" id="{80E08FEC-0AAE-4CEA-AC5F-F94C1393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9570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E6D"/>
                </a:solidFill>
              </a:defRPr>
            </a:pPr>
            <a:r>
              <a:rPr sz="1125" b="0">
                <a:solidFill>
                  <a:srgbClr val="536E6D"/>
                </a:solidFill>
              </a:rPr>
              <a:t>丢失空间信息</a:t>
            </a:r>
          </a:p>
        </p:txBody>
      </p:sp>
      <p:sp>
        <p:nvSpPr>
          <p:cNvPr id="36" name="cell-1-4">
            <a:extLst xmlns:a="http://schemas.openxmlformats.org/drawingml/2006/main">
              <a:ext uri="{FF2B5EF4-FFF2-40B4-BE49-F238E27FC236}">
                <a16:creationId xmlns:a16="http://schemas.microsoft.com/office/drawing/2014/main" id="{AFF145B2-E23F-4C9C-8CE2-CBA1928B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476625"/>
            <a:ext cx="152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8F6"/>
          </a:solidFill>
          <a:ln xmlns:a="http://schemas.openxmlformats.org/drawingml/2006/main" w="9525">
            <a:solidFill>
              <a:srgbClr val="CFE4DF"/>
            </a:solidFill>
            <a:prstDash val="solid"/>
          </a:ln>
        </p:spPr>
      </p:sp>
      <p:sp>
        <p:nvSpPr>
          <p:cNvPr id="37" name="cell-text-1-4">
            <a:extLst xmlns:a="http://schemas.openxmlformats.org/drawingml/2006/main">
              <a:ext uri="{FF2B5EF4-FFF2-40B4-BE49-F238E27FC236}">
                <a16:creationId xmlns:a16="http://schemas.microsoft.com/office/drawing/2014/main" id="{CDE1B6D5-ACDD-4E20-8228-461991DC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695700"/>
            <a:ext cx="125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E6D"/>
                </a:solidFill>
              </a:defRPr>
            </a:pPr>
            <a:r>
              <a:rPr sz="1125" b="0">
                <a:solidFill>
                  <a:srgbClr val="536E6D"/>
                </a:solidFill>
              </a:rPr>
              <a:t>验证</a:t>
            </a:r>
          </a:p>
        </p:txBody>
      </p:sp>
      <p:sp>
        <p:nvSpPr>
          <p:cNvPr id="38" name="cell-2-0">
            <a:extLst xmlns:a="http://schemas.openxmlformats.org/drawingml/2006/main">
              <a:ext uri="{FF2B5EF4-FFF2-40B4-BE49-F238E27FC236}">
                <a16:creationId xmlns:a16="http://schemas.microsoft.com/office/drawing/2014/main" id="{2B998363-22E3-463F-B11B-323ACBF3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91025"/>
            <a:ext cx="2819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4DF"/>
            </a:solidFill>
            <a:prstDash val="solid"/>
          </a:ln>
        </p:spPr>
      </p:sp>
      <p:sp>
        <p:nvSpPr>
          <p:cNvPr id="39" name="cell-text-2-0">
            <a:extLst xmlns:a="http://schemas.openxmlformats.org/drawingml/2006/main">
              <a:ext uri="{FF2B5EF4-FFF2-40B4-BE49-F238E27FC236}">
                <a16:creationId xmlns:a16="http://schemas.microsoft.com/office/drawing/2014/main" id="{4698A48D-9E65-406D-8B28-E8355102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10100"/>
            <a:ext cx="2552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C7A"/>
                </a:solidFill>
              </a:defRPr>
            </a:pPr>
            <a:r>
              <a:rPr sz="1275" b="1">
                <a:solidFill>
                  <a:srgbClr val="007C7A"/>
                </a:solidFill>
              </a:rPr>
              <a:t>显微成像</a:t>
            </a:r>
          </a:p>
        </p:txBody>
      </p:sp>
      <p:sp>
        <p:nvSpPr>
          <p:cNvPr id="40" name="cell-2-1">
            <a:extLst xmlns:a="http://schemas.openxmlformats.org/drawingml/2006/main">
              <a:ext uri="{FF2B5EF4-FFF2-40B4-BE49-F238E27FC236}">
                <a16:creationId xmlns:a16="http://schemas.microsoft.com/office/drawing/2014/main" id="{DD900C73-2110-4F3F-AB3B-43948E3E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391025"/>
            <a:ext cx="22669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4DF"/>
            </a:solidFill>
            <a:prstDash val="solid"/>
          </a:ln>
        </p:spPr>
      </p:sp>
      <p:sp>
        <p:nvSpPr>
          <p:cNvPr id="41" name="cell-text-2-1">
            <a:extLst xmlns:a="http://schemas.openxmlformats.org/drawingml/2006/main">
              <a:ext uri="{FF2B5EF4-FFF2-40B4-BE49-F238E27FC236}">
                <a16:creationId xmlns:a16="http://schemas.microsoft.com/office/drawing/2014/main" id="{F2E0D176-71B6-4240-BA69-6F16F922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6101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E6D"/>
                </a:solidFill>
              </a:defRPr>
            </a:pPr>
            <a:r>
              <a:rPr sz="1125" b="0">
                <a:solidFill>
                  <a:srgbClr val="536E6D"/>
                </a:solidFill>
              </a:rPr>
              <a:t>聚集体定位</a:t>
            </a:r>
          </a:p>
        </p:txBody>
      </p:sp>
      <p:sp>
        <p:nvSpPr>
          <p:cNvPr id="42" name="cell-2-2">
            <a:extLst xmlns:a="http://schemas.openxmlformats.org/drawingml/2006/main">
              <a:ext uri="{FF2B5EF4-FFF2-40B4-BE49-F238E27FC236}">
                <a16:creationId xmlns:a16="http://schemas.microsoft.com/office/drawing/2014/main" id="{BF53297A-4AB8-4048-A2E5-ACBF9986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391025"/>
            <a:ext cx="22669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4DF"/>
            </a:solidFill>
            <a:prstDash val="solid"/>
          </a:ln>
        </p:spPr>
      </p:sp>
      <p:sp>
        <p:nvSpPr>
          <p:cNvPr id="43" name="cell-text-2-2">
            <a:extLst xmlns:a="http://schemas.openxmlformats.org/drawingml/2006/main">
              <a:ext uri="{FF2B5EF4-FFF2-40B4-BE49-F238E27FC236}">
                <a16:creationId xmlns:a16="http://schemas.microsoft.com/office/drawing/2014/main" id="{59676C70-BF35-4CB9-BCF1-2A69855E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101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E6D"/>
                </a:solidFill>
              </a:defRPr>
            </a:pPr>
            <a:r>
              <a:rPr sz="1125" b="0">
                <a:solidFill>
                  <a:srgbClr val="536E6D"/>
                </a:solidFill>
              </a:rPr>
              <a:t>保留细胞背景</a:t>
            </a:r>
          </a:p>
        </p:txBody>
      </p:sp>
      <p:sp>
        <p:nvSpPr>
          <p:cNvPr id="44" name="cell-2-3">
            <a:extLst xmlns:a="http://schemas.openxmlformats.org/drawingml/2006/main">
              <a:ext uri="{FF2B5EF4-FFF2-40B4-BE49-F238E27FC236}">
                <a16:creationId xmlns:a16="http://schemas.microsoft.com/office/drawing/2014/main" id="{FFA8735E-E973-40FF-A23F-48CF1320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91025"/>
            <a:ext cx="1943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4DF"/>
            </a:solidFill>
            <a:prstDash val="solid"/>
          </a:ln>
        </p:spPr>
      </p:sp>
      <p:sp>
        <p:nvSpPr>
          <p:cNvPr id="45" name="cell-text-2-3">
            <a:extLst xmlns:a="http://schemas.openxmlformats.org/drawingml/2006/main">
              <a:ext uri="{FF2B5EF4-FFF2-40B4-BE49-F238E27FC236}">
                <a16:creationId xmlns:a16="http://schemas.microsoft.com/office/drawing/2014/main" id="{0CAED3FD-E311-4180-8472-6942A2B9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1010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E6D"/>
                </a:solidFill>
              </a:defRPr>
            </a:pPr>
            <a:r>
              <a:rPr sz="1125" b="0">
                <a:solidFill>
                  <a:srgbClr val="536E6D"/>
                </a:solidFill>
              </a:rPr>
              <a:t>依赖抗体与阈值</a:t>
            </a:r>
          </a:p>
        </p:txBody>
      </p:sp>
      <p:sp>
        <p:nvSpPr>
          <p:cNvPr id="46" name="cell-2-4">
            <a:extLst xmlns:a="http://schemas.openxmlformats.org/drawingml/2006/main">
              <a:ext uri="{FF2B5EF4-FFF2-40B4-BE49-F238E27FC236}">
                <a16:creationId xmlns:a16="http://schemas.microsoft.com/office/drawing/2014/main" id="{83B98987-4CFC-42DB-BA82-29F842CB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391025"/>
            <a:ext cx="152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4DF"/>
            </a:solidFill>
            <a:prstDash val="solid"/>
          </a:ln>
        </p:spPr>
      </p:sp>
      <p:sp>
        <p:nvSpPr>
          <p:cNvPr id="47" name="cell-text-2-4">
            <a:extLst xmlns:a="http://schemas.openxmlformats.org/drawingml/2006/main">
              <a:ext uri="{FF2B5EF4-FFF2-40B4-BE49-F238E27FC236}">
                <a16:creationId xmlns:a16="http://schemas.microsoft.com/office/drawing/2014/main" id="{4AA35576-B34C-4C18-8B77-28626AE1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610100"/>
            <a:ext cx="125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E6D"/>
                </a:solidFill>
              </a:defRPr>
            </a:pPr>
            <a:r>
              <a:rPr sz="1125" b="0">
                <a:solidFill>
                  <a:srgbClr val="536E6D"/>
                </a:solidFill>
              </a:rPr>
              <a:t>定位</a:t>
            </a:r>
          </a:p>
        </p:txBody>
      </p:sp>
    </p:spTree>
    <p:extLst>
      <p:ext uri="{BB962C8B-B14F-4D97-AF65-F5344CB8AC3E}">
        <p14:creationId xmlns:p14="http://schemas.microsoft.com/office/powerpoint/2010/main" val="16241676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op-rule">
            <a:extLst xmlns:a="http://schemas.openxmlformats.org/drawingml/2006/main">
              <a:ext uri="{FF2B5EF4-FFF2-40B4-BE49-F238E27FC236}">
                <a16:creationId xmlns:a16="http://schemas.microsoft.com/office/drawing/2014/main" id="{188256A7-3C7D-4261-846F-C63E9F69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0052B8C8-6302-417E-95CD-4AE49520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7C7A"/>
                </a:solidFill>
              </a:defRPr>
            </a:pPr>
            <a:r>
              <a:rPr sz="1050" b="1">
                <a:solidFill>
                  <a:srgbClr val="007C7A"/>
                </a:solidFill>
              </a:rPr>
              <a:t>证据链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EABC3E1-BDFE-4F68-A673-4902D64E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63D3D"/>
                </a:solidFill>
              </a:defRPr>
            </a:pPr>
            <a:r>
              <a:rPr sz="2925" b="1">
                <a:solidFill>
                  <a:srgbClr val="163D3D"/>
                </a:solidFill>
              </a:rPr>
              <a:t>可靠结论来自多层证据的相互印证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66F4717-8E94-4C80-9C1A-5E209D16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8286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7C7A"/>
                </a:solidFill>
              </a:defRPr>
            </a:pPr>
            <a:r>
              <a:rPr sz="1200" b="1">
                <a:solidFill>
                  <a:srgbClr val="007C7A"/>
                </a:solidFill>
              </a:rPr>
              <a:t>06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0D85B47-E2C0-4197-83B4-EA4CA3CA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4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CE63FA2-EDAF-4E03-9970-72E4127C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8908E"/>
                </a:solidFill>
              </a:defRPr>
            </a:pPr>
            <a:r>
              <a:rPr sz="825">
                <a:solidFill>
                  <a:srgbClr val="78908E"/>
                </a:solidFill>
              </a:rPr>
              <a:t>综述型组会 · 示例版式</a:t>
            </a:r>
          </a:p>
        </p:txBody>
      </p:sp>
      <p:sp>
        <p:nvSpPr>
          <p:cNvPr id="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C6816902-C50B-4A3D-BBCD-4878D9C8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78908E"/>
                </a:solidFill>
              </a:defRPr>
            </a:pPr>
            <a:r>
              <a:rPr sz="825">
                <a:solidFill>
                  <a:srgbClr val="78908E"/>
                </a:solidFill>
              </a:rPr>
              <a:t>B · 生命青绿</a:t>
            </a:r>
          </a:p>
        </p:txBody>
      </p:sp>
      <p:sp>
        <p:nvSpPr>
          <p:cNvPr id="8" name="workflow-arrow-0">
            <a:extLst xmlns:a="http://schemas.openxmlformats.org/drawingml/2006/main">
              <a:ext uri="{FF2B5EF4-FFF2-40B4-BE49-F238E27FC236}">
                <a16:creationId xmlns:a16="http://schemas.microsoft.com/office/drawing/2014/main" id="{5B521CC2-9C2D-4B1A-ADEF-6CEAEEBD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76625"/>
            <a:ext cx="1162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CC8B8"/>
            </a:solidFill>
            <a:prstDash val="solid"/>
          </a:ln>
        </p:spPr>
      </p:sp>
      <p:sp>
        <p:nvSpPr>
          <p:cNvPr id="9" name="workflow-arrow-1">
            <a:extLst xmlns:a="http://schemas.openxmlformats.org/drawingml/2006/main">
              <a:ext uri="{FF2B5EF4-FFF2-40B4-BE49-F238E27FC236}">
                <a16:creationId xmlns:a16="http://schemas.microsoft.com/office/drawing/2014/main" id="{14ADD732-561D-4775-9838-85C09AE0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476625"/>
            <a:ext cx="1162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CC8B8"/>
            </a:solidFill>
            <a:prstDash val="solid"/>
          </a:ln>
        </p:spPr>
      </p:sp>
      <p:sp>
        <p:nvSpPr>
          <p:cNvPr id="10" name="workflow-arrow-2">
            <a:extLst xmlns:a="http://schemas.openxmlformats.org/drawingml/2006/main">
              <a:ext uri="{FF2B5EF4-FFF2-40B4-BE49-F238E27FC236}">
                <a16:creationId xmlns:a16="http://schemas.microsoft.com/office/drawing/2014/main" id="{3F57385A-0F28-4AA0-8ADD-C773747F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76625"/>
            <a:ext cx="1162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CC8B8"/>
            </a:solidFill>
            <a:prstDash val="solid"/>
          </a:ln>
        </p:spPr>
      </p:sp>
      <p:sp>
        <p:nvSpPr>
          <p:cNvPr id="11" name="step-circle-0">
            <a:extLst xmlns:a="http://schemas.openxmlformats.org/drawingml/2006/main">
              <a:ext uri="{FF2B5EF4-FFF2-40B4-BE49-F238E27FC236}">
                <a16:creationId xmlns:a16="http://schemas.microsoft.com/office/drawing/2014/main" id="{460D9704-A29F-4F69-826E-FA0ABBDC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809875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8F6"/>
          </a:solidFill>
          <a:ln xmlns:a="http://schemas.openxmlformats.org/drawingml/2006/main" w="9525">
            <a:solidFill>
              <a:srgbClr val="CFE4DF"/>
            </a:solidFill>
            <a:prstDash val="solid"/>
          </a:ln>
        </p:spPr>
      </p:sp>
      <p:sp>
        <p:nvSpPr>
          <p:cNvPr id="12" name="step-num-0">
            <a:extLst xmlns:a="http://schemas.openxmlformats.org/drawingml/2006/main">
              <a:ext uri="{FF2B5EF4-FFF2-40B4-BE49-F238E27FC236}">
                <a16:creationId xmlns:a16="http://schemas.microsoft.com/office/drawing/2014/main" id="{0BC2E872-E244-468D-BD7C-1AD15D82F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1051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7C7A"/>
                </a:solidFill>
              </a:defRPr>
            </a:pPr>
            <a:r>
              <a:rPr sz="1650" b="1">
                <a:solidFill>
                  <a:srgbClr val="007C7A"/>
                </a:solidFill>
              </a:rPr>
              <a:t>01</a:t>
            </a:r>
          </a:p>
        </p:txBody>
      </p:sp>
      <p:sp>
        <p:nvSpPr>
          <p:cNvPr id="13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C6090780-566C-4E08-800A-74C9C444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3D3D"/>
                </a:solidFill>
              </a:defRPr>
            </a:pPr>
            <a:r>
              <a:rPr sz="1650" b="1">
                <a:solidFill>
                  <a:srgbClr val="163D3D"/>
                </a:solidFill>
              </a:rPr>
              <a:t>初筛</a:t>
            </a:r>
          </a:p>
        </p:txBody>
      </p:sp>
      <p:sp>
        <p:nvSpPr>
          <p:cNvPr id="14" name="step-body-0">
            <a:extLst xmlns:a="http://schemas.openxmlformats.org/drawingml/2006/main">
              <a:ext uri="{FF2B5EF4-FFF2-40B4-BE49-F238E27FC236}">
                <a16:creationId xmlns:a16="http://schemas.microsoft.com/office/drawing/2014/main" id="{0C1B4A86-2BDC-49D8-A5AC-B6E2950A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38675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36E6D"/>
                </a:solidFill>
              </a:defRPr>
            </a:pPr>
            <a:r>
              <a:rPr sz="1125">
                <a:solidFill>
                  <a:srgbClr val="536E6D"/>
                </a:solidFill>
              </a:rPr>
              <a:t>探针或高通量读出</a:t>
            </a:r>
          </a:p>
        </p:txBody>
      </p:sp>
      <p:sp>
        <p:nvSpPr>
          <p:cNvPr id="15" name="step-circle-1">
            <a:extLst xmlns:a="http://schemas.openxmlformats.org/drawingml/2006/main">
              <a:ext uri="{FF2B5EF4-FFF2-40B4-BE49-F238E27FC236}">
                <a16:creationId xmlns:a16="http://schemas.microsoft.com/office/drawing/2014/main" id="{FC0865FB-0DEA-4B68-9A50-30B9A817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809875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8F6"/>
          </a:solidFill>
          <a:ln xmlns:a="http://schemas.openxmlformats.org/drawingml/2006/main" w="9525">
            <a:solidFill>
              <a:srgbClr val="CFE4DF"/>
            </a:solidFill>
            <a:prstDash val="solid"/>
          </a:ln>
        </p:spPr>
      </p:sp>
      <p:sp>
        <p:nvSpPr>
          <p:cNvPr id="16" name="step-num-1">
            <a:extLst xmlns:a="http://schemas.openxmlformats.org/drawingml/2006/main">
              <a:ext uri="{FF2B5EF4-FFF2-40B4-BE49-F238E27FC236}">
                <a16:creationId xmlns:a16="http://schemas.microsoft.com/office/drawing/2014/main" id="{B07DB0C2-0FC4-465F-AA22-491686FD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1051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7C7A"/>
                </a:solidFill>
              </a:defRPr>
            </a:pPr>
            <a:r>
              <a:rPr sz="1650" b="1">
                <a:solidFill>
                  <a:srgbClr val="007C7A"/>
                </a:solidFill>
              </a:rPr>
              <a:t>02</a:t>
            </a:r>
          </a:p>
        </p:txBody>
      </p:sp>
      <p:sp>
        <p:nvSpPr>
          <p:cNvPr id="17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043E3DFC-6321-4B7C-83FC-F6410CB8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7195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3D3D"/>
                </a:solidFill>
              </a:defRPr>
            </a:pPr>
            <a:r>
              <a:rPr sz="1650" b="1">
                <a:solidFill>
                  <a:srgbClr val="163D3D"/>
                </a:solidFill>
              </a:rPr>
              <a:t>定位</a:t>
            </a:r>
          </a:p>
        </p:txBody>
      </p:sp>
      <p:sp>
        <p:nvSpPr>
          <p:cNvPr id="18" name="step-body-1">
            <a:extLst xmlns:a="http://schemas.openxmlformats.org/drawingml/2006/main">
              <a:ext uri="{FF2B5EF4-FFF2-40B4-BE49-F238E27FC236}">
                <a16:creationId xmlns:a16="http://schemas.microsoft.com/office/drawing/2014/main" id="{04DCBDB1-9E66-4A4F-A310-3659EC10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38675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36E6D"/>
                </a:solidFill>
              </a:defRPr>
            </a:pPr>
            <a:r>
              <a:rPr sz="1125">
                <a:solidFill>
                  <a:srgbClr val="536E6D"/>
                </a:solidFill>
              </a:rPr>
              <a:t>确认异常发生的位置</a:t>
            </a:r>
          </a:p>
        </p:txBody>
      </p:sp>
      <p:sp>
        <p:nvSpPr>
          <p:cNvPr id="19" name="step-circle-2">
            <a:extLst xmlns:a="http://schemas.openxmlformats.org/drawingml/2006/main">
              <a:ext uri="{FF2B5EF4-FFF2-40B4-BE49-F238E27FC236}">
                <a16:creationId xmlns:a16="http://schemas.microsoft.com/office/drawing/2014/main" id="{DF8B6287-7793-4AF6-8FC4-4338705C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809875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7A"/>
          </a:solidFill>
          <a:ln xmlns:a="http://schemas.openxmlformats.org/drawingml/2006/main" w="9525">
            <a:solidFill>
              <a:srgbClr val="CFE4DF"/>
            </a:solidFill>
            <a:prstDash val="solid"/>
          </a:ln>
        </p:spPr>
      </p:sp>
      <p:sp>
        <p:nvSpPr>
          <p:cNvPr id="20" name="step-num-2">
            <a:extLst xmlns:a="http://schemas.openxmlformats.org/drawingml/2006/main">
              <a:ext uri="{FF2B5EF4-FFF2-40B4-BE49-F238E27FC236}">
                <a16:creationId xmlns:a16="http://schemas.microsoft.com/office/drawing/2014/main" id="{77EB667A-FCA9-4DB6-86DE-0B21D274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1051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1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4CC0062E-54F9-4A34-8A74-834DB916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17195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3D3D"/>
                </a:solidFill>
              </a:defRPr>
            </a:pPr>
            <a:r>
              <a:rPr sz="1650" b="1">
                <a:solidFill>
                  <a:srgbClr val="163D3D"/>
                </a:solidFill>
              </a:rPr>
              <a:t>验证</a:t>
            </a:r>
          </a:p>
        </p:txBody>
      </p:sp>
      <p:sp>
        <p:nvSpPr>
          <p:cNvPr id="22" name="step-body-2">
            <a:extLst xmlns:a="http://schemas.openxmlformats.org/drawingml/2006/main">
              <a:ext uri="{FF2B5EF4-FFF2-40B4-BE49-F238E27FC236}">
                <a16:creationId xmlns:a16="http://schemas.microsoft.com/office/drawing/2014/main" id="{9721D696-F2B8-47CF-9F13-3D9AA14E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638675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36E6D"/>
                </a:solidFill>
              </a:defRPr>
            </a:pPr>
            <a:r>
              <a:rPr sz="1125">
                <a:solidFill>
                  <a:srgbClr val="536E6D"/>
                </a:solidFill>
              </a:rPr>
              <a:t>生化分级或构象证据</a:t>
            </a:r>
          </a:p>
        </p:txBody>
      </p:sp>
      <p:sp>
        <p:nvSpPr>
          <p:cNvPr id="23" name="step-circle-3">
            <a:extLst xmlns:a="http://schemas.openxmlformats.org/drawingml/2006/main">
              <a:ext uri="{FF2B5EF4-FFF2-40B4-BE49-F238E27FC236}">
                <a16:creationId xmlns:a16="http://schemas.microsoft.com/office/drawing/2014/main" id="{5FD98371-A1C1-428C-BD07-E9EBC2408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809875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8F6"/>
          </a:solidFill>
          <a:ln xmlns:a="http://schemas.openxmlformats.org/drawingml/2006/main" w="9525">
            <a:solidFill>
              <a:srgbClr val="CFE4DF"/>
            </a:solidFill>
            <a:prstDash val="solid"/>
          </a:ln>
        </p:spPr>
      </p:sp>
      <p:sp>
        <p:nvSpPr>
          <p:cNvPr id="24" name="step-num-3">
            <a:extLst xmlns:a="http://schemas.openxmlformats.org/drawingml/2006/main">
              <a:ext uri="{FF2B5EF4-FFF2-40B4-BE49-F238E27FC236}">
                <a16:creationId xmlns:a16="http://schemas.microsoft.com/office/drawing/2014/main" id="{B11BC390-E62D-4699-A4A7-33D1E13D0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1051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7C7A"/>
                </a:solidFill>
              </a:defRPr>
            </a:pPr>
            <a:r>
              <a:rPr sz="1650" b="1">
                <a:solidFill>
                  <a:srgbClr val="007C7A"/>
                </a:solidFill>
              </a:rPr>
              <a:t>04</a:t>
            </a:r>
          </a:p>
        </p:txBody>
      </p:sp>
      <p:sp>
        <p:nvSpPr>
          <p:cNvPr id="25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DEDE0352-16BB-465B-8E92-293B252A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17195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3D3D"/>
                </a:solidFill>
              </a:defRPr>
            </a:pPr>
            <a:r>
              <a:rPr sz="1650" b="1">
                <a:solidFill>
                  <a:srgbClr val="163D3D"/>
                </a:solidFill>
              </a:rPr>
              <a:t>解释</a:t>
            </a:r>
          </a:p>
        </p:txBody>
      </p:sp>
      <p:sp>
        <p:nvSpPr>
          <p:cNvPr id="26" name="step-body-3">
            <a:extLst xmlns:a="http://schemas.openxmlformats.org/drawingml/2006/main">
              <a:ext uri="{FF2B5EF4-FFF2-40B4-BE49-F238E27FC236}">
                <a16:creationId xmlns:a16="http://schemas.microsoft.com/office/drawing/2014/main" id="{36443096-FD1B-4A05-BA82-06E08C04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638675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36E6D"/>
                </a:solidFill>
              </a:defRPr>
            </a:pPr>
            <a:r>
              <a:rPr sz="1125">
                <a:solidFill>
                  <a:srgbClr val="536E6D"/>
                </a:solidFill>
              </a:rPr>
              <a:t>联系细胞功能与表型</a:t>
            </a:r>
          </a:p>
        </p:txBody>
      </p:sp>
    </p:spTree>
    <p:extLst>
      <p:ext uri="{BB962C8B-B14F-4D97-AF65-F5344CB8AC3E}">
        <p14:creationId xmlns:p14="http://schemas.microsoft.com/office/powerpoint/2010/main" val="8616576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rule">
            <a:extLst xmlns:a="http://schemas.openxmlformats.org/drawingml/2006/main">
              <a:ext uri="{FF2B5EF4-FFF2-40B4-BE49-F238E27FC236}">
                <a16:creationId xmlns:a16="http://schemas.microsoft.com/office/drawing/2014/main" id="{9F797FB6-E9D4-4877-B456-8FA7E45D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AD2CD63D-DE25-4033-9967-C225148D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7C7A"/>
                </a:solidFill>
              </a:defRPr>
            </a:pPr>
            <a:r>
              <a:rPr sz="1050" b="1">
                <a:solidFill>
                  <a:srgbClr val="007C7A"/>
                </a:solidFill>
              </a:rPr>
              <a:t>总结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1828009-2421-49F1-928C-286A1EFC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63D3D"/>
                </a:solidFill>
              </a:defRPr>
            </a:pPr>
            <a:r>
              <a:rPr sz="2925" b="1">
                <a:solidFill>
                  <a:srgbClr val="163D3D"/>
                </a:solidFill>
              </a:rPr>
              <a:t>结论：先明确对象，再组合互补方法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2DA351C-E130-42B7-8830-7CA8B81C7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8286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7C7A"/>
                </a:solidFill>
              </a:defRPr>
            </a:pPr>
            <a:r>
              <a:rPr sz="1200" b="1">
                <a:solidFill>
                  <a:srgbClr val="007C7A"/>
                </a:solidFill>
              </a:rPr>
              <a:t>07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F631F51-E99A-44A6-B938-C793BB40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4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0FEEAEC-1070-4C90-BB04-91A62F30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8908E"/>
                </a:solidFill>
              </a:defRPr>
            </a:pPr>
            <a:r>
              <a:rPr sz="825">
                <a:solidFill>
                  <a:srgbClr val="78908E"/>
                </a:solidFill>
              </a:rPr>
              <a:t>综述型组会 · 示例版式</a:t>
            </a:r>
          </a:p>
        </p:txBody>
      </p:sp>
      <p:sp>
        <p:nvSpPr>
          <p:cNvPr id="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4C966449-63A2-4C50-9C1A-BA03CC0B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78908E"/>
                </a:solidFill>
              </a:defRPr>
            </a:pPr>
            <a:r>
              <a:rPr sz="825">
                <a:solidFill>
                  <a:srgbClr val="78908E"/>
                </a:solidFill>
              </a:rPr>
              <a:t>B · 生命青绿</a:t>
            </a:r>
          </a:p>
        </p:txBody>
      </p:sp>
      <p:sp>
        <p:nvSpPr>
          <p:cNvPr id="8" name="summary-mark-0">
            <a:extLst xmlns:a="http://schemas.openxmlformats.org/drawingml/2006/main">
              <a:ext uri="{FF2B5EF4-FFF2-40B4-BE49-F238E27FC236}">
                <a16:creationId xmlns:a16="http://schemas.microsoft.com/office/drawing/2014/main" id="{86BEF105-4899-40A1-AAF8-F6534A0D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C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ummary-title-0">
            <a:extLst xmlns:a="http://schemas.openxmlformats.org/drawingml/2006/main">
              <a:ext uri="{FF2B5EF4-FFF2-40B4-BE49-F238E27FC236}">
                <a16:creationId xmlns:a16="http://schemas.microsoft.com/office/drawing/2014/main" id="{3E98D2B1-66B7-4D9E-8B1E-C4271A50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002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3D3D"/>
                </a:solidFill>
              </a:defRPr>
            </a:pPr>
            <a:r>
              <a:rPr sz="1650" b="1">
                <a:solidFill>
                  <a:srgbClr val="163D3D"/>
                </a:solidFill>
              </a:rPr>
              <a:t>检测对象</a:t>
            </a:r>
          </a:p>
        </p:txBody>
      </p:sp>
      <p:sp>
        <p:nvSpPr>
          <p:cNvPr id="10" name="summary-body-0">
            <a:extLst xmlns:a="http://schemas.openxmlformats.org/drawingml/2006/main">
              <a:ext uri="{FF2B5EF4-FFF2-40B4-BE49-F238E27FC236}">
                <a16:creationId xmlns:a16="http://schemas.microsoft.com/office/drawing/2014/main" id="{749F2E53-21F5-4E52-82BD-2C475F7D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714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E6D"/>
                </a:solidFill>
              </a:defRPr>
            </a:pPr>
            <a:r>
              <a:rPr sz="1575">
                <a:solidFill>
                  <a:srgbClr val="536E6D"/>
                </a:solidFill>
              </a:rPr>
              <a:t>区分构象变化、聚集体、定位和细胞反应</a:t>
            </a:r>
          </a:p>
        </p:txBody>
      </p:sp>
      <p:sp>
        <p:nvSpPr>
          <p:cNvPr id="11" name="summary-mark-1">
            <a:extLst xmlns:a="http://schemas.openxmlformats.org/drawingml/2006/main">
              <a:ext uri="{FF2B5EF4-FFF2-40B4-BE49-F238E27FC236}">
                <a16:creationId xmlns:a16="http://schemas.microsoft.com/office/drawing/2014/main" id="{4A8CD5A7-6D89-495A-9DC2-991F131D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ummary-title-1">
            <a:extLst xmlns:a="http://schemas.openxmlformats.org/drawingml/2006/main">
              <a:ext uri="{FF2B5EF4-FFF2-40B4-BE49-F238E27FC236}">
                <a16:creationId xmlns:a16="http://schemas.microsoft.com/office/drawing/2014/main" id="{268BF3E4-7FF6-4B11-AC2D-36208102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242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3D3D"/>
                </a:solidFill>
              </a:defRPr>
            </a:pPr>
            <a:r>
              <a:rPr sz="1650" b="1">
                <a:solidFill>
                  <a:srgbClr val="163D3D"/>
                </a:solidFill>
              </a:rPr>
              <a:t>证据强度</a:t>
            </a:r>
          </a:p>
        </p:txBody>
      </p:sp>
      <p:sp>
        <p:nvSpPr>
          <p:cNvPr id="13" name="summary-body-1">
            <a:extLst xmlns:a="http://schemas.openxmlformats.org/drawingml/2006/main">
              <a:ext uri="{FF2B5EF4-FFF2-40B4-BE49-F238E27FC236}">
                <a16:creationId xmlns:a16="http://schemas.microsoft.com/office/drawing/2014/main" id="{B89429CD-B0DF-45B1-8948-88D32146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24200"/>
            <a:ext cx="714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E6D"/>
                </a:solidFill>
              </a:defRPr>
            </a:pPr>
            <a:r>
              <a:rPr sz="1575">
                <a:solidFill>
                  <a:srgbClr val="536E6D"/>
                </a:solidFill>
              </a:rPr>
              <a:t>单一信号用于提示，正交方法用于验证</a:t>
            </a:r>
          </a:p>
        </p:txBody>
      </p:sp>
      <p:sp>
        <p:nvSpPr>
          <p:cNvPr id="14" name="summary-mark-2">
            <a:extLst xmlns:a="http://schemas.openxmlformats.org/drawingml/2006/main">
              <a:ext uri="{FF2B5EF4-FFF2-40B4-BE49-F238E27FC236}">
                <a16:creationId xmlns:a16="http://schemas.microsoft.com/office/drawing/2014/main" id="{2B5F2425-0DDB-466B-88DB-F8E913A3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C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ummary-title-2">
            <a:extLst xmlns:a="http://schemas.openxmlformats.org/drawingml/2006/main">
              <a:ext uri="{FF2B5EF4-FFF2-40B4-BE49-F238E27FC236}">
                <a16:creationId xmlns:a16="http://schemas.microsoft.com/office/drawing/2014/main" id="{58A97A55-1200-40FF-BCF3-E372D01F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481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3D3D"/>
                </a:solidFill>
              </a:defRPr>
            </a:pPr>
            <a:r>
              <a:rPr sz="1650" b="1">
                <a:solidFill>
                  <a:srgbClr val="163D3D"/>
                </a:solidFill>
              </a:rPr>
              <a:t>实验选择</a:t>
            </a:r>
          </a:p>
        </p:txBody>
      </p:sp>
      <p:sp>
        <p:nvSpPr>
          <p:cNvPr id="16" name="summary-body-2">
            <a:extLst xmlns:a="http://schemas.openxmlformats.org/drawingml/2006/main">
              <a:ext uri="{FF2B5EF4-FFF2-40B4-BE49-F238E27FC236}">
                <a16:creationId xmlns:a16="http://schemas.microsoft.com/office/drawing/2014/main" id="{FDE1A448-6A91-4BAD-B7D0-ABC16317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48150"/>
            <a:ext cx="714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E6D"/>
                </a:solidFill>
              </a:defRPr>
            </a:pPr>
            <a:r>
              <a:rPr sz="1575">
                <a:solidFill>
                  <a:srgbClr val="536E6D"/>
                </a:solidFill>
              </a:rPr>
              <a:t>根据样本、尺度和研究问题组合方法</a:t>
            </a:r>
          </a:p>
        </p:txBody>
      </p:sp>
      <p:sp>
        <p:nvSpPr>
          <p:cNvPr id="17" name="closing">
            <a:extLst xmlns:a="http://schemas.openxmlformats.org/drawingml/2006/main">
              <a:ext uri="{FF2B5EF4-FFF2-40B4-BE49-F238E27FC236}">
                <a16:creationId xmlns:a16="http://schemas.microsoft.com/office/drawing/2014/main" id="{E356E04B-DD6F-4F26-818E-5A46EFF3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57800"/>
            <a:ext cx="10439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0F8F6"/>
          </a:solidFill>
          <a:ln xmlns:a="http://schemas.openxmlformats.org/drawingml/2006/main" w="9525">
            <a:solidFill>
              <a:srgbClr val="CFE4DF"/>
            </a:solidFill>
            <a:prstDash val="solid"/>
          </a:ln>
        </p:spPr>
      </p:sp>
      <p:sp>
        <p:nvSpPr>
          <p:cNvPr id="18" name="closing-text">
            <a:extLst xmlns:a="http://schemas.openxmlformats.org/drawingml/2006/main">
              <a:ext uri="{FF2B5EF4-FFF2-40B4-BE49-F238E27FC236}">
                <a16:creationId xmlns:a16="http://schemas.microsoft.com/office/drawing/2014/main" id="{C88D422B-A5BE-46A8-A4E0-4844C0FA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1972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7C7A"/>
                </a:solidFill>
              </a:defRPr>
            </a:pPr>
            <a:r>
              <a:rPr sz="1425" b="1">
                <a:solidFill>
                  <a:srgbClr val="007C7A"/>
                </a:solidFill>
              </a:rPr>
              <a:t>下一步：用与研究问题匹配的证据组合，减少过度解释。</a:t>
            </a:r>
          </a:p>
        </p:txBody>
      </p:sp>
    </p:spTree>
    <p:extLst>
      <p:ext uri="{BB962C8B-B14F-4D97-AF65-F5344CB8AC3E}">
        <p14:creationId xmlns:p14="http://schemas.microsoft.com/office/powerpoint/2010/main" val="9767971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-rule">
            <a:extLst xmlns:a="http://schemas.openxmlformats.org/drawingml/2006/main">
              <a:ext uri="{FF2B5EF4-FFF2-40B4-BE49-F238E27FC236}">
                <a16:creationId xmlns:a16="http://schemas.microsoft.com/office/drawing/2014/main" id="{90545DAB-E2F7-4596-9238-1180D8EF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9A62ADD3-466C-4DAF-AF9E-2230E837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7C7A"/>
                </a:solidFill>
              </a:defRPr>
            </a:pPr>
            <a:r>
              <a:rPr sz="1050" b="1">
                <a:solidFill>
                  <a:srgbClr val="007C7A"/>
                </a:solidFill>
              </a:rPr>
              <a:t>BACKUP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E6D7D6E-C6E7-4471-A85D-3FA8F7FE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63D3D"/>
                </a:solidFill>
              </a:defRPr>
            </a:pPr>
            <a:r>
              <a:rPr sz="2925" b="1">
                <a:solidFill>
                  <a:srgbClr val="163D3D"/>
                </a:solidFill>
              </a:rPr>
              <a:t>备用页：关键参数与对照设置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9D60A7F-56C5-4F62-9FFF-037C456E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8286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7C7A"/>
                </a:solidFill>
              </a:defRPr>
            </a:pPr>
            <a:r>
              <a:rPr sz="1200" b="1">
                <a:solidFill>
                  <a:srgbClr val="007C7A"/>
                </a:solidFill>
              </a:rPr>
              <a:t>08</a:t>
            </a:r>
          </a:p>
        </p:txBody>
      </p:sp>
      <p:sp>
        <p:nvSpPr>
          <p:cNvPr id="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071502F-1873-4CE2-858B-92AEF755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4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4CA511F-9050-412F-8BC3-31C967A7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8908E"/>
                </a:solidFill>
              </a:defRPr>
            </a:pPr>
            <a:r>
              <a:rPr sz="825">
                <a:solidFill>
                  <a:srgbClr val="78908E"/>
                </a:solidFill>
              </a:rPr>
              <a:t>综述型组会 · 示例版式</a:t>
            </a:r>
          </a:p>
        </p:txBody>
      </p:sp>
      <p:sp>
        <p:nvSpPr>
          <p:cNvPr id="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836C326A-B34A-4EDF-99CF-5EFD4EAF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78908E"/>
                </a:solidFill>
              </a:defRPr>
            </a:pPr>
            <a:r>
              <a:rPr sz="825">
                <a:solidFill>
                  <a:srgbClr val="78908E"/>
                </a:solidFill>
              </a:rPr>
              <a:t>B · 生命青绿</a:t>
            </a:r>
          </a:p>
        </p:txBody>
      </p:sp>
      <p:sp>
        <p:nvSpPr>
          <p:cNvPr id="8" name="backup-tag">
            <a:extLst xmlns:a="http://schemas.openxmlformats.org/drawingml/2006/main">
              <a:ext uri="{FF2B5EF4-FFF2-40B4-BE49-F238E27FC236}">
                <a16:creationId xmlns:a16="http://schemas.microsoft.com/office/drawing/2014/main" id="{93E69A57-FDB9-4F9A-9882-2F80196C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428750"/>
            <a:ext cx="1981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ackup-tag-text">
            <a:extLst xmlns:a="http://schemas.openxmlformats.org/drawingml/2006/main">
              <a:ext uri="{FF2B5EF4-FFF2-40B4-BE49-F238E27FC236}">
                <a16:creationId xmlns:a16="http://schemas.microsoft.com/office/drawing/2014/main" id="{DF7936CB-BE5E-4FDB-9BBD-78477153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24000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备用页 · 不计入主汇报</a:t>
            </a:r>
          </a:p>
        </p:txBody>
      </p:sp>
      <p:sp>
        <p:nvSpPr>
          <p:cNvPr id="10" name="backup-field-0">
            <a:extLst xmlns:a="http://schemas.openxmlformats.org/drawingml/2006/main">
              <a:ext uri="{FF2B5EF4-FFF2-40B4-BE49-F238E27FC236}">
                <a16:creationId xmlns:a16="http://schemas.microsoft.com/office/drawing/2014/main" id="{78F1BE67-8ADA-467B-ADAC-06ABB58D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5048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4DF"/>
            </a:solidFill>
            <a:prstDash val="solid"/>
          </a:ln>
        </p:spPr>
      </p:sp>
      <p:sp>
        <p:nvSpPr>
          <p:cNvPr id="11" name="backup-title-0">
            <a:extLst xmlns:a="http://schemas.openxmlformats.org/drawingml/2006/main">
              <a:ext uri="{FF2B5EF4-FFF2-40B4-BE49-F238E27FC236}">
                <a16:creationId xmlns:a16="http://schemas.microsoft.com/office/drawing/2014/main" id="{99285FD4-8669-4F74-85FB-6B3C1650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907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3D3D"/>
                </a:solidFill>
              </a:defRPr>
            </a:pPr>
            <a:r>
              <a:rPr sz="1500" b="1">
                <a:solidFill>
                  <a:srgbClr val="163D3D"/>
                </a:solidFill>
              </a:rPr>
              <a:t>阳性对照</a:t>
            </a:r>
          </a:p>
        </p:txBody>
      </p:sp>
      <p:sp>
        <p:nvSpPr>
          <p:cNvPr id="12" name="backup-body-0">
            <a:extLst xmlns:a="http://schemas.openxmlformats.org/drawingml/2006/main">
              <a:ext uri="{FF2B5EF4-FFF2-40B4-BE49-F238E27FC236}">
                <a16:creationId xmlns:a16="http://schemas.microsoft.com/office/drawing/2014/main" id="{637A0C35-BA63-4440-8245-DA129443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28925"/>
            <a:ext cx="434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E6D"/>
                </a:solidFill>
              </a:defRPr>
            </a:pPr>
            <a:r>
              <a:rPr sz="1200">
                <a:solidFill>
                  <a:srgbClr val="536E6D"/>
                </a:solidFill>
              </a:rPr>
              <a:t>已知可形成目标构象或聚集状态的样本</a:t>
            </a:r>
          </a:p>
        </p:txBody>
      </p:sp>
      <p:sp>
        <p:nvSpPr>
          <p:cNvPr id="13" name="backup-field-1">
            <a:extLst xmlns:a="http://schemas.openxmlformats.org/drawingml/2006/main">
              <a:ext uri="{FF2B5EF4-FFF2-40B4-BE49-F238E27FC236}">
                <a16:creationId xmlns:a16="http://schemas.microsoft.com/office/drawing/2014/main" id="{244E3E18-FA56-4724-8BD7-0F483FB6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33600"/>
            <a:ext cx="5048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4DF"/>
            </a:solidFill>
            <a:prstDash val="solid"/>
          </a:ln>
        </p:spPr>
      </p:sp>
      <p:sp>
        <p:nvSpPr>
          <p:cNvPr id="14" name="backup-title-1">
            <a:extLst xmlns:a="http://schemas.openxmlformats.org/drawingml/2006/main">
              <a:ext uri="{FF2B5EF4-FFF2-40B4-BE49-F238E27FC236}">
                <a16:creationId xmlns:a16="http://schemas.microsoft.com/office/drawing/2014/main" id="{C48C8912-FA12-4FDA-B0A3-6E5A3B38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907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3D3D"/>
                </a:solidFill>
              </a:defRPr>
            </a:pPr>
            <a:r>
              <a:rPr sz="1500" b="1">
                <a:solidFill>
                  <a:srgbClr val="163D3D"/>
                </a:solidFill>
              </a:rPr>
              <a:t>阴性对照</a:t>
            </a:r>
          </a:p>
        </p:txBody>
      </p:sp>
      <p:sp>
        <p:nvSpPr>
          <p:cNvPr id="15" name="backup-body-1">
            <a:extLst xmlns:a="http://schemas.openxmlformats.org/drawingml/2006/main">
              <a:ext uri="{FF2B5EF4-FFF2-40B4-BE49-F238E27FC236}">
                <a16:creationId xmlns:a16="http://schemas.microsoft.com/office/drawing/2014/main" id="{86FF1CB7-0A2C-4A72-AAB6-4D2FBCE0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28925"/>
            <a:ext cx="434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E6D"/>
                </a:solidFill>
              </a:defRPr>
            </a:pPr>
            <a:r>
              <a:rPr sz="1200">
                <a:solidFill>
                  <a:srgbClr val="536E6D"/>
                </a:solidFill>
              </a:rPr>
              <a:t>结构相近但不发生目标变化的样本</a:t>
            </a:r>
          </a:p>
        </p:txBody>
      </p:sp>
      <p:sp>
        <p:nvSpPr>
          <p:cNvPr id="16" name="backup-field-2">
            <a:extLst xmlns:a="http://schemas.openxmlformats.org/drawingml/2006/main">
              <a:ext uri="{FF2B5EF4-FFF2-40B4-BE49-F238E27FC236}">
                <a16:creationId xmlns:a16="http://schemas.microsoft.com/office/drawing/2014/main" id="{EBF7B458-3A57-4964-AF85-AFB73E91B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5048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4DF"/>
            </a:solidFill>
            <a:prstDash val="solid"/>
          </a:ln>
        </p:spPr>
      </p:sp>
      <p:sp>
        <p:nvSpPr>
          <p:cNvPr id="17" name="backup-title-2">
            <a:extLst xmlns:a="http://schemas.openxmlformats.org/drawingml/2006/main">
              <a:ext uri="{FF2B5EF4-FFF2-40B4-BE49-F238E27FC236}">
                <a16:creationId xmlns:a16="http://schemas.microsoft.com/office/drawing/2014/main" id="{3C1DC0C7-6334-4A76-8CA6-2AEF8CE8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481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3D3D"/>
                </a:solidFill>
              </a:defRPr>
            </a:pPr>
            <a:r>
              <a:rPr sz="1500" b="1">
                <a:solidFill>
                  <a:srgbClr val="163D3D"/>
                </a:solidFill>
              </a:rPr>
              <a:t>技术控制</a:t>
            </a:r>
          </a:p>
        </p:txBody>
      </p:sp>
      <p:sp>
        <p:nvSpPr>
          <p:cNvPr id="18" name="backup-body-2">
            <a:extLst xmlns:a="http://schemas.openxmlformats.org/drawingml/2006/main">
              <a:ext uri="{FF2B5EF4-FFF2-40B4-BE49-F238E27FC236}">
                <a16:creationId xmlns:a16="http://schemas.microsoft.com/office/drawing/2014/main" id="{7D5693C7-CD9A-4DBB-AE76-22C537BB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86275"/>
            <a:ext cx="434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E6D"/>
                </a:solidFill>
              </a:defRPr>
            </a:pPr>
            <a:r>
              <a:rPr sz="1200">
                <a:solidFill>
                  <a:srgbClr val="536E6D"/>
                </a:solidFill>
              </a:rPr>
              <a:t>探针浓度、曝光、批次和背景校正</a:t>
            </a:r>
          </a:p>
        </p:txBody>
      </p:sp>
      <p:sp>
        <p:nvSpPr>
          <p:cNvPr id="19" name="backup-field-3">
            <a:extLst xmlns:a="http://schemas.openxmlformats.org/drawingml/2006/main">
              <a:ext uri="{FF2B5EF4-FFF2-40B4-BE49-F238E27FC236}">
                <a16:creationId xmlns:a16="http://schemas.microsoft.com/office/drawing/2014/main" id="{6EFAC632-8108-4AE8-B4A5-299E378C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90950"/>
            <a:ext cx="5048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0F8F6"/>
          </a:solidFill>
          <a:ln xmlns:a="http://schemas.openxmlformats.org/drawingml/2006/main" w="9525">
            <a:solidFill>
              <a:srgbClr val="CFE4DF"/>
            </a:solidFill>
            <a:prstDash val="solid"/>
          </a:ln>
        </p:spPr>
      </p:sp>
      <p:sp>
        <p:nvSpPr>
          <p:cNvPr id="20" name="backup-title-3">
            <a:extLst xmlns:a="http://schemas.openxmlformats.org/drawingml/2006/main">
              <a:ext uri="{FF2B5EF4-FFF2-40B4-BE49-F238E27FC236}">
                <a16:creationId xmlns:a16="http://schemas.microsoft.com/office/drawing/2014/main" id="{0395B4D1-826E-4D8E-A0F6-C0D64D0E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481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C7A"/>
                </a:solidFill>
              </a:defRPr>
            </a:pPr>
            <a:r>
              <a:rPr sz="1500" b="1">
                <a:solidFill>
                  <a:srgbClr val="007C7A"/>
                </a:solidFill>
              </a:rPr>
              <a:t>正交验证</a:t>
            </a:r>
          </a:p>
        </p:txBody>
      </p:sp>
      <p:sp>
        <p:nvSpPr>
          <p:cNvPr id="21" name="backup-body-3">
            <a:extLst xmlns:a="http://schemas.openxmlformats.org/drawingml/2006/main">
              <a:ext uri="{FF2B5EF4-FFF2-40B4-BE49-F238E27FC236}">
                <a16:creationId xmlns:a16="http://schemas.microsoft.com/office/drawing/2014/main" id="{650D266F-D3E4-487C-B108-AA53D0D6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86275"/>
            <a:ext cx="434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E6D"/>
                </a:solidFill>
              </a:defRPr>
            </a:pPr>
            <a:r>
              <a:rPr sz="1200">
                <a:solidFill>
                  <a:srgbClr val="536E6D"/>
                </a:solidFill>
              </a:rPr>
              <a:t>采用不同原理的方法复核主要结论</a:t>
            </a:r>
          </a:p>
        </p:txBody>
      </p:sp>
    </p:spTree>
    <p:extLst>
      <p:ext uri="{BB962C8B-B14F-4D97-AF65-F5344CB8AC3E}">
        <p14:creationId xmlns:p14="http://schemas.microsoft.com/office/powerpoint/2010/main" val="11057337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2026-08-01T10:25:07.5680000Z</dcterms:created>
  <dcterms:modified xsi:type="dcterms:W3CDTF">2026-08-01T10:25:07.5680000Z</dcterms:modified>
</coreProperties>
</file>