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a0337471c24487c" /><Relationship Type="http://schemas.openxmlformats.org/officeDocument/2006/relationships/extended-properties" Target="/docProps/app.xml" Id="R43573420267f4c5d" /><Relationship Type="http://schemas.openxmlformats.org/officeDocument/2006/relationships/officeDocument" Target="/ppt/presentation.xml" Id="Rcf0f7597ba46444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37ebbfebd8c4f92"/>
  </p:sldMasterIdLst>
  <p:notesMasterIdLst>
    <p:notesMasterId xmlns:r="http://schemas.openxmlformats.org/officeDocument/2006/relationships" r:id="R58b828d007da4c9b"/>
  </p:notesMasterIdLst>
  <p:sldIdLst>
    <p:sldId xmlns:r="http://schemas.openxmlformats.org/officeDocument/2006/relationships" id="256" r:id="R9e4481d27ab648c2"/>
    <p:sldId xmlns:r="http://schemas.openxmlformats.org/officeDocument/2006/relationships" id="257" r:id="R094ed772bcb141e9"/>
    <p:sldId xmlns:r="http://schemas.openxmlformats.org/officeDocument/2006/relationships" id="258" r:id="Ref6162aab1364559"/>
    <p:sldId xmlns:r="http://schemas.openxmlformats.org/officeDocument/2006/relationships" id="259" r:id="R0cfece53ee9d4583"/>
    <p:sldId xmlns:r="http://schemas.openxmlformats.org/officeDocument/2006/relationships" id="260" r:id="R471dda639fdf45cc"/>
    <p:sldId xmlns:r="http://schemas.openxmlformats.org/officeDocument/2006/relationships" id="261" r:id="R09deac00e9f14d2f"/>
    <p:sldId xmlns:r="http://schemas.openxmlformats.org/officeDocument/2006/relationships" id="262" r:id="R09002694c29947c7"/>
    <p:sldId xmlns:r="http://schemas.openxmlformats.org/officeDocument/2006/relationships" id="263" r:id="R00751648638a485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3536b8fdd0f46c9" /><Relationship Type="http://schemas.openxmlformats.org/officeDocument/2006/relationships/slideMaster" Target="/ppt/slideMasters/slideMaster1.xml" Id="R037ebbfebd8c4f92" /><Relationship Type="http://schemas.openxmlformats.org/officeDocument/2006/relationships/notesMaster" Target="/ppt/notesMasters/notesMaster1.xml" Id="R58b828d007da4c9b" /><Relationship Type="http://schemas.openxmlformats.org/officeDocument/2006/relationships/presProps" Target="/ppt/presProps.xml" Id="R93151f52fc1e4116" /><Relationship Type="http://schemas.openxmlformats.org/officeDocument/2006/relationships/tableStyles" Target="/ppt/tableStyles.xml" Id="R23302e392c034811" /><Relationship Type="http://schemas.openxmlformats.org/officeDocument/2006/relationships/slide" Target="/ppt/slides/slide1.xml" Id="R9e4481d27ab648c2" /><Relationship Type="http://schemas.openxmlformats.org/officeDocument/2006/relationships/slide" Target="/ppt/slides/slide2.xml" Id="R094ed772bcb141e9" /><Relationship Type="http://schemas.openxmlformats.org/officeDocument/2006/relationships/slide" Target="/ppt/slides/slide3.xml" Id="Ref6162aab1364559" /><Relationship Type="http://schemas.openxmlformats.org/officeDocument/2006/relationships/slide" Target="/ppt/slides/slide4.xml" Id="R0cfece53ee9d4583" /><Relationship Type="http://schemas.openxmlformats.org/officeDocument/2006/relationships/slide" Target="/ppt/slides/slide5.xml" Id="R471dda639fdf45cc" /><Relationship Type="http://schemas.openxmlformats.org/officeDocument/2006/relationships/slide" Target="/ppt/slides/slide6.xml" Id="R09deac00e9f14d2f" /><Relationship Type="http://schemas.openxmlformats.org/officeDocument/2006/relationships/slide" Target="/ppt/slides/slide7.xml" Id="R09002694c29947c7" /><Relationship Type="http://schemas.openxmlformats.org/officeDocument/2006/relationships/slide" Target="/ppt/slides/slide8.xml" Id="R00751648638a485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7f6dda63dbf427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4526db9732b4a9a" /><Relationship Type="http://schemas.openxmlformats.org/officeDocument/2006/relationships/notesMaster" Target="/ppt/notesMasters/notesMaster1.xml" Id="R6ebfa10c1f25406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6a429f5122d4b90" /><Relationship Type="http://schemas.openxmlformats.org/officeDocument/2006/relationships/notesMaster" Target="/ppt/notesMasters/notesMaster1.xml" Id="R1065b9fa8c234ef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075d473b5fa44d5" /><Relationship Type="http://schemas.openxmlformats.org/officeDocument/2006/relationships/notesMaster" Target="/ppt/notesMasters/notesMaster1.xml" Id="R90c4450aec024ca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ccffcbdd1784601" /><Relationship Type="http://schemas.openxmlformats.org/officeDocument/2006/relationships/notesMaster" Target="/ppt/notesMasters/notesMaster1.xml" Id="R43d87982e0db487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5a747c3cb634f17" /><Relationship Type="http://schemas.openxmlformats.org/officeDocument/2006/relationships/notesMaster" Target="/ppt/notesMasters/notesMaster1.xml" Id="Re2a5bf50b87347c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96d6046280d4b7b" /><Relationship Type="http://schemas.openxmlformats.org/officeDocument/2006/relationships/notesMaster" Target="/ppt/notesMasters/notesMaster1.xml" Id="Rf15c0c55423641d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8dfb51890544daa" /><Relationship Type="http://schemas.openxmlformats.org/officeDocument/2006/relationships/notesMaster" Target="/ppt/notesMasters/notesMaster1.xml" Id="Rc4659c94d47a479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ce16bc93cb141a8" /><Relationship Type="http://schemas.openxmlformats.org/officeDocument/2006/relationships/notesMaster" Target="/ppt/notesMasters/notesMaster1.xml" Id="Rcdc12e41068d4f9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e46c91dcb14ae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8699993781f4046" /><Relationship Type="http://schemas.openxmlformats.org/officeDocument/2006/relationships/slideLayout" Target="/ppt/slideLayouts/slideLayout1.xml" Id="R6d58fd7bdca74c8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d58fd7bdca74c8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aafccdbbc2458e" /><Relationship Type="http://schemas.openxmlformats.org/officeDocument/2006/relationships/notesSlide" Target="/ppt/notesSlides/notesSlide1.xml" Id="R0e2329c0d1814f3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c81272674e4568" /><Relationship Type="http://schemas.openxmlformats.org/officeDocument/2006/relationships/notesSlide" Target="/ppt/notesSlides/notesSlide2.xml" Id="R4d3a1a645ddc4db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9ad2e38e8643c4" /><Relationship Type="http://schemas.openxmlformats.org/officeDocument/2006/relationships/notesSlide" Target="/ppt/notesSlides/notesSlide3.xml" Id="Rfc34de8043204f1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23e2285089426f" /><Relationship Type="http://schemas.openxmlformats.org/officeDocument/2006/relationships/notesSlide" Target="/ppt/notesSlides/notesSlide4.xml" Id="R841592e839e6426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4a1c6b11d342c9" /><Relationship Type="http://schemas.openxmlformats.org/officeDocument/2006/relationships/notesSlide" Target="/ppt/notesSlides/notesSlide5.xml" Id="Re9b6072049e6496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4f6ee7e63343b4" /><Relationship Type="http://schemas.openxmlformats.org/officeDocument/2006/relationships/notesSlide" Target="/ppt/notesSlides/notesSlide6.xml" Id="R3bfd3c0e45524b4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1d0e5d54714e6b" /><Relationship Type="http://schemas.openxmlformats.org/officeDocument/2006/relationships/notesSlide" Target="/ppt/notesSlides/notesSlide7.xml" Id="R1d9f4042c409410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e7c96397614944" /><Relationship Type="http://schemas.openxmlformats.org/officeDocument/2006/relationships/notesSlide" Target="/ppt/notesSlides/notesSlide8.xml" Id="Ra792f885dbcd498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rule">
            <a:extLst xmlns:a="http://schemas.openxmlformats.org/drawingml/2006/main">
              <a:ext uri="{FF2B5EF4-FFF2-40B4-BE49-F238E27FC236}">
                <a16:creationId xmlns:a16="http://schemas.microsoft.com/office/drawing/2014/main" id="{3EB1A8D8-DBF7-42D7-A1E8-CAC79F93F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deck-type">
            <a:extLst xmlns:a="http://schemas.openxmlformats.org/drawingml/2006/main">
              <a:ext uri="{FF2B5EF4-FFF2-40B4-BE49-F238E27FC236}">
                <a16:creationId xmlns:a16="http://schemas.microsoft.com/office/drawing/2014/main" id="{B0D3CDFC-BE2A-42DA-B47C-097886E90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144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69AA"/>
                </a:solidFill>
              </a:defRPr>
            </a:pPr>
            <a:r>
              <a:rPr sz="1275" b="1">
                <a:solidFill>
                  <a:srgbClr val="1769AA"/>
                </a:solidFill>
              </a:rPr>
              <a:t>文献与方法综述</a:t>
            </a:r>
          </a:p>
        </p:txBody>
      </p:sp>
      <p:sp>
        <p:nvSpPr>
          <p:cNvPr id="3" name="deck-title">
            <a:extLst xmlns:a="http://schemas.openxmlformats.org/drawingml/2006/main">
              <a:ext uri="{FF2B5EF4-FFF2-40B4-BE49-F238E27FC236}">
                <a16:creationId xmlns:a16="http://schemas.microsoft.com/office/drawing/2014/main" id="{7D18C1DD-7E51-4B46-8BE0-749D5ED3A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75247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7324D"/>
                </a:solidFill>
              </a:defRPr>
            </a:pPr>
            <a:r>
              <a:rPr sz="3900" b="1">
                <a:solidFill>
                  <a:srgbClr val="17324D"/>
                </a:solidFill>
              </a:rPr>
              <a:t>研究主题：从生物学问题</a:t>
            </a:r>
          </a:p>
          <a:p xmlns:a="http://schemas.openxmlformats.org/drawingml/2006/main">
            <a:pPr>
              <a:defRPr sz="3900" b="1">
                <a:solidFill>
                  <a:srgbClr val="17324D"/>
                </a:solidFill>
              </a:defRPr>
            </a:pPr>
            <a:r>
              <a:rPr sz="3900" b="1">
                <a:solidFill>
                  <a:srgbClr val="17324D"/>
                </a:solidFill>
              </a:rPr>
              <a:t>到可验证的证据链</a:t>
            </a:r>
          </a:p>
        </p:txBody>
      </p:sp>
      <p:sp>
        <p:nvSpPr>
          <p:cNvPr id="4" name="deck-subtitle">
            <a:extLst xmlns:a="http://schemas.openxmlformats.org/drawingml/2006/main">
              <a:ext uri="{FF2B5EF4-FFF2-40B4-BE49-F238E27FC236}">
                <a16:creationId xmlns:a16="http://schemas.microsoft.com/office/drawing/2014/main" id="{72EDBB72-EA96-4F66-9DDD-D6B827041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7334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26679"/>
                </a:solidFill>
              </a:defRPr>
            </a:pPr>
            <a:r>
              <a:rPr sz="1725">
                <a:solidFill>
                  <a:srgbClr val="526679"/>
                </a:solidFill>
              </a:rPr>
              <a:t>围绕机制、方法与应用案例建立清晰的综述框架</a:t>
            </a:r>
          </a:p>
        </p:txBody>
      </p:sp>
      <p:sp>
        <p:nvSpPr>
          <p:cNvPr id="5" name="accent-block">
            <a:extLst xmlns:a="http://schemas.openxmlformats.org/drawingml/2006/main">
              <a:ext uri="{FF2B5EF4-FFF2-40B4-BE49-F238E27FC236}">
                <a16:creationId xmlns:a16="http://schemas.microsoft.com/office/drawing/2014/main" id="{37C5F254-797A-4763-B836-20D1F5D4A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390650"/>
            <a:ext cx="1962150" cy="371475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6E1E9"/>
            </a:solidFill>
            <a:prstDash val="solid"/>
          </a:ln>
        </p:spPr>
      </p:sp>
      <p:sp>
        <p:nvSpPr>
          <p:cNvPr id="6" name="motif-1">
            <a:extLst xmlns:a="http://schemas.openxmlformats.org/drawingml/2006/main">
              <a:ext uri="{FF2B5EF4-FFF2-40B4-BE49-F238E27FC236}">
                <a16:creationId xmlns:a16="http://schemas.microsoft.com/office/drawing/2014/main" id="{AA20E413-BBB2-4EA0-B857-C3D7A9AC0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8097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motif-2">
            <a:extLst xmlns:a="http://schemas.openxmlformats.org/drawingml/2006/main">
              <a:ext uri="{FF2B5EF4-FFF2-40B4-BE49-F238E27FC236}">
                <a16:creationId xmlns:a16="http://schemas.microsoft.com/office/drawing/2014/main" id="{6ED7E238-0F0B-456A-A4AC-25E2A43B3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25527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3A9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otif-3">
            <a:extLst xmlns:a="http://schemas.openxmlformats.org/drawingml/2006/main">
              <a:ext uri="{FF2B5EF4-FFF2-40B4-BE49-F238E27FC236}">
                <a16:creationId xmlns:a16="http://schemas.microsoft.com/office/drawing/2014/main" id="{60FE76CC-985C-4B24-9F37-FB2E99D33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276600"/>
            <a:ext cx="895350" cy="895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69AA"/>
            </a:solidFill>
            <a:prstDash val="solid"/>
          </a:ln>
        </p:spPr>
      </p:sp>
      <p:sp>
        <p:nvSpPr>
          <p:cNvPr id="9" name="author">
            <a:extLst xmlns:a="http://schemas.openxmlformats.org/drawingml/2006/main">
              <a:ext uri="{FF2B5EF4-FFF2-40B4-BE49-F238E27FC236}">
                <a16:creationId xmlns:a16="http://schemas.microsoft.com/office/drawing/2014/main" id="{C3CE7214-DAA7-45EF-88BC-70DD9AD4E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53050"/>
            <a:ext cx="581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679"/>
                </a:solidFill>
              </a:defRPr>
            </a:pPr>
            <a:r>
              <a:rPr sz="1275">
                <a:solidFill>
                  <a:srgbClr val="526679"/>
                </a:solidFill>
              </a:rPr>
              <a:t>汇报人｜课题组｜日期</a:t>
            </a:r>
          </a:p>
        </p:txBody>
      </p:sp>
      <p:sp>
        <p:nvSpPr>
          <p:cNvPr id="10" name="palette">
            <a:extLst xmlns:a="http://schemas.openxmlformats.org/drawingml/2006/main">
              <a:ext uri="{FF2B5EF4-FFF2-40B4-BE49-F238E27FC236}">
                <a16:creationId xmlns:a16="http://schemas.microsoft.com/office/drawing/2014/main" id="{B17C0CB1-C7B3-4364-9299-B020A71F9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410200"/>
            <a:ext cx="156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69AA"/>
                </a:solidFill>
              </a:defRPr>
            </a:pPr>
            <a:r>
              <a:rPr sz="1050" b="1">
                <a:solidFill>
                  <a:srgbClr val="1769AA"/>
                </a:solidFill>
              </a:rPr>
              <a:t>A  临床蓝</a:t>
            </a:r>
          </a:p>
        </p:txBody>
      </p:sp>
    </p:spTree>
    <p:extLst>
      <p:ext uri="{BB962C8B-B14F-4D97-AF65-F5344CB8AC3E}">
        <p14:creationId xmlns:p14="http://schemas.microsoft.com/office/powerpoint/2010/main" val="39738449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ide-rule">
            <a:extLst xmlns:a="http://schemas.openxmlformats.org/drawingml/2006/main">
              <a:ext uri="{FF2B5EF4-FFF2-40B4-BE49-F238E27FC236}">
                <a16:creationId xmlns:a16="http://schemas.microsoft.com/office/drawing/2014/main" id="{20E27676-0136-4D30-8B89-7B5D8316E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F6E6689D-076F-4098-862E-A7A543448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085850"/>
            <a:ext cx="1524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1769AA"/>
                </a:solidFill>
              </a:defRPr>
            </a:pPr>
            <a:r>
              <a:rPr sz="5400" b="1">
                <a:solidFill>
                  <a:srgbClr val="1769AA"/>
                </a:solidFill>
              </a:rPr>
              <a:t>01</a:t>
            </a:r>
          </a:p>
        </p:txBody>
      </p:sp>
      <p:sp>
        <p:nvSpPr>
          <p:cNvPr id="3" name="section-title">
            <a:extLst xmlns:a="http://schemas.openxmlformats.org/drawingml/2006/main">
              <a:ext uri="{FF2B5EF4-FFF2-40B4-BE49-F238E27FC236}">
                <a16:creationId xmlns:a16="http://schemas.microsoft.com/office/drawing/2014/main" id="{F58B7355-5C16-4970-9FB1-3E6DB339C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47900"/>
            <a:ext cx="704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7324D"/>
                </a:solidFill>
              </a:defRPr>
            </a:pPr>
            <a:r>
              <a:rPr sz="3750" b="1">
                <a:solidFill>
                  <a:srgbClr val="17324D"/>
                </a:solidFill>
              </a:rPr>
              <a:t>问题与研究边界</a:t>
            </a:r>
          </a:p>
        </p:txBody>
      </p:sp>
      <p:sp>
        <p:nvSpPr>
          <p:cNvPr id="4" name="section-subtitle">
            <a:extLst xmlns:a="http://schemas.openxmlformats.org/drawingml/2006/main">
              <a:ext uri="{FF2B5EF4-FFF2-40B4-BE49-F238E27FC236}">
                <a16:creationId xmlns:a16="http://schemas.microsoft.com/office/drawing/2014/main" id="{7410454C-4B15-4C8D-9709-6282F850D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0"/>
            <a:ext cx="742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26679"/>
                </a:solidFill>
              </a:defRPr>
            </a:pPr>
            <a:r>
              <a:rPr sz="1725">
                <a:solidFill>
                  <a:srgbClr val="526679"/>
                </a:solidFill>
              </a:rPr>
              <a:t>先明确要检测的对象，再讨论方法是否合适</a:t>
            </a:r>
          </a:p>
        </p:txBody>
      </p:sp>
      <p:sp>
        <p:nvSpPr>
          <p:cNvPr id="5" name="section-field">
            <a:extLst xmlns:a="http://schemas.openxmlformats.org/drawingml/2006/main">
              <a:ext uri="{FF2B5EF4-FFF2-40B4-BE49-F238E27FC236}">
                <a16:creationId xmlns:a16="http://schemas.microsoft.com/office/drawing/2014/main" id="{F9353550-206F-4B43-B5FA-5C7EEC6C5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971550"/>
            <a:ext cx="2647950" cy="4762500"/>
          </a:xfrm>
          <a:prstGeom xmlns:a="http://schemas.openxmlformats.org/drawingml/2006/main" prst="roundRect">
            <a:avLst>
              <a:gd name="adj" fmla="val 2878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6E1E9"/>
            </a:solidFill>
            <a:prstDash val="solid"/>
          </a:ln>
        </p:spPr>
      </p:sp>
      <p:sp>
        <p:nvSpPr>
          <p:cNvPr id="6" name="section-prompt">
            <a:extLst xmlns:a="http://schemas.openxmlformats.org/drawingml/2006/main">
              <a:ext uri="{FF2B5EF4-FFF2-40B4-BE49-F238E27FC236}">
                <a16:creationId xmlns:a16="http://schemas.microsoft.com/office/drawing/2014/main" id="{7C35478E-2B5D-4F40-A6F8-16AF57910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63830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769AA"/>
                </a:solidFill>
              </a:defRPr>
            </a:pPr>
            <a:r>
              <a:rPr sz="1125" b="1">
                <a:solidFill>
                  <a:srgbClr val="1769AA"/>
                </a:solidFill>
              </a:rPr>
              <a:t>本节回答</a:t>
            </a:r>
          </a:p>
        </p:txBody>
      </p:sp>
      <p:sp>
        <p:nvSpPr>
          <p:cNvPr id="7" name="section-question">
            <a:extLst xmlns:a="http://schemas.openxmlformats.org/drawingml/2006/main">
              <a:ext uri="{FF2B5EF4-FFF2-40B4-BE49-F238E27FC236}">
                <a16:creationId xmlns:a16="http://schemas.microsoft.com/office/drawing/2014/main" id="{A97C8673-A420-4CD2-9E03-E1207C6F9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171700"/>
            <a:ext cx="19431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• 研究对象是什么</a:t>
            </a:r>
          </a:p>
          <a:p xmlns:a="http://schemas.openxmlformats.org/drawingml/2006/main">
            <a:pPr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• 直接证据有哪些</a:t>
            </a:r>
          </a:p>
          <a:p xmlns:a="http://schemas.openxmlformats.org/drawingml/2006/main">
            <a:pPr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• 哪些只是间接指标</a:t>
            </a:r>
          </a:p>
        </p:txBody>
      </p:sp>
    </p:spTree>
    <p:extLst>
      <p:ext uri="{BB962C8B-B14F-4D97-AF65-F5344CB8AC3E}">
        <p14:creationId xmlns:p14="http://schemas.microsoft.com/office/powerpoint/2010/main" val="60937845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op-rule">
            <a:extLst xmlns:a="http://schemas.openxmlformats.org/drawingml/2006/main">
              <a:ext uri="{FF2B5EF4-FFF2-40B4-BE49-F238E27FC236}">
                <a16:creationId xmlns:a16="http://schemas.microsoft.com/office/drawing/2014/main" id="{834B04DA-54AF-49A7-AAF4-6B422846A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E1E981F4-61E3-4090-A7E4-EA61821A5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769AA"/>
                </a:solidFill>
              </a:defRPr>
            </a:pPr>
            <a:r>
              <a:rPr sz="1050" b="1">
                <a:solidFill>
                  <a:srgbClr val="1769AA"/>
                </a:solidFill>
              </a:rPr>
              <a:t>概念框架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E156CCA-2CD9-49FF-8762-11CAD34A9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52475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7324D"/>
                </a:solidFill>
              </a:defRPr>
            </a:pPr>
            <a:r>
              <a:rPr sz="2925" b="1">
                <a:solidFill>
                  <a:srgbClr val="17324D"/>
                </a:solidFill>
              </a:rPr>
              <a:t>先区分检测对象，再选择实验方法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8F3D8E9-24B0-4C0F-9526-0D9BAC954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8286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769AA"/>
                </a:solidFill>
              </a:defRPr>
            </a:pPr>
            <a:r>
              <a:rPr sz="1200" b="1">
                <a:solidFill>
                  <a:srgbClr val="1769AA"/>
                </a:solidFill>
              </a:rPr>
              <a:t>03</a:t>
            </a:r>
          </a:p>
        </p:txBody>
      </p:sp>
      <p:sp>
        <p:nvSpPr>
          <p:cNvPr id="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002788E6-261A-474C-A9E0-18014772F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1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-left">
            <a:extLst xmlns:a="http://schemas.openxmlformats.org/drawingml/2006/main">
              <a:ext uri="{FF2B5EF4-FFF2-40B4-BE49-F238E27FC236}">
                <a16:creationId xmlns:a16="http://schemas.microsoft.com/office/drawing/2014/main" id="{FD3E210F-C411-4D93-B2A6-DF6A52D3E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388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7A8996"/>
                </a:solidFill>
              </a:defRPr>
            </a:pPr>
            <a:r>
              <a:rPr sz="825">
                <a:solidFill>
                  <a:srgbClr val="7A8996"/>
                </a:solidFill>
              </a:rPr>
              <a:t>综述型组会 · 示例版式</a:t>
            </a:r>
          </a:p>
        </p:txBody>
      </p:sp>
      <p:sp>
        <p:nvSpPr>
          <p:cNvPr id="7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803EBDD1-612F-4FF8-A3D4-9F19E2896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64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7A8996"/>
                </a:solidFill>
              </a:defRPr>
            </a:pPr>
            <a:r>
              <a:rPr sz="825">
                <a:solidFill>
                  <a:srgbClr val="7A8996"/>
                </a:solidFill>
              </a:rPr>
              <a:t>A · 临床蓝</a:t>
            </a:r>
          </a:p>
        </p:txBody>
      </p:sp>
      <p:sp>
        <p:nvSpPr>
          <p:cNvPr id="8" name="subtitle">
            <a:extLst xmlns:a="http://schemas.openxmlformats.org/drawingml/2006/main">
              <a:ext uri="{FF2B5EF4-FFF2-40B4-BE49-F238E27FC236}">
                <a16:creationId xmlns:a16="http://schemas.microsoft.com/office/drawing/2014/main" id="{E994F218-C860-4EF6-B2C4-B94C95D81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097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26679"/>
                </a:solidFill>
              </a:defRPr>
            </a:pPr>
            <a:r>
              <a:rPr sz="1350">
                <a:solidFill>
                  <a:srgbClr val="526679"/>
                </a:solidFill>
              </a:rPr>
              <a:t>同一信号可能对应不同层级的生物学变化</a:t>
            </a:r>
          </a:p>
        </p:txBody>
      </p:sp>
      <p:sp>
        <p:nvSpPr>
          <p:cNvPr id="9" name="concept-field-0">
            <a:extLst xmlns:a="http://schemas.openxmlformats.org/drawingml/2006/main">
              <a:ext uri="{FF2B5EF4-FFF2-40B4-BE49-F238E27FC236}">
                <a16:creationId xmlns:a16="http://schemas.microsoft.com/office/drawing/2014/main" id="{1FFD6326-5721-405D-940D-FD94318A7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327660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6E1E9"/>
            </a:solidFill>
            <a:prstDash val="solid"/>
          </a:ln>
        </p:spPr>
      </p:sp>
      <p:sp>
        <p:nvSpPr>
          <p:cNvPr id="10" name="concept-number-bg-0">
            <a:extLst xmlns:a="http://schemas.openxmlformats.org/drawingml/2006/main">
              <a:ext uri="{FF2B5EF4-FFF2-40B4-BE49-F238E27FC236}">
                <a16:creationId xmlns:a16="http://schemas.microsoft.com/office/drawing/2014/main" id="{3BB7A362-A6E7-4DEB-A9A5-A40756BDE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146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9525">
            <a:solidFill>
              <a:srgbClr val="D6E1E9"/>
            </a:solidFill>
            <a:prstDash val="solid"/>
          </a:ln>
        </p:spPr>
      </p:sp>
      <p:sp>
        <p:nvSpPr>
          <p:cNvPr id="11" name="concept-number-0">
            <a:extLst xmlns:a="http://schemas.openxmlformats.org/drawingml/2006/main">
              <a:ext uri="{FF2B5EF4-FFF2-40B4-BE49-F238E27FC236}">
                <a16:creationId xmlns:a16="http://schemas.microsoft.com/office/drawing/2014/main" id="{27A306D7-E9C6-4A59-974A-7951F4D0A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908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concept-title-0">
            <a:extLst xmlns:a="http://schemas.openxmlformats.org/drawingml/2006/main">
              <a:ext uri="{FF2B5EF4-FFF2-40B4-BE49-F238E27FC236}">
                <a16:creationId xmlns:a16="http://schemas.microsoft.com/office/drawing/2014/main" id="{8615D632-2480-4D85-9229-F3A52AD01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1945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分子状态</a:t>
            </a:r>
          </a:p>
        </p:txBody>
      </p:sp>
      <p:sp>
        <p:nvSpPr>
          <p:cNvPr id="13" name="concept-body-0">
            <a:extLst xmlns:a="http://schemas.openxmlformats.org/drawingml/2006/main">
              <a:ext uri="{FF2B5EF4-FFF2-40B4-BE49-F238E27FC236}">
                <a16:creationId xmlns:a16="http://schemas.microsoft.com/office/drawing/2014/main" id="{67BC1EF5-E4CD-40BD-8103-6526724CE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48100"/>
            <a:ext cx="2647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26679"/>
                </a:solidFill>
              </a:defRPr>
            </a:pPr>
            <a:r>
              <a:rPr sz="1350">
                <a:solidFill>
                  <a:srgbClr val="526679"/>
                </a:solidFill>
              </a:rPr>
              <a:t>构象变化、错误折叠、聚集体形成</a:t>
            </a:r>
          </a:p>
        </p:txBody>
      </p:sp>
      <p:sp>
        <p:nvSpPr>
          <p:cNvPr id="14" name="concept-field-1">
            <a:extLst xmlns:a="http://schemas.openxmlformats.org/drawingml/2006/main">
              <a:ext uri="{FF2B5EF4-FFF2-40B4-BE49-F238E27FC236}">
                <a16:creationId xmlns:a16="http://schemas.microsoft.com/office/drawing/2014/main" id="{83FDE652-E3AD-424D-8D1F-A9C9C19E0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190750"/>
            <a:ext cx="327660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9"/>
            </a:solidFill>
            <a:prstDash val="solid"/>
          </a:ln>
        </p:spPr>
      </p:sp>
      <p:sp>
        <p:nvSpPr>
          <p:cNvPr id="15" name="concept-number-bg-1">
            <a:extLst xmlns:a="http://schemas.openxmlformats.org/drawingml/2006/main">
              <a:ext uri="{FF2B5EF4-FFF2-40B4-BE49-F238E27FC236}">
                <a16:creationId xmlns:a16="http://schemas.microsoft.com/office/drawing/2014/main" id="{F16ABE60-63BE-4FEB-9604-49A747D9E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5146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6E1E9"/>
            </a:solidFill>
            <a:prstDash val="solid"/>
          </a:ln>
        </p:spPr>
      </p:sp>
      <p:sp>
        <p:nvSpPr>
          <p:cNvPr id="16" name="concept-number-1">
            <a:extLst xmlns:a="http://schemas.openxmlformats.org/drawingml/2006/main">
              <a:ext uri="{FF2B5EF4-FFF2-40B4-BE49-F238E27FC236}">
                <a16:creationId xmlns:a16="http://schemas.microsoft.com/office/drawing/2014/main" id="{D653A860-FA5F-4036-8E50-FADEBAA2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5908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69AA"/>
                </a:solidFill>
              </a:defRPr>
            </a:pPr>
            <a:r>
              <a:rPr sz="1275" b="1">
                <a:solidFill>
                  <a:srgbClr val="1769AA"/>
                </a:solidFill>
              </a:rPr>
              <a:t>2</a:t>
            </a:r>
          </a:p>
        </p:txBody>
      </p:sp>
      <p:sp>
        <p:nvSpPr>
          <p:cNvPr id="17" name="concept-title-1">
            <a:extLst xmlns:a="http://schemas.openxmlformats.org/drawingml/2006/main">
              <a:ext uri="{FF2B5EF4-FFF2-40B4-BE49-F238E27FC236}">
                <a16:creationId xmlns:a16="http://schemas.microsoft.com/office/drawing/2014/main" id="{3FFAB154-121A-4A2B-B634-39D6FF8C1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21945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细胞定位</a:t>
            </a:r>
          </a:p>
        </p:txBody>
      </p:sp>
      <p:sp>
        <p:nvSpPr>
          <p:cNvPr id="18" name="concept-body-1">
            <a:extLst xmlns:a="http://schemas.openxmlformats.org/drawingml/2006/main">
              <a:ext uri="{FF2B5EF4-FFF2-40B4-BE49-F238E27FC236}">
                <a16:creationId xmlns:a16="http://schemas.microsoft.com/office/drawing/2014/main" id="{FB0907E5-9E8D-448B-82F0-CA8DE80FE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848100"/>
            <a:ext cx="2647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26679"/>
                </a:solidFill>
              </a:defRPr>
            </a:pPr>
            <a:r>
              <a:rPr sz="1350">
                <a:solidFill>
                  <a:srgbClr val="526679"/>
                </a:solidFill>
              </a:rPr>
              <a:t>胞质、细胞器或特定亚细胞区域</a:t>
            </a:r>
          </a:p>
        </p:txBody>
      </p:sp>
      <p:sp>
        <p:nvSpPr>
          <p:cNvPr id="19" name="concept-field-2">
            <a:extLst xmlns:a="http://schemas.openxmlformats.org/drawingml/2006/main">
              <a:ext uri="{FF2B5EF4-FFF2-40B4-BE49-F238E27FC236}">
                <a16:creationId xmlns:a16="http://schemas.microsoft.com/office/drawing/2014/main" id="{CC788F29-B5CE-42B3-B6C2-22BAC872F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190750"/>
            <a:ext cx="327660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9"/>
            </a:solidFill>
            <a:prstDash val="solid"/>
          </a:ln>
        </p:spPr>
      </p:sp>
      <p:sp>
        <p:nvSpPr>
          <p:cNvPr id="20" name="concept-number-bg-2">
            <a:extLst xmlns:a="http://schemas.openxmlformats.org/drawingml/2006/main">
              <a:ext uri="{FF2B5EF4-FFF2-40B4-BE49-F238E27FC236}">
                <a16:creationId xmlns:a16="http://schemas.microsoft.com/office/drawing/2014/main" id="{63AF6EBA-21CF-4FD0-860B-5CA507A40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146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6E1E9"/>
            </a:solidFill>
            <a:prstDash val="solid"/>
          </a:ln>
        </p:spPr>
      </p:sp>
      <p:sp>
        <p:nvSpPr>
          <p:cNvPr id="21" name="concept-number-2">
            <a:extLst xmlns:a="http://schemas.openxmlformats.org/drawingml/2006/main">
              <a:ext uri="{FF2B5EF4-FFF2-40B4-BE49-F238E27FC236}">
                <a16:creationId xmlns:a16="http://schemas.microsoft.com/office/drawing/2014/main" id="{4D8CB8C9-AC36-4328-8D2C-1C01D0F72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908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69AA"/>
                </a:solidFill>
              </a:defRPr>
            </a:pPr>
            <a:r>
              <a:rPr sz="1275" b="1">
                <a:solidFill>
                  <a:srgbClr val="1769AA"/>
                </a:solidFill>
              </a:rPr>
              <a:t>3</a:t>
            </a:r>
          </a:p>
        </p:txBody>
      </p:sp>
      <p:sp>
        <p:nvSpPr>
          <p:cNvPr id="22" name="concept-title-2">
            <a:extLst xmlns:a="http://schemas.openxmlformats.org/drawingml/2006/main">
              <a:ext uri="{FF2B5EF4-FFF2-40B4-BE49-F238E27FC236}">
                <a16:creationId xmlns:a16="http://schemas.microsoft.com/office/drawing/2014/main" id="{7F27A15F-E220-4CCC-84BC-D0ED22D1B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21945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功能后果</a:t>
            </a:r>
          </a:p>
        </p:txBody>
      </p:sp>
      <p:sp>
        <p:nvSpPr>
          <p:cNvPr id="23" name="concept-body-2">
            <a:extLst xmlns:a="http://schemas.openxmlformats.org/drawingml/2006/main">
              <a:ext uri="{FF2B5EF4-FFF2-40B4-BE49-F238E27FC236}">
                <a16:creationId xmlns:a16="http://schemas.microsoft.com/office/drawing/2014/main" id="{2393EFC2-66BB-4592-8497-B44A16133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848100"/>
            <a:ext cx="2647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26679"/>
                </a:solidFill>
              </a:defRPr>
            </a:pPr>
            <a:r>
              <a:rPr sz="1350">
                <a:solidFill>
                  <a:srgbClr val="526679"/>
                </a:solidFill>
              </a:rPr>
              <a:t>应激反应、降解障碍或细胞毒性</a:t>
            </a:r>
          </a:p>
        </p:txBody>
      </p:sp>
    </p:spTree>
    <p:extLst>
      <p:ext uri="{BB962C8B-B14F-4D97-AF65-F5344CB8AC3E}">
        <p14:creationId xmlns:p14="http://schemas.microsoft.com/office/powerpoint/2010/main" val="133128242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op-rule">
            <a:extLst xmlns:a="http://schemas.openxmlformats.org/drawingml/2006/main">
              <a:ext uri="{FF2B5EF4-FFF2-40B4-BE49-F238E27FC236}">
                <a16:creationId xmlns:a16="http://schemas.microsoft.com/office/drawing/2014/main" id="{C879D789-56B9-4714-8BD4-2E6E3AE11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FBBEF784-3615-433C-B7F2-3AF8C9315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769AA"/>
                </a:solidFill>
              </a:defRPr>
            </a:pPr>
            <a:r>
              <a:rPr sz="1050" b="1">
                <a:solidFill>
                  <a:srgbClr val="1769AA"/>
                </a:solidFill>
              </a:rPr>
              <a:t>应用案例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1B3DD19-CFAF-4AA8-BC88-9E29F780B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52475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7324D"/>
                </a:solidFill>
              </a:defRPr>
            </a:pPr>
            <a:r>
              <a:rPr sz="2925" b="1">
                <a:solidFill>
                  <a:srgbClr val="17324D"/>
                </a:solidFill>
              </a:rPr>
              <a:t>文献图应服务于一个明确判断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B5F568C-3965-45C3-A287-69DAF40C2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8286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769AA"/>
                </a:solidFill>
              </a:defRPr>
            </a:pPr>
            <a:r>
              <a:rPr sz="1200" b="1">
                <a:solidFill>
                  <a:srgbClr val="1769AA"/>
                </a:solidFill>
              </a:rPr>
              <a:t>04</a:t>
            </a:r>
          </a:p>
        </p:txBody>
      </p:sp>
      <p:sp>
        <p:nvSpPr>
          <p:cNvPr id="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3F6C7F05-D3AA-46CB-9A51-508BF2888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1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-left">
            <a:extLst xmlns:a="http://schemas.openxmlformats.org/drawingml/2006/main">
              <a:ext uri="{FF2B5EF4-FFF2-40B4-BE49-F238E27FC236}">
                <a16:creationId xmlns:a16="http://schemas.microsoft.com/office/drawing/2014/main" id="{583FCD20-46A0-4887-92A5-7A9296E97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388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7A8996"/>
                </a:solidFill>
              </a:defRPr>
            </a:pPr>
            <a:r>
              <a:rPr sz="825">
                <a:solidFill>
                  <a:srgbClr val="7A8996"/>
                </a:solidFill>
              </a:rPr>
              <a:t>综述型组会 · 示例版式</a:t>
            </a:r>
          </a:p>
        </p:txBody>
      </p:sp>
      <p:sp>
        <p:nvSpPr>
          <p:cNvPr id="7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C72301B9-8C0B-481F-906B-292E34AA6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64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7A8996"/>
                </a:solidFill>
              </a:defRPr>
            </a:pPr>
            <a:r>
              <a:rPr sz="825">
                <a:solidFill>
                  <a:srgbClr val="7A8996"/>
                </a:solidFill>
              </a:rPr>
              <a:t>A · 临床蓝</a:t>
            </a:r>
          </a:p>
        </p:txBody>
      </p:sp>
      <p:sp>
        <p:nvSpPr>
          <p:cNvPr id="8" name="figure-frame">
            <a:extLst xmlns:a="http://schemas.openxmlformats.org/drawingml/2006/main">
              <a:ext uri="{FF2B5EF4-FFF2-40B4-BE49-F238E27FC236}">
                <a16:creationId xmlns:a16="http://schemas.microsoft.com/office/drawing/2014/main" id="{285ECE93-9AC8-4953-9949-BA62385EF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6400800" cy="3600450"/>
          </a:xfrm>
          <a:prstGeom xmlns:a="http://schemas.openxmlformats.org/drawingml/2006/main" prst="roundRect">
            <a:avLst>
              <a:gd name="adj" fmla="val 2116"/>
            </a:avLst>
          </a:prstGeom>
          <a:solidFill xmlns:a="http://schemas.openxmlformats.org/drawingml/2006/main">
            <a:srgbClr val="FAFBFC"/>
          </a:solidFill>
          <a:ln xmlns:a="http://schemas.openxmlformats.org/drawingml/2006/main" w="9525">
            <a:solidFill>
              <a:srgbClr val="D6E1E9"/>
            </a:solidFill>
            <a:prstDash val="solid"/>
          </a:ln>
        </p:spPr>
      </p:sp>
      <p:sp>
        <p:nvSpPr>
          <p:cNvPr id="9" name="figure-label">
            <a:extLst xmlns:a="http://schemas.openxmlformats.org/drawingml/2006/main">
              <a:ext uri="{FF2B5EF4-FFF2-40B4-BE49-F238E27FC236}">
                <a16:creationId xmlns:a16="http://schemas.microsoft.com/office/drawing/2014/main" id="{E6D8A313-1001-4E06-A751-AEE1DDFDE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219450"/>
            <a:ext cx="2971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7A8996"/>
                </a:solidFill>
              </a:defRPr>
            </a:pPr>
            <a:r>
              <a:rPr sz="1950" b="1">
                <a:solidFill>
                  <a:srgbClr val="7A8996"/>
                </a:solidFill>
              </a:rPr>
              <a:t>文献图 / 实验图</a:t>
            </a:r>
          </a:p>
        </p:txBody>
      </p:sp>
      <p:sp>
        <p:nvSpPr>
          <p:cNvPr id="10" name="figure-source">
            <a:extLst xmlns:a="http://schemas.openxmlformats.org/drawingml/2006/main">
              <a:ext uri="{FF2B5EF4-FFF2-40B4-BE49-F238E27FC236}">
                <a16:creationId xmlns:a16="http://schemas.microsoft.com/office/drawing/2014/main" id="{9E67CC12-4A19-4946-AF08-F75580926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7909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7A8996"/>
                </a:solidFill>
              </a:defRPr>
            </a:pPr>
            <a:r>
              <a:rPr sz="1050">
                <a:solidFill>
                  <a:srgbClr val="7A8996"/>
                </a:solidFill>
              </a:rPr>
              <a:t>图源与面板说明置于图下或备注区</a:t>
            </a:r>
          </a:p>
        </p:txBody>
      </p:sp>
      <p:sp>
        <p:nvSpPr>
          <p:cNvPr id="11" name="finding-label">
            <a:extLst xmlns:a="http://schemas.openxmlformats.org/drawingml/2006/main">
              <a:ext uri="{FF2B5EF4-FFF2-40B4-BE49-F238E27FC236}">
                <a16:creationId xmlns:a16="http://schemas.microsoft.com/office/drawing/2014/main" id="{EDBC3728-CCFE-46A4-8C6E-89015493B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000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69AA"/>
                </a:solidFill>
              </a:defRPr>
            </a:pPr>
            <a:r>
              <a:rPr sz="1200" b="1">
                <a:solidFill>
                  <a:srgbClr val="1769AA"/>
                </a:solidFill>
              </a:rPr>
              <a:t>本页结论</a:t>
            </a:r>
          </a:p>
        </p:txBody>
      </p:sp>
      <p:sp>
        <p:nvSpPr>
          <p:cNvPr id="12" name="finding">
            <a:extLst xmlns:a="http://schemas.openxmlformats.org/drawingml/2006/main">
              <a:ext uri="{FF2B5EF4-FFF2-40B4-BE49-F238E27FC236}">
                <a16:creationId xmlns:a16="http://schemas.microsoft.com/office/drawing/2014/main" id="{4665BEA4-F3B2-485C-BFCA-EB4D9D768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57450"/>
            <a:ext cx="3524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324D"/>
                </a:solidFill>
              </a:defRPr>
            </a:pPr>
            <a:r>
              <a:rPr sz="2175" b="1">
                <a:solidFill>
                  <a:srgbClr val="17324D"/>
                </a:solidFill>
              </a:rPr>
              <a:t>先讲图中最重要的变化，</a:t>
            </a:r>
          </a:p>
          <a:p xmlns:a="http://schemas.openxmlformats.org/drawingml/2006/main">
            <a:pPr>
              <a:defRPr sz="2175" b="1">
                <a:solidFill>
                  <a:srgbClr val="17324D"/>
                </a:solidFill>
              </a:defRPr>
            </a:pPr>
            <a:r>
              <a:rPr sz="2175" b="1">
                <a:solidFill>
                  <a:srgbClr val="17324D"/>
                </a:solidFill>
              </a:rPr>
              <a:t>再说明它支持什么结论。</a:t>
            </a:r>
          </a:p>
        </p:txBody>
      </p:sp>
      <p:sp>
        <p:nvSpPr>
          <p:cNvPr id="13" name="interpretation-rule">
            <a:extLst xmlns:a="http://schemas.openxmlformats.org/drawingml/2006/main">
              <a:ext uri="{FF2B5EF4-FFF2-40B4-BE49-F238E27FC236}">
                <a16:creationId xmlns:a16="http://schemas.microsoft.com/office/drawing/2014/main" id="{11CA48BA-2545-4BA7-9BBD-32AF8AB43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781425"/>
            <a:ext cx="352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interpretation">
            <a:extLst xmlns:a="http://schemas.openxmlformats.org/drawingml/2006/main">
              <a:ext uri="{FF2B5EF4-FFF2-40B4-BE49-F238E27FC236}">
                <a16:creationId xmlns:a16="http://schemas.microsoft.com/office/drawing/2014/main" id="{5C8C7785-D028-4833-80C0-D704D72CC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057650"/>
            <a:ext cx="3524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26679"/>
                </a:solidFill>
              </a:defRPr>
            </a:pPr>
            <a:r>
              <a:rPr sz="1350">
                <a:solidFill>
                  <a:srgbClr val="526679"/>
                </a:solidFill>
              </a:rPr>
              <a:t>避免逐项复述坐标、图例和每一个面板；同时交代样本、对照和证据边界。</a:t>
            </a:r>
          </a:p>
        </p:txBody>
      </p:sp>
    </p:spTree>
    <p:extLst>
      <p:ext uri="{BB962C8B-B14F-4D97-AF65-F5344CB8AC3E}">
        <p14:creationId xmlns:p14="http://schemas.microsoft.com/office/powerpoint/2010/main" val="114683119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top-rule">
            <a:extLst xmlns:a="http://schemas.openxmlformats.org/drawingml/2006/main">
              <a:ext uri="{FF2B5EF4-FFF2-40B4-BE49-F238E27FC236}">
                <a16:creationId xmlns:a16="http://schemas.microsoft.com/office/drawing/2014/main" id="{AFB66C0F-7378-4C83-9B49-1012CF64F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CFB7818C-45A2-4663-8281-843AD90EE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769AA"/>
                </a:solidFill>
              </a:defRPr>
            </a:pPr>
            <a:r>
              <a:rPr sz="1050" b="1">
                <a:solidFill>
                  <a:srgbClr val="1769AA"/>
                </a:solidFill>
              </a:rPr>
              <a:t>方法比较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67B469D-A725-4AF3-9EDE-F8001E083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52475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7324D"/>
                </a:solidFill>
              </a:defRPr>
            </a:pPr>
            <a:r>
              <a:rPr sz="2925" b="1">
                <a:solidFill>
                  <a:srgbClr val="17324D"/>
                </a:solidFill>
              </a:rPr>
              <a:t>方法选择取决于研究问题与证据强度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E9F8375-A0FC-40A1-9911-B388AEF36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8286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769AA"/>
                </a:solidFill>
              </a:defRPr>
            </a:pPr>
            <a:r>
              <a:rPr sz="1200" b="1">
                <a:solidFill>
                  <a:srgbClr val="1769AA"/>
                </a:solidFill>
              </a:rPr>
              <a:t>05</a:t>
            </a:r>
          </a:p>
        </p:txBody>
      </p:sp>
      <p:sp>
        <p:nvSpPr>
          <p:cNvPr id="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8B286E67-0694-45DB-A604-00779E8F6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1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-left">
            <a:extLst xmlns:a="http://schemas.openxmlformats.org/drawingml/2006/main">
              <a:ext uri="{FF2B5EF4-FFF2-40B4-BE49-F238E27FC236}">
                <a16:creationId xmlns:a16="http://schemas.microsoft.com/office/drawing/2014/main" id="{1F5B59B7-E9DC-44C7-9398-DC2FD1465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388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7A8996"/>
                </a:solidFill>
              </a:defRPr>
            </a:pPr>
            <a:r>
              <a:rPr sz="825">
                <a:solidFill>
                  <a:srgbClr val="7A8996"/>
                </a:solidFill>
              </a:rPr>
              <a:t>综述型组会 · 示例版式</a:t>
            </a:r>
          </a:p>
        </p:txBody>
      </p:sp>
      <p:sp>
        <p:nvSpPr>
          <p:cNvPr id="7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0E8D3FD9-851A-43ED-BEC2-821451FAE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64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7A8996"/>
                </a:solidFill>
              </a:defRPr>
            </a:pPr>
            <a:r>
              <a:rPr sz="825">
                <a:solidFill>
                  <a:srgbClr val="7A8996"/>
                </a:solidFill>
              </a:rPr>
              <a:t>A · 临床蓝</a:t>
            </a:r>
          </a:p>
        </p:txBody>
      </p:sp>
      <p:sp>
        <p:nvSpPr>
          <p:cNvPr id="8" name="head-0">
            <a:extLst xmlns:a="http://schemas.openxmlformats.org/drawingml/2006/main">
              <a:ext uri="{FF2B5EF4-FFF2-40B4-BE49-F238E27FC236}">
                <a16:creationId xmlns:a16="http://schemas.microsoft.com/office/drawing/2014/main" id="{56EA0A65-B2D6-47F9-9CA6-88EC6E340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2819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9525">
            <a:solidFill>
              <a:srgbClr val="D6E1E9"/>
            </a:solidFill>
            <a:prstDash val="solid"/>
          </a:ln>
        </p:spPr>
      </p:sp>
      <p:sp>
        <p:nvSpPr>
          <p:cNvPr id="9" name="head-text-0">
            <a:extLst xmlns:a="http://schemas.openxmlformats.org/drawingml/2006/main">
              <a:ext uri="{FF2B5EF4-FFF2-40B4-BE49-F238E27FC236}">
                <a16:creationId xmlns:a16="http://schemas.microsoft.com/office/drawing/2014/main" id="{FBFE478C-EE37-44CF-A4B6-F0A47B4FA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24075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方法</a:t>
            </a:r>
          </a:p>
        </p:txBody>
      </p:sp>
      <p:sp>
        <p:nvSpPr>
          <p:cNvPr id="10" name="head-1">
            <a:extLst xmlns:a="http://schemas.openxmlformats.org/drawingml/2006/main">
              <a:ext uri="{FF2B5EF4-FFF2-40B4-BE49-F238E27FC236}">
                <a16:creationId xmlns:a16="http://schemas.microsoft.com/office/drawing/2014/main" id="{BD09BC55-2118-43EB-9174-618BE9E6E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952625"/>
            <a:ext cx="22669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6E1E9"/>
            </a:solidFill>
            <a:prstDash val="solid"/>
          </a:ln>
        </p:spPr>
      </p:sp>
      <p:sp>
        <p:nvSpPr>
          <p:cNvPr id="11" name="head-text-1">
            <a:extLst xmlns:a="http://schemas.openxmlformats.org/drawingml/2006/main">
              <a:ext uri="{FF2B5EF4-FFF2-40B4-BE49-F238E27FC236}">
                <a16:creationId xmlns:a16="http://schemas.microsoft.com/office/drawing/2014/main" id="{64556980-F387-4BCE-8AC8-6AE4C289D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2407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324D"/>
                </a:solidFill>
              </a:defRPr>
            </a:pPr>
            <a:r>
              <a:rPr sz="1200" b="1">
                <a:solidFill>
                  <a:srgbClr val="17324D"/>
                </a:solidFill>
              </a:rPr>
              <a:t>主要读出</a:t>
            </a:r>
          </a:p>
        </p:txBody>
      </p:sp>
      <p:sp>
        <p:nvSpPr>
          <p:cNvPr id="12" name="head-2">
            <a:extLst xmlns:a="http://schemas.openxmlformats.org/drawingml/2006/main">
              <a:ext uri="{FF2B5EF4-FFF2-40B4-BE49-F238E27FC236}">
                <a16:creationId xmlns:a16="http://schemas.microsoft.com/office/drawing/2014/main" id="{5CB97EF4-EAB8-47F8-A7E9-AAEB721B0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1952625"/>
            <a:ext cx="22669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6E1E9"/>
            </a:solidFill>
            <a:prstDash val="solid"/>
          </a:ln>
        </p:spPr>
      </p:sp>
      <p:sp>
        <p:nvSpPr>
          <p:cNvPr id="13" name="head-text-2">
            <a:extLst xmlns:a="http://schemas.openxmlformats.org/drawingml/2006/main">
              <a:ext uri="{FF2B5EF4-FFF2-40B4-BE49-F238E27FC236}">
                <a16:creationId xmlns:a16="http://schemas.microsoft.com/office/drawing/2014/main" id="{4FD15455-66DA-417D-AC62-620636BA0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12407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324D"/>
                </a:solidFill>
              </a:defRPr>
            </a:pPr>
            <a:r>
              <a:rPr sz="1200" b="1">
                <a:solidFill>
                  <a:srgbClr val="17324D"/>
                </a:solidFill>
              </a:rPr>
              <a:t>优势</a:t>
            </a:r>
          </a:p>
        </p:txBody>
      </p:sp>
      <p:sp>
        <p:nvSpPr>
          <p:cNvPr id="14" name="head-3">
            <a:extLst xmlns:a="http://schemas.openxmlformats.org/drawingml/2006/main">
              <a:ext uri="{FF2B5EF4-FFF2-40B4-BE49-F238E27FC236}">
                <a16:creationId xmlns:a16="http://schemas.microsoft.com/office/drawing/2014/main" id="{DF7434E6-7B0B-46FD-A63D-A4BD11668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952625"/>
            <a:ext cx="19431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6E1E9"/>
            </a:solidFill>
            <a:prstDash val="solid"/>
          </a:ln>
        </p:spPr>
      </p:sp>
      <p:sp>
        <p:nvSpPr>
          <p:cNvPr id="15" name="head-text-3">
            <a:extLst xmlns:a="http://schemas.openxmlformats.org/drawingml/2006/main">
              <a:ext uri="{FF2B5EF4-FFF2-40B4-BE49-F238E27FC236}">
                <a16:creationId xmlns:a16="http://schemas.microsoft.com/office/drawing/2014/main" id="{177D4723-B790-4213-8058-396173C2B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24075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324D"/>
                </a:solidFill>
              </a:defRPr>
            </a:pPr>
            <a:r>
              <a:rPr sz="1200" b="1">
                <a:solidFill>
                  <a:srgbClr val="17324D"/>
                </a:solidFill>
              </a:rPr>
              <a:t>局限</a:t>
            </a:r>
          </a:p>
        </p:txBody>
      </p:sp>
      <p:sp>
        <p:nvSpPr>
          <p:cNvPr id="16" name="head-4">
            <a:extLst xmlns:a="http://schemas.openxmlformats.org/drawingml/2006/main">
              <a:ext uri="{FF2B5EF4-FFF2-40B4-BE49-F238E27FC236}">
                <a16:creationId xmlns:a16="http://schemas.microsoft.com/office/drawing/2014/main" id="{99F08F9E-6C88-44EC-BF08-48CA2CA33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1952625"/>
            <a:ext cx="1524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6E1E9"/>
            </a:solidFill>
            <a:prstDash val="solid"/>
          </a:ln>
        </p:spPr>
      </p:sp>
      <p:sp>
        <p:nvSpPr>
          <p:cNvPr id="17" name="head-text-4">
            <a:extLst xmlns:a="http://schemas.openxmlformats.org/drawingml/2006/main">
              <a:ext uri="{FF2B5EF4-FFF2-40B4-BE49-F238E27FC236}">
                <a16:creationId xmlns:a16="http://schemas.microsoft.com/office/drawing/2014/main" id="{286E7E37-A8C7-44B8-B75F-76FE28482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124075"/>
            <a:ext cx="125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324D"/>
                </a:solidFill>
              </a:defRPr>
            </a:pPr>
            <a:r>
              <a:rPr sz="1200" b="1">
                <a:solidFill>
                  <a:srgbClr val="17324D"/>
                </a:solidFill>
              </a:rPr>
              <a:t>推荐场景</a:t>
            </a:r>
          </a:p>
        </p:txBody>
      </p:sp>
      <p:sp>
        <p:nvSpPr>
          <p:cNvPr id="18" name="cell-0-0">
            <a:extLst xmlns:a="http://schemas.openxmlformats.org/drawingml/2006/main">
              <a:ext uri="{FF2B5EF4-FFF2-40B4-BE49-F238E27FC236}">
                <a16:creationId xmlns:a16="http://schemas.microsoft.com/office/drawing/2014/main" id="{6A65755E-1990-4192-A2AB-89747B44B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62225"/>
            <a:ext cx="2819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9"/>
            </a:solidFill>
            <a:prstDash val="solid"/>
          </a:ln>
        </p:spPr>
      </p:sp>
      <p:sp>
        <p:nvSpPr>
          <p:cNvPr id="19" name="cell-text-0-0">
            <a:extLst xmlns:a="http://schemas.openxmlformats.org/drawingml/2006/main">
              <a:ext uri="{FF2B5EF4-FFF2-40B4-BE49-F238E27FC236}">
                <a16:creationId xmlns:a16="http://schemas.microsoft.com/office/drawing/2014/main" id="{547F709E-9068-4172-BE70-74A86DCB4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2552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69AA"/>
                </a:solidFill>
              </a:defRPr>
            </a:pPr>
            <a:r>
              <a:rPr sz="1275" b="1">
                <a:solidFill>
                  <a:srgbClr val="1769AA"/>
                </a:solidFill>
              </a:rPr>
              <a:t>构象探针</a:t>
            </a:r>
          </a:p>
        </p:txBody>
      </p:sp>
      <p:sp>
        <p:nvSpPr>
          <p:cNvPr id="20" name="cell-0-1">
            <a:extLst xmlns:a="http://schemas.openxmlformats.org/drawingml/2006/main">
              <a:ext uri="{FF2B5EF4-FFF2-40B4-BE49-F238E27FC236}">
                <a16:creationId xmlns:a16="http://schemas.microsoft.com/office/drawing/2014/main" id="{E247DC89-6069-4D0F-841A-F60F7709E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562225"/>
            <a:ext cx="22669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9"/>
            </a:solidFill>
            <a:prstDash val="solid"/>
          </a:ln>
        </p:spPr>
      </p:sp>
      <p:sp>
        <p:nvSpPr>
          <p:cNvPr id="21" name="cell-text-0-1">
            <a:extLst xmlns:a="http://schemas.openxmlformats.org/drawingml/2006/main">
              <a:ext uri="{FF2B5EF4-FFF2-40B4-BE49-F238E27FC236}">
                <a16:creationId xmlns:a16="http://schemas.microsoft.com/office/drawing/2014/main" id="{9DE283FC-63F2-4F80-93B7-B5CB99EE0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78130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679"/>
                </a:solidFill>
              </a:defRPr>
            </a:pPr>
            <a:r>
              <a:rPr sz="1125" b="0">
                <a:solidFill>
                  <a:srgbClr val="526679"/>
                </a:solidFill>
              </a:rPr>
              <a:t>局部环境变化</a:t>
            </a:r>
          </a:p>
        </p:txBody>
      </p:sp>
      <p:sp>
        <p:nvSpPr>
          <p:cNvPr id="22" name="cell-0-2">
            <a:extLst xmlns:a="http://schemas.openxmlformats.org/drawingml/2006/main">
              <a:ext uri="{FF2B5EF4-FFF2-40B4-BE49-F238E27FC236}">
                <a16:creationId xmlns:a16="http://schemas.microsoft.com/office/drawing/2014/main" id="{4D73DD81-E26E-45C1-9646-9EE23F86B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562225"/>
            <a:ext cx="22669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9"/>
            </a:solidFill>
            <a:prstDash val="solid"/>
          </a:ln>
        </p:spPr>
      </p:sp>
      <p:sp>
        <p:nvSpPr>
          <p:cNvPr id="23" name="cell-text-0-2">
            <a:extLst xmlns:a="http://schemas.openxmlformats.org/drawingml/2006/main">
              <a:ext uri="{FF2B5EF4-FFF2-40B4-BE49-F238E27FC236}">
                <a16:creationId xmlns:a16="http://schemas.microsoft.com/office/drawing/2014/main" id="{EDA3F09C-5F62-4C55-A663-737FACCBF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78130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679"/>
                </a:solidFill>
              </a:defRPr>
            </a:pPr>
            <a:r>
              <a:rPr sz="1125" b="0">
                <a:solidFill>
                  <a:srgbClr val="526679"/>
                </a:solidFill>
              </a:rPr>
              <a:t>灵敏、成像直观</a:t>
            </a:r>
          </a:p>
        </p:txBody>
      </p:sp>
      <p:sp>
        <p:nvSpPr>
          <p:cNvPr id="24" name="cell-0-3">
            <a:extLst xmlns:a="http://schemas.openxmlformats.org/drawingml/2006/main">
              <a:ext uri="{FF2B5EF4-FFF2-40B4-BE49-F238E27FC236}">
                <a16:creationId xmlns:a16="http://schemas.microsoft.com/office/drawing/2014/main" id="{3C5F42CF-DB0B-4C63-82B7-DDB19E05A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562225"/>
            <a:ext cx="1943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9"/>
            </a:solidFill>
            <a:prstDash val="solid"/>
          </a:ln>
        </p:spPr>
      </p:sp>
      <p:sp>
        <p:nvSpPr>
          <p:cNvPr id="25" name="cell-text-0-3">
            <a:extLst xmlns:a="http://schemas.openxmlformats.org/drawingml/2006/main">
              <a:ext uri="{FF2B5EF4-FFF2-40B4-BE49-F238E27FC236}">
                <a16:creationId xmlns:a16="http://schemas.microsoft.com/office/drawing/2014/main" id="{8BFC3890-83DF-4E6D-AE1F-069F2C2AC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81300"/>
            <a:ext cx="1676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679"/>
                </a:solidFill>
              </a:defRPr>
            </a:pPr>
            <a:r>
              <a:rPr sz="1125" b="0">
                <a:solidFill>
                  <a:srgbClr val="526679"/>
                </a:solidFill>
              </a:rPr>
              <a:t>可能非特异</a:t>
            </a:r>
          </a:p>
        </p:txBody>
      </p:sp>
      <p:sp>
        <p:nvSpPr>
          <p:cNvPr id="26" name="cell-0-4">
            <a:extLst xmlns:a="http://schemas.openxmlformats.org/drawingml/2006/main">
              <a:ext uri="{FF2B5EF4-FFF2-40B4-BE49-F238E27FC236}">
                <a16:creationId xmlns:a16="http://schemas.microsoft.com/office/drawing/2014/main" id="{919344CF-067B-48EB-BF5C-74126A698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562225"/>
            <a:ext cx="1524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9"/>
            </a:solidFill>
            <a:prstDash val="solid"/>
          </a:ln>
        </p:spPr>
      </p:sp>
      <p:sp>
        <p:nvSpPr>
          <p:cNvPr id="27" name="cell-text-0-4">
            <a:extLst xmlns:a="http://schemas.openxmlformats.org/drawingml/2006/main">
              <a:ext uri="{FF2B5EF4-FFF2-40B4-BE49-F238E27FC236}">
                <a16:creationId xmlns:a16="http://schemas.microsoft.com/office/drawing/2014/main" id="{C00F83EB-603D-4C29-A9C5-9DD99FF3A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781300"/>
            <a:ext cx="1257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679"/>
                </a:solidFill>
              </a:defRPr>
            </a:pPr>
            <a:r>
              <a:rPr sz="1125" b="0">
                <a:solidFill>
                  <a:srgbClr val="526679"/>
                </a:solidFill>
              </a:rPr>
              <a:t>筛查</a:t>
            </a:r>
          </a:p>
        </p:txBody>
      </p:sp>
      <p:sp>
        <p:nvSpPr>
          <p:cNvPr id="28" name="cell-1-0">
            <a:extLst xmlns:a="http://schemas.openxmlformats.org/drawingml/2006/main">
              <a:ext uri="{FF2B5EF4-FFF2-40B4-BE49-F238E27FC236}">
                <a16:creationId xmlns:a16="http://schemas.microsoft.com/office/drawing/2014/main" id="{1DCC21E6-5591-4684-AD15-FE0A5790C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2819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6E1E9"/>
            </a:solidFill>
            <a:prstDash val="solid"/>
          </a:ln>
        </p:spPr>
      </p:sp>
      <p:sp>
        <p:nvSpPr>
          <p:cNvPr id="29" name="cell-text-1-0">
            <a:extLst xmlns:a="http://schemas.openxmlformats.org/drawingml/2006/main">
              <a:ext uri="{FF2B5EF4-FFF2-40B4-BE49-F238E27FC236}">
                <a16:creationId xmlns:a16="http://schemas.microsoft.com/office/drawing/2014/main" id="{587C55AD-D150-49A0-BCCE-598A8E5CD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95700"/>
            <a:ext cx="2552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69AA"/>
                </a:solidFill>
              </a:defRPr>
            </a:pPr>
            <a:r>
              <a:rPr sz="1275" b="1">
                <a:solidFill>
                  <a:srgbClr val="1769AA"/>
                </a:solidFill>
              </a:rPr>
              <a:t>生化分级</a:t>
            </a:r>
          </a:p>
        </p:txBody>
      </p:sp>
      <p:sp>
        <p:nvSpPr>
          <p:cNvPr id="30" name="cell-1-1">
            <a:extLst xmlns:a="http://schemas.openxmlformats.org/drawingml/2006/main">
              <a:ext uri="{FF2B5EF4-FFF2-40B4-BE49-F238E27FC236}">
                <a16:creationId xmlns:a16="http://schemas.microsoft.com/office/drawing/2014/main" id="{A5A149F5-FEEF-426F-82A9-2D13FDE58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476625"/>
            <a:ext cx="22669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6E1E9"/>
            </a:solidFill>
            <a:prstDash val="solid"/>
          </a:ln>
        </p:spPr>
      </p:sp>
      <p:sp>
        <p:nvSpPr>
          <p:cNvPr id="31" name="cell-text-1-1">
            <a:extLst xmlns:a="http://schemas.openxmlformats.org/drawingml/2006/main">
              <a:ext uri="{FF2B5EF4-FFF2-40B4-BE49-F238E27FC236}">
                <a16:creationId xmlns:a16="http://schemas.microsoft.com/office/drawing/2014/main" id="{15EC9F5D-E881-4910-9E13-0EE5E41BC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9570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679"/>
                </a:solidFill>
              </a:defRPr>
            </a:pPr>
            <a:r>
              <a:rPr sz="1125" b="0">
                <a:solidFill>
                  <a:srgbClr val="526679"/>
                </a:solidFill>
              </a:rPr>
              <a:t>可溶 / 不溶组分</a:t>
            </a:r>
          </a:p>
        </p:txBody>
      </p:sp>
      <p:sp>
        <p:nvSpPr>
          <p:cNvPr id="32" name="cell-1-2">
            <a:extLst xmlns:a="http://schemas.openxmlformats.org/drawingml/2006/main">
              <a:ext uri="{FF2B5EF4-FFF2-40B4-BE49-F238E27FC236}">
                <a16:creationId xmlns:a16="http://schemas.microsoft.com/office/drawing/2014/main" id="{AD7F69E5-7B56-4891-BEF8-B14C39CC1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476625"/>
            <a:ext cx="22669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6E1E9"/>
            </a:solidFill>
            <a:prstDash val="solid"/>
          </a:ln>
        </p:spPr>
      </p:sp>
      <p:sp>
        <p:nvSpPr>
          <p:cNvPr id="33" name="cell-text-1-2">
            <a:extLst xmlns:a="http://schemas.openxmlformats.org/drawingml/2006/main">
              <a:ext uri="{FF2B5EF4-FFF2-40B4-BE49-F238E27FC236}">
                <a16:creationId xmlns:a16="http://schemas.microsoft.com/office/drawing/2014/main" id="{0427BEB6-50D8-4940-8C80-C030B9988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69570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679"/>
                </a:solidFill>
              </a:defRPr>
            </a:pPr>
            <a:r>
              <a:rPr sz="1125" b="0">
                <a:solidFill>
                  <a:srgbClr val="526679"/>
                </a:solidFill>
              </a:rPr>
              <a:t>直接、可定量</a:t>
            </a:r>
          </a:p>
        </p:txBody>
      </p:sp>
      <p:sp>
        <p:nvSpPr>
          <p:cNvPr id="34" name="cell-1-3">
            <a:extLst xmlns:a="http://schemas.openxmlformats.org/drawingml/2006/main">
              <a:ext uri="{FF2B5EF4-FFF2-40B4-BE49-F238E27FC236}">
                <a16:creationId xmlns:a16="http://schemas.microsoft.com/office/drawing/2014/main" id="{59BA343C-98BB-48B2-8544-60C5FD187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476625"/>
            <a:ext cx="1943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6E1E9"/>
            </a:solidFill>
            <a:prstDash val="solid"/>
          </a:ln>
        </p:spPr>
      </p:sp>
      <p:sp>
        <p:nvSpPr>
          <p:cNvPr id="35" name="cell-text-1-3">
            <a:extLst xmlns:a="http://schemas.openxmlformats.org/drawingml/2006/main">
              <a:ext uri="{FF2B5EF4-FFF2-40B4-BE49-F238E27FC236}">
                <a16:creationId xmlns:a16="http://schemas.microsoft.com/office/drawing/2014/main" id="{18620547-AEA3-49EF-A65D-B91E73EF2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695700"/>
            <a:ext cx="1676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679"/>
                </a:solidFill>
              </a:defRPr>
            </a:pPr>
            <a:r>
              <a:rPr sz="1125" b="0">
                <a:solidFill>
                  <a:srgbClr val="526679"/>
                </a:solidFill>
              </a:rPr>
              <a:t>丢失空间信息</a:t>
            </a:r>
          </a:p>
        </p:txBody>
      </p:sp>
      <p:sp>
        <p:nvSpPr>
          <p:cNvPr id="36" name="cell-1-4">
            <a:extLst xmlns:a="http://schemas.openxmlformats.org/drawingml/2006/main">
              <a:ext uri="{FF2B5EF4-FFF2-40B4-BE49-F238E27FC236}">
                <a16:creationId xmlns:a16="http://schemas.microsoft.com/office/drawing/2014/main" id="{BA73A384-E03C-409B-89AC-5449E8671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476625"/>
            <a:ext cx="1524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6E1E9"/>
            </a:solidFill>
            <a:prstDash val="solid"/>
          </a:ln>
        </p:spPr>
      </p:sp>
      <p:sp>
        <p:nvSpPr>
          <p:cNvPr id="37" name="cell-text-1-4">
            <a:extLst xmlns:a="http://schemas.openxmlformats.org/drawingml/2006/main">
              <a:ext uri="{FF2B5EF4-FFF2-40B4-BE49-F238E27FC236}">
                <a16:creationId xmlns:a16="http://schemas.microsoft.com/office/drawing/2014/main" id="{BDC616B5-9D77-478E-A376-69CA500F8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695700"/>
            <a:ext cx="1257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679"/>
                </a:solidFill>
              </a:defRPr>
            </a:pPr>
            <a:r>
              <a:rPr sz="1125" b="0">
                <a:solidFill>
                  <a:srgbClr val="526679"/>
                </a:solidFill>
              </a:rPr>
              <a:t>验证</a:t>
            </a:r>
          </a:p>
        </p:txBody>
      </p:sp>
      <p:sp>
        <p:nvSpPr>
          <p:cNvPr id="38" name="cell-2-0">
            <a:extLst xmlns:a="http://schemas.openxmlformats.org/drawingml/2006/main">
              <a:ext uri="{FF2B5EF4-FFF2-40B4-BE49-F238E27FC236}">
                <a16:creationId xmlns:a16="http://schemas.microsoft.com/office/drawing/2014/main" id="{0F6D255C-8B59-41E2-8DAC-DA4097327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91025"/>
            <a:ext cx="2819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9"/>
            </a:solidFill>
            <a:prstDash val="solid"/>
          </a:ln>
        </p:spPr>
      </p:sp>
      <p:sp>
        <p:nvSpPr>
          <p:cNvPr id="39" name="cell-text-2-0">
            <a:extLst xmlns:a="http://schemas.openxmlformats.org/drawingml/2006/main">
              <a:ext uri="{FF2B5EF4-FFF2-40B4-BE49-F238E27FC236}">
                <a16:creationId xmlns:a16="http://schemas.microsoft.com/office/drawing/2014/main" id="{2AAD410F-FF1A-4AE4-80C1-68D40CBA7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10100"/>
            <a:ext cx="2552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69AA"/>
                </a:solidFill>
              </a:defRPr>
            </a:pPr>
            <a:r>
              <a:rPr sz="1275" b="1">
                <a:solidFill>
                  <a:srgbClr val="1769AA"/>
                </a:solidFill>
              </a:rPr>
              <a:t>显微成像</a:t>
            </a:r>
          </a:p>
        </p:txBody>
      </p:sp>
      <p:sp>
        <p:nvSpPr>
          <p:cNvPr id="40" name="cell-2-1">
            <a:extLst xmlns:a="http://schemas.openxmlformats.org/drawingml/2006/main">
              <a:ext uri="{FF2B5EF4-FFF2-40B4-BE49-F238E27FC236}">
                <a16:creationId xmlns:a16="http://schemas.microsoft.com/office/drawing/2014/main" id="{8092717C-BB8A-4DD9-A60B-0B3469224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391025"/>
            <a:ext cx="22669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9"/>
            </a:solidFill>
            <a:prstDash val="solid"/>
          </a:ln>
        </p:spPr>
      </p:sp>
      <p:sp>
        <p:nvSpPr>
          <p:cNvPr id="41" name="cell-text-2-1">
            <a:extLst xmlns:a="http://schemas.openxmlformats.org/drawingml/2006/main">
              <a:ext uri="{FF2B5EF4-FFF2-40B4-BE49-F238E27FC236}">
                <a16:creationId xmlns:a16="http://schemas.microsoft.com/office/drawing/2014/main" id="{55C6CDC2-44FB-49FF-85BC-8F77C2622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61010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679"/>
                </a:solidFill>
              </a:defRPr>
            </a:pPr>
            <a:r>
              <a:rPr sz="1125" b="0">
                <a:solidFill>
                  <a:srgbClr val="526679"/>
                </a:solidFill>
              </a:rPr>
              <a:t>聚集体定位</a:t>
            </a:r>
          </a:p>
        </p:txBody>
      </p:sp>
      <p:sp>
        <p:nvSpPr>
          <p:cNvPr id="42" name="cell-2-2">
            <a:extLst xmlns:a="http://schemas.openxmlformats.org/drawingml/2006/main">
              <a:ext uri="{FF2B5EF4-FFF2-40B4-BE49-F238E27FC236}">
                <a16:creationId xmlns:a16="http://schemas.microsoft.com/office/drawing/2014/main" id="{AA1A25BE-B13C-43C4-ACAC-195C18849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391025"/>
            <a:ext cx="22669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9"/>
            </a:solidFill>
            <a:prstDash val="solid"/>
          </a:ln>
        </p:spPr>
      </p:sp>
      <p:sp>
        <p:nvSpPr>
          <p:cNvPr id="43" name="cell-text-2-2">
            <a:extLst xmlns:a="http://schemas.openxmlformats.org/drawingml/2006/main">
              <a:ext uri="{FF2B5EF4-FFF2-40B4-BE49-F238E27FC236}">
                <a16:creationId xmlns:a16="http://schemas.microsoft.com/office/drawing/2014/main" id="{4E739696-4EB5-4033-B000-5699C667B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61010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679"/>
                </a:solidFill>
              </a:defRPr>
            </a:pPr>
            <a:r>
              <a:rPr sz="1125" b="0">
                <a:solidFill>
                  <a:srgbClr val="526679"/>
                </a:solidFill>
              </a:rPr>
              <a:t>保留细胞背景</a:t>
            </a:r>
          </a:p>
        </p:txBody>
      </p:sp>
      <p:sp>
        <p:nvSpPr>
          <p:cNvPr id="44" name="cell-2-3">
            <a:extLst xmlns:a="http://schemas.openxmlformats.org/drawingml/2006/main">
              <a:ext uri="{FF2B5EF4-FFF2-40B4-BE49-F238E27FC236}">
                <a16:creationId xmlns:a16="http://schemas.microsoft.com/office/drawing/2014/main" id="{C49D532A-0136-46A4-8199-760098BD6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391025"/>
            <a:ext cx="1943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9"/>
            </a:solidFill>
            <a:prstDash val="solid"/>
          </a:ln>
        </p:spPr>
      </p:sp>
      <p:sp>
        <p:nvSpPr>
          <p:cNvPr id="45" name="cell-text-2-3">
            <a:extLst xmlns:a="http://schemas.openxmlformats.org/drawingml/2006/main">
              <a:ext uri="{FF2B5EF4-FFF2-40B4-BE49-F238E27FC236}">
                <a16:creationId xmlns:a16="http://schemas.microsoft.com/office/drawing/2014/main" id="{DF1CDB36-2592-4433-AF9D-50BD6B028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610100"/>
            <a:ext cx="1676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679"/>
                </a:solidFill>
              </a:defRPr>
            </a:pPr>
            <a:r>
              <a:rPr sz="1125" b="0">
                <a:solidFill>
                  <a:srgbClr val="526679"/>
                </a:solidFill>
              </a:rPr>
              <a:t>依赖抗体与阈值</a:t>
            </a:r>
          </a:p>
        </p:txBody>
      </p:sp>
      <p:sp>
        <p:nvSpPr>
          <p:cNvPr id="46" name="cell-2-4">
            <a:extLst xmlns:a="http://schemas.openxmlformats.org/drawingml/2006/main">
              <a:ext uri="{FF2B5EF4-FFF2-40B4-BE49-F238E27FC236}">
                <a16:creationId xmlns:a16="http://schemas.microsoft.com/office/drawing/2014/main" id="{C41988A6-B875-4EC5-BD81-A860B5315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4391025"/>
            <a:ext cx="1524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9"/>
            </a:solidFill>
            <a:prstDash val="solid"/>
          </a:ln>
        </p:spPr>
      </p:sp>
      <p:sp>
        <p:nvSpPr>
          <p:cNvPr id="47" name="cell-text-2-4">
            <a:extLst xmlns:a="http://schemas.openxmlformats.org/drawingml/2006/main">
              <a:ext uri="{FF2B5EF4-FFF2-40B4-BE49-F238E27FC236}">
                <a16:creationId xmlns:a16="http://schemas.microsoft.com/office/drawing/2014/main" id="{8A4EA6D4-D98F-47ED-BF23-93AB1AA81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4610100"/>
            <a:ext cx="1257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679"/>
                </a:solidFill>
              </a:defRPr>
            </a:pPr>
            <a:r>
              <a:rPr sz="1125" b="0">
                <a:solidFill>
                  <a:srgbClr val="526679"/>
                </a:solidFill>
              </a:rPr>
              <a:t>定位</a:t>
            </a:r>
          </a:p>
        </p:txBody>
      </p:sp>
    </p:spTree>
    <p:extLst>
      <p:ext uri="{BB962C8B-B14F-4D97-AF65-F5344CB8AC3E}">
        <p14:creationId xmlns:p14="http://schemas.microsoft.com/office/powerpoint/2010/main" val="207720214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top-rule">
            <a:extLst xmlns:a="http://schemas.openxmlformats.org/drawingml/2006/main">
              <a:ext uri="{FF2B5EF4-FFF2-40B4-BE49-F238E27FC236}">
                <a16:creationId xmlns:a16="http://schemas.microsoft.com/office/drawing/2014/main" id="{91AC2102-E7A6-47ED-ACD7-0972702B2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76EC3AEC-DDA9-4B29-B4EB-B937D811E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769AA"/>
                </a:solidFill>
              </a:defRPr>
            </a:pPr>
            <a:r>
              <a:rPr sz="1050" b="1">
                <a:solidFill>
                  <a:srgbClr val="1769AA"/>
                </a:solidFill>
              </a:rPr>
              <a:t>证据链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693A0B8-AF36-4465-B1F5-F50C585B0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52475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7324D"/>
                </a:solidFill>
              </a:defRPr>
            </a:pPr>
            <a:r>
              <a:rPr sz="2925" b="1">
                <a:solidFill>
                  <a:srgbClr val="17324D"/>
                </a:solidFill>
              </a:rPr>
              <a:t>可靠结论来自多层证据的相互印证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28CE344-2B74-419D-8B1D-91613F9EF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8286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769AA"/>
                </a:solidFill>
              </a:defRPr>
            </a:pPr>
            <a:r>
              <a:rPr sz="1200" b="1">
                <a:solidFill>
                  <a:srgbClr val="1769AA"/>
                </a:solidFill>
              </a:rPr>
              <a:t>06</a:t>
            </a:r>
          </a:p>
        </p:txBody>
      </p:sp>
      <p:sp>
        <p:nvSpPr>
          <p:cNvPr id="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1E269C76-4668-4769-B8D7-760D78F75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1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-left">
            <a:extLst xmlns:a="http://schemas.openxmlformats.org/drawingml/2006/main">
              <a:ext uri="{FF2B5EF4-FFF2-40B4-BE49-F238E27FC236}">
                <a16:creationId xmlns:a16="http://schemas.microsoft.com/office/drawing/2014/main" id="{E3C75C9E-9BB8-431B-A204-6A54B2D3E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388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7A8996"/>
                </a:solidFill>
              </a:defRPr>
            </a:pPr>
            <a:r>
              <a:rPr sz="825">
                <a:solidFill>
                  <a:srgbClr val="7A8996"/>
                </a:solidFill>
              </a:rPr>
              <a:t>综述型组会 · 示例版式</a:t>
            </a:r>
          </a:p>
        </p:txBody>
      </p:sp>
      <p:sp>
        <p:nvSpPr>
          <p:cNvPr id="7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0A46C2AD-502D-4319-BA80-8629CFFA4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64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7A8996"/>
                </a:solidFill>
              </a:defRPr>
            </a:pPr>
            <a:r>
              <a:rPr sz="825">
                <a:solidFill>
                  <a:srgbClr val="7A8996"/>
                </a:solidFill>
              </a:rPr>
              <a:t>A · 临床蓝</a:t>
            </a:r>
          </a:p>
        </p:txBody>
      </p:sp>
      <p:sp>
        <p:nvSpPr>
          <p:cNvPr id="8" name="workflow-arrow-0">
            <a:extLst xmlns:a="http://schemas.openxmlformats.org/drawingml/2006/main">
              <a:ext uri="{FF2B5EF4-FFF2-40B4-BE49-F238E27FC236}">
                <a16:creationId xmlns:a16="http://schemas.microsoft.com/office/drawing/2014/main" id="{9CE55A88-7A87-4741-A57A-4E31731D1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476625"/>
            <a:ext cx="11620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3A9D0"/>
            </a:solidFill>
            <a:prstDash val="solid"/>
          </a:ln>
        </p:spPr>
      </p:sp>
      <p:sp>
        <p:nvSpPr>
          <p:cNvPr id="9" name="workflow-arrow-1">
            <a:extLst xmlns:a="http://schemas.openxmlformats.org/drawingml/2006/main">
              <a:ext uri="{FF2B5EF4-FFF2-40B4-BE49-F238E27FC236}">
                <a16:creationId xmlns:a16="http://schemas.microsoft.com/office/drawing/2014/main" id="{B59D9D8F-5795-4935-872F-0146B2C99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476625"/>
            <a:ext cx="11620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3A9D0"/>
            </a:solidFill>
            <a:prstDash val="solid"/>
          </a:ln>
        </p:spPr>
      </p:sp>
      <p:sp>
        <p:nvSpPr>
          <p:cNvPr id="10" name="workflow-arrow-2">
            <a:extLst xmlns:a="http://schemas.openxmlformats.org/drawingml/2006/main">
              <a:ext uri="{FF2B5EF4-FFF2-40B4-BE49-F238E27FC236}">
                <a16:creationId xmlns:a16="http://schemas.microsoft.com/office/drawing/2014/main" id="{5367CEB9-1E78-48CD-9DD7-1218F41B8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476625"/>
            <a:ext cx="11620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3A9D0"/>
            </a:solidFill>
            <a:prstDash val="solid"/>
          </a:ln>
        </p:spPr>
      </p:sp>
      <p:sp>
        <p:nvSpPr>
          <p:cNvPr id="11" name="step-circle-0">
            <a:extLst xmlns:a="http://schemas.openxmlformats.org/drawingml/2006/main">
              <a:ext uri="{FF2B5EF4-FFF2-40B4-BE49-F238E27FC236}">
                <a16:creationId xmlns:a16="http://schemas.microsoft.com/office/drawing/2014/main" id="{04433C4B-2834-4552-8720-65B798BE7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809875"/>
            <a:ext cx="1047750" cy="1047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6E1E9"/>
            </a:solidFill>
            <a:prstDash val="solid"/>
          </a:ln>
        </p:spPr>
      </p:sp>
      <p:sp>
        <p:nvSpPr>
          <p:cNvPr id="12" name="step-num-0">
            <a:extLst xmlns:a="http://schemas.openxmlformats.org/drawingml/2006/main">
              <a:ext uri="{FF2B5EF4-FFF2-40B4-BE49-F238E27FC236}">
                <a16:creationId xmlns:a16="http://schemas.microsoft.com/office/drawing/2014/main" id="{5205B118-E2C1-4D97-9DE4-8EE51DAF0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31051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69AA"/>
                </a:solidFill>
              </a:defRPr>
            </a:pPr>
            <a:r>
              <a:rPr sz="1650" b="1">
                <a:solidFill>
                  <a:srgbClr val="1769AA"/>
                </a:solidFill>
              </a:rPr>
              <a:t>01</a:t>
            </a:r>
          </a:p>
        </p:txBody>
      </p:sp>
      <p:sp>
        <p:nvSpPr>
          <p:cNvPr id="13" name="step-title-0">
            <a:extLst xmlns:a="http://schemas.openxmlformats.org/drawingml/2006/main">
              <a:ext uri="{FF2B5EF4-FFF2-40B4-BE49-F238E27FC236}">
                <a16:creationId xmlns:a16="http://schemas.microsoft.com/office/drawing/2014/main" id="{CD6CF479-2C47-4749-A71A-CA17A6FF5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71950"/>
            <a:ext cx="1866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初筛</a:t>
            </a:r>
          </a:p>
        </p:txBody>
      </p:sp>
      <p:sp>
        <p:nvSpPr>
          <p:cNvPr id="14" name="step-body-0">
            <a:extLst xmlns:a="http://schemas.openxmlformats.org/drawingml/2006/main">
              <a:ext uri="{FF2B5EF4-FFF2-40B4-BE49-F238E27FC236}">
                <a16:creationId xmlns:a16="http://schemas.microsoft.com/office/drawing/2014/main" id="{32A3A959-D2B0-4A34-91B3-750E8408A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38675"/>
            <a:ext cx="1866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526679"/>
                </a:solidFill>
              </a:defRPr>
            </a:pPr>
            <a:r>
              <a:rPr sz="1125">
                <a:solidFill>
                  <a:srgbClr val="526679"/>
                </a:solidFill>
              </a:rPr>
              <a:t>探针或高通量读出</a:t>
            </a:r>
          </a:p>
        </p:txBody>
      </p:sp>
      <p:sp>
        <p:nvSpPr>
          <p:cNvPr id="15" name="step-circle-1">
            <a:extLst xmlns:a="http://schemas.openxmlformats.org/drawingml/2006/main">
              <a:ext uri="{FF2B5EF4-FFF2-40B4-BE49-F238E27FC236}">
                <a16:creationId xmlns:a16="http://schemas.microsoft.com/office/drawing/2014/main" id="{948A27C7-0246-406F-B5EB-CC46AB1C6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809875"/>
            <a:ext cx="1047750" cy="1047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6E1E9"/>
            </a:solidFill>
            <a:prstDash val="solid"/>
          </a:ln>
        </p:spPr>
      </p:sp>
      <p:sp>
        <p:nvSpPr>
          <p:cNvPr id="16" name="step-num-1">
            <a:extLst xmlns:a="http://schemas.openxmlformats.org/drawingml/2006/main">
              <a:ext uri="{FF2B5EF4-FFF2-40B4-BE49-F238E27FC236}">
                <a16:creationId xmlns:a16="http://schemas.microsoft.com/office/drawing/2014/main" id="{525176BA-D024-47AF-990E-D34284EAE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31051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69AA"/>
                </a:solidFill>
              </a:defRPr>
            </a:pPr>
            <a:r>
              <a:rPr sz="1650" b="1">
                <a:solidFill>
                  <a:srgbClr val="1769AA"/>
                </a:solidFill>
              </a:rPr>
              <a:t>02</a:t>
            </a:r>
          </a:p>
        </p:txBody>
      </p:sp>
      <p:sp>
        <p:nvSpPr>
          <p:cNvPr id="17" name="step-title-1">
            <a:extLst xmlns:a="http://schemas.openxmlformats.org/drawingml/2006/main">
              <a:ext uri="{FF2B5EF4-FFF2-40B4-BE49-F238E27FC236}">
                <a16:creationId xmlns:a16="http://schemas.microsoft.com/office/drawing/2014/main" id="{BE072A98-FD3F-413D-BE40-A47E37F3A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171950"/>
            <a:ext cx="1866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定位</a:t>
            </a:r>
          </a:p>
        </p:txBody>
      </p:sp>
      <p:sp>
        <p:nvSpPr>
          <p:cNvPr id="18" name="step-body-1">
            <a:extLst xmlns:a="http://schemas.openxmlformats.org/drawingml/2006/main">
              <a:ext uri="{FF2B5EF4-FFF2-40B4-BE49-F238E27FC236}">
                <a16:creationId xmlns:a16="http://schemas.microsoft.com/office/drawing/2014/main" id="{9E900882-59F6-4408-A244-D535C85DE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638675"/>
            <a:ext cx="1866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526679"/>
                </a:solidFill>
              </a:defRPr>
            </a:pPr>
            <a:r>
              <a:rPr sz="1125">
                <a:solidFill>
                  <a:srgbClr val="526679"/>
                </a:solidFill>
              </a:rPr>
              <a:t>确认异常发生的位置</a:t>
            </a:r>
          </a:p>
        </p:txBody>
      </p:sp>
      <p:sp>
        <p:nvSpPr>
          <p:cNvPr id="19" name="step-circle-2">
            <a:extLst xmlns:a="http://schemas.openxmlformats.org/drawingml/2006/main">
              <a:ext uri="{FF2B5EF4-FFF2-40B4-BE49-F238E27FC236}">
                <a16:creationId xmlns:a16="http://schemas.microsoft.com/office/drawing/2014/main" id="{6C972DC3-741C-4435-9269-F76D126FA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809875"/>
            <a:ext cx="1047750" cy="1047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9525">
            <a:solidFill>
              <a:srgbClr val="D6E1E9"/>
            </a:solidFill>
            <a:prstDash val="solid"/>
          </a:ln>
        </p:spPr>
      </p:sp>
      <p:sp>
        <p:nvSpPr>
          <p:cNvPr id="20" name="step-num-2">
            <a:extLst xmlns:a="http://schemas.openxmlformats.org/drawingml/2006/main">
              <a:ext uri="{FF2B5EF4-FFF2-40B4-BE49-F238E27FC236}">
                <a16:creationId xmlns:a16="http://schemas.microsoft.com/office/drawing/2014/main" id="{E2727054-B0EE-46E7-BECB-163E8A9CD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31051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1" name="step-title-2">
            <a:extLst xmlns:a="http://schemas.openxmlformats.org/drawingml/2006/main">
              <a:ext uri="{FF2B5EF4-FFF2-40B4-BE49-F238E27FC236}">
                <a16:creationId xmlns:a16="http://schemas.microsoft.com/office/drawing/2014/main" id="{5476AEE3-FB71-4D97-BF14-000B86EAA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171950"/>
            <a:ext cx="1866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验证</a:t>
            </a:r>
          </a:p>
        </p:txBody>
      </p:sp>
      <p:sp>
        <p:nvSpPr>
          <p:cNvPr id="22" name="step-body-2">
            <a:extLst xmlns:a="http://schemas.openxmlformats.org/drawingml/2006/main">
              <a:ext uri="{FF2B5EF4-FFF2-40B4-BE49-F238E27FC236}">
                <a16:creationId xmlns:a16="http://schemas.microsoft.com/office/drawing/2014/main" id="{0FB57293-C066-47EC-9511-7CA584022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638675"/>
            <a:ext cx="1866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526679"/>
                </a:solidFill>
              </a:defRPr>
            </a:pPr>
            <a:r>
              <a:rPr sz="1125">
                <a:solidFill>
                  <a:srgbClr val="526679"/>
                </a:solidFill>
              </a:rPr>
              <a:t>生化分级或构象证据</a:t>
            </a:r>
          </a:p>
        </p:txBody>
      </p:sp>
      <p:sp>
        <p:nvSpPr>
          <p:cNvPr id="23" name="step-circle-3">
            <a:extLst xmlns:a="http://schemas.openxmlformats.org/drawingml/2006/main">
              <a:ext uri="{FF2B5EF4-FFF2-40B4-BE49-F238E27FC236}">
                <a16:creationId xmlns:a16="http://schemas.microsoft.com/office/drawing/2014/main" id="{5617EDD8-D0A4-44DD-B9C3-25347E509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2809875"/>
            <a:ext cx="1047750" cy="1047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6E1E9"/>
            </a:solidFill>
            <a:prstDash val="solid"/>
          </a:ln>
        </p:spPr>
      </p:sp>
      <p:sp>
        <p:nvSpPr>
          <p:cNvPr id="24" name="step-num-3">
            <a:extLst xmlns:a="http://schemas.openxmlformats.org/drawingml/2006/main">
              <a:ext uri="{FF2B5EF4-FFF2-40B4-BE49-F238E27FC236}">
                <a16:creationId xmlns:a16="http://schemas.microsoft.com/office/drawing/2014/main" id="{8C1EEB92-7D8F-4501-B09D-BCF39B53B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1051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69AA"/>
                </a:solidFill>
              </a:defRPr>
            </a:pPr>
            <a:r>
              <a:rPr sz="1650" b="1">
                <a:solidFill>
                  <a:srgbClr val="1769AA"/>
                </a:solidFill>
              </a:rPr>
              <a:t>04</a:t>
            </a:r>
          </a:p>
        </p:txBody>
      </p:sp>
      <p:sp>
        <p:nvSpPr>
          <p:cNvPr id="25" name="step-title-3">
            <a:extLst xmlns:a="http://schemas.openxmlformats.org/drawingml/2006/main">
              <a:ext uri="{FF2B5EF4-FFF2-40B4-BE49-F238E27FC236}">
                <a16:creationId xmlns:a16="http://schemas.microsoft.com/office/drawing/2014/main" id="{B97E1881-3580-4DFC-8991-E589F1D6A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171950"/>
            <a:ext cx="1866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解释</a:t>
            </a:r>
          </a:p>
        </p:txBody>
      </p:sp>
      <p:sp>
        <p:nvSpPr>
          <p:cNvPr id="26" name="step-body-3">
            <a:extLst xmlns:a="http://schemas.openxmlformats.org/drawingml/2006/main">
              <a:ext uri="{FF2B5EF4-FFF2-40B4-BE49-F238E27FC236}">
                <a16:creationId xmlns:a16="http://schemas.microsoft.com/office/drawing/2014/main" id="{7CFE1003-138B-4DAC-88DA-FB438DA0B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638675"/>
            <a:ext cx="1866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526679"/>
                </a:solidFill>
              </a:defRPr>
            </a:pPr>
            <a:r>
              <a:rPr sz="1125">
                <a:solidFill>
                  <a:srgbClr val="526679"/>
                </a:solidFill>
              </a:rPr>
              <a:t>联系细胞功能与表型</a:t>
            </a:r>
          </a:p>
        </p:txBody>
      </p:sp>
    </p:spTree>
    <p:extLst>
      <p:ext uri="{BB962C8B-B14F-4D97-AF65-F5344CB8AC3E}">
        <p14:creationId xmlns:p14="http://schemas.microsoft.com/office/powerpoint/2010/main" val="80505398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op-rule">
            <a:extLst xmlns:a="http://schemas.openxmlformats.org/drawingml/2006/main">
              <a:ext uri="{FF2B5EF4-FFF2-40B4-BE49-F238E27FC236}">
                <a16:creationId xmlns:a16="http://schemas.microsoft.com/office/drawing/2014/main" id="{0016C515-48D1-4E8C-B983-001E2ECD8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0CC5FB69-E475-4C58-8A84-A2B4E5088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769AA"/>
                </a:solidFill>
              </a:defRPr>
            </a:pPr>
            <a:r>
              <a:rPr sz="1050" b="1">
                <a:solidFill>
                  <a:srgbClr val="1769AA"/>
                </a:solidFill>
              </a:rPr>
              <a:t>总结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CA35C96-5B4B-42DE-9F1D-3177EFD4C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52475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7324D"/>
                </a:solidFill>
              </a:defRPr>
            </a:pPr>
            <a:r>
              <a:rPr sz="2925" b="1">
                <a:solidFill>
                  <a:srgbClr val="17324D"/>
                </a:solidFill>
              </a:rPr>
              <a:t>结论：先明确对象，再组合互补方法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281213C-4AFD-4BC7-AA40-945E9A294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8286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769AA"/>
                </a:solidFill>
              </a:defRPr>
            </a:pPr>
            <a:r>
              <a:rPr sz="1200" b="1">
                <a:solidFill>
                  <a:srgbClr val="1769AA"/>
                </a:solidFill>
              </a:rPr>
              <a:t>07</a:t>
            </a:r>
          </a:p>
        </p:txBody>
      </p:sp>
      <p:sp>
        <p:nvSpPr>
          <p:cNvPr id="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FDDBA98B-2730-475B-AD41-CF1F4AF9F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1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-left">
            <a:extLst xmlns:a="http://schemas.openxmlformats.org/drawingml/2006/main">
              <a:ext uri="{FF2B5EF4-FFF2-40B4-BE49-F238E27FC236}">
                <a16:creationId xmlns:a16="http://schemas.microsoft.com/office/drawing/2014/main" id="{A256FEBE-226F-4D0A-8A61-E8F764FA0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388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7A8996"/>
                </a:solidFill>
              </a:defRPr>
            </a:pPr>
            <a:r>
              <a:rPr sz="825">
                <a:solidFill>
                  <a:srgbClr val="7A8996"/>
                </a:solidFill>
              </a:rPr>
              <a:t>综述型组会 · 示例版式</a:t>
            </a:r>
          </a:p>
        </p:txBody>
      </p:sp>
      <p:sp>
        <p:nvSpPr>
          <p:cNvPr id="7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07D285C3-2CE0-4741-A623-70F961FCB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64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7A8996"/>
                </a:solidFill>
              </a:defRPr>
            </a:pPr>
            <a:r>
              <a:rPr sz="825">
                <a:solidFill>
                  <a:srgbClr val="7A8996"/>
                </a:solidFill>
              </a:rPr>
              <a:t>A · 临床蓝</a:t>
            </a:r>
          </a:p>
        </p:txBody>
      </p:sp>
      <p:sp>
        <p:nvSpPr>
          <p:cNvPr id="8" name="summary-mark-0">
            <a:extLst xmlns:a="http://schemas.openxmlformats.org/drawingml/2006/main">
              <a:ext uri="{FF2B5EF4-FFF2-40B4-BE49-F238E27FC236}">
                <a16:creationId xmlns:a16="http://schemas.microsoft.com/office/drawing/2014/main" id="{AF98D015-69A5-4706-BFE3-4D582DBBF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A9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ummary-title-0">
            <a:extLst xmlns:a="http://schemas.openxmlformats.org/drawingml/2006/main">
              <a:ext uri="{FF2B5EF4-FFF2-40B4-BE49-F238E27FC236}">
                <a16:creationId xmlns:a16="http://schemas.microsoft.com/office/drawing/2014/main" id="{8A0F9995-4228-4307-AE49-541E1EC62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0002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检测对象</a:t>
            </a:r>
          </a:p>
        </p:txBody>
      </p:sp>
      <p:sp>
        <p:nvSpPr>
          <p:cNvPr id="10" name="summary-body-0">
            <a:extLst xmlns:a="http://schemas.openxmlformats.org/drawingml/2006/main">
              <a:ext uri="{FF2B5EF4-FFF2-40B4-BE49-F238E27FC236}">
                <a16:creationId xmlns:a16="http://schemas.microsoft.com/office/drawing/2014/main" id="{F19046E6-57B2-4973-88FC-36E402CC4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00250"/>
            <a:ext cx="714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26679"/>
                </a:solidFill>
              </a:defRPr>
            </a:pPr>
            <a:r>
              <a:rPr sz="1575">
                <a:solidFill>
                  <a:srgbClr val="526679"/>
                </a:solidFill>
              </a:rPr>
              <a:t>区分构象变化、聚集体、定位和细胞反应</a:t>
            </a:r>
          </a:p>
        </p:txBody>
      </p:sp>
      <p:sp>
        <p:nvSpPr>
          <p:cNvPr id="11" name="summary-mark-1">
            <a:extLst xmlns:a="http://schemas.openxmlformats.org/drawingml/2006/main">
              <a:ext uri="{FF2B5EF4-FFF2-40B4-BE49-F238E27FC236}">
                <a16:creationId xmlns:a16="http://schemas.microsoft.com/office/drawing/2014/main" id="{70E7F8C6-CDB0-4D4F-8F18-1EA30F485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ummary-title-1">
            <a:extLst xmlns:a="http://schemas.openxmlformats.org/drawingml/2006/main">
              <a:ext uri="{FF2B5EF4-FFF2-40B4-BE49-F238E27FC236}">
                <a16:creationId xmlns:a16="http://schemas.microsoft.com/office/drawing/2014/main" id="{536C4E1E-4D32-453F-A042-1BD2D33B4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12420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证据强度</a:t>
            </a:r>
          </a:p>
        </p:txBody>
      </p:sp>
      <p:sp>
        <p:nvSpPr>
          <p:cNvPr id="13" name="summary-body-1">
            <a:extLst xmlns:a="http://schemas.openxmlformats.org/drawingml/2006/main">
              <a:ext uri="{FF2B5EF4-FFF2-40B4-BE49-F238E27FC236}">
                <a16:creationId xmlns:a16="http://schemas.microsoft.com/office/drawing/2014/main" id="{CD3FA4A7-6A04-4806-8744-DE8A60637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24200"/>
            <a:ext cx="714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26679"/>
                </a:solidFill>
              </a:defRPr>
            </a:pPr>
            <a:r>
              <a:rPr sz="1575">
                <a:solidFill>
                  <a:srgbClr val="526679"/>
                </a:solidFill>
              </a:rPr>
              <a:t>单一信号用于提示，正交方法用于验证</a:t>
            </a:r>
          </a:p>
        </p:txBody>
      </p:sp>
      <p:sp>
        <p:nvSpPr>
          <p:cNvPr id="14" name="summary-mark-2">
            <a:extLst xmlns:a="http://schemas.openxmlformats.org/drawingml/2006/main">
              <a:ext uri="{FF2B5EF4-FFF2-40B4-BE49-F238E27FC236}">
                <a16:creationId xmlns:a16="http://schemas.microsoft.com/office/drawing/2014/main" id="{DFC6262F-6D32-4BF9-A693-8E33B1061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67200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A9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ummary-title-2">
            <a:extLst xmlns:a="http://schemas.openxmlformats.org/drawingml/2006/main">
              <a:ext uri="{FF2B5EF4-FFF2-40B4-BE49-F238E27FC236}">
                <a16:creationId xmlns:a16="http://schemas.microsoft.com/office/drawing/2014/main" id="{EA7710A2-76D8-40A3-876E-531C31973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481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实验选择</a:t>
            </a:r>
          </a:p>
        </p:txBody>
      </p:sp>
      <p:sp>
        <p:nvSpPr>
          <p:cNvPr id="16" name="summary-body-2">
            <a:extLst xmlns:a="http://schemas.openxmlformats.org/drawingml/2006/main">
              <a:ext uri="{FF2B5EF4-FFF2-40B4-BE49-F238E27FC236}">
                <a16:creationId xmlns:a16="http://schemas.microsoft.com/office/drawing/2014/main" id="{B15BA633-37CF-425E-A2AA-3907D934E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248150"/>
            <a:ext cx="714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26679"/>
                </a:solidFill>
              </a:defRPr>
            </a:pPr>
            <a:r>
              <a:rPr sz="1575">
                <a:solidFill>
                  <a:srgbClr val="526679"/>
                </a:solidFill>
              </a:rPr>
              <a:t>根据样本、尺度和研究问题组合方法</a:t>
            </a:r>
          </a:p>
        </p:txBody>
      </p:sp>
      <p:sp>
        <p:nvSpPr>
          <p:cNvPr id="17" name="closing">
            <a:extLst xmlns:a="http://schemas.openxmlformats.org/drawingml/2006/main">
              <a:ext uri="{FF2B5EF4-FFF2-40B4-BE49-F238E27FC236}">
                <a16:creationId xmlns:a16="http://schemas.microsoft.com/office/drawing/2014/main" id="{61D2614A-4914-43E6-95AF-FD649A131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57800"/>
            <a:ext cx="10439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6E1E9"/>
            </a:solidFill>
            <a:prstDash val="solid"/>
          </a:ln>
        </p:spPr>
      </p:sp>
      <p:sp>
        <p:nvSpPr>
          <p:cNvPr id="18" name="closing-text">
            <a:extLst xmlns:a="http://schemas.openxmlformats.org/drawingml/2006/main">
              <a:ext uri="{FF2B5EF4-FFF2-40B4-BE49-F238E27FC236}">
                <a16:creationId xmlns:a16="http://schemas.microsoft.com/office/drawing/2014/main" id="{B03DF677-C0BB-4451-8242-648761CA1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419725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69AA"/>
                </a:solidFill>
              </a:defRPr>
            </a:pPr>
            <a:r>
              <a:rPr sz="1425" b="1">
                <a:solidFill>
                  <a:srgbClr val="1769AA"/>
                </a:solidFill>
              </a:rPr>
              <a:t>下一步：用与研究问题匹配的证据组合，减少过度解释。</a:t>
            </a:r>
          </a:p>
        </p:txBody>
      </p:sp>
    </p:spTree>
    <p:extLst>
      <p:ext uri="{BB962C8B-B14F-4D97-AF65-F5344CB8AC3E}">
        <p14:creationId xmlns:p14="http://schemas.microsoft.com/office/powerpoint/2010/main" val="211577838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op-rule">
            <a:extLst xmlns:a="http://schemas.openxmlformats.org/drawingml/2006/main">
              <a:ext uri="{FF2B5EF4-FFF2-40B4-BE49-F238E27FC236}">
                <a16:creationId xmlns:a16="http://schemas.microsoft.com/office/drawing/2014/main" id="{541AAF92-ED15-41C8-95A8-F5ED811CA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1DE3EF01-B26D-4B46-8358-66878FDE9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769AA"/>
                </a:solidFill>
              </a:defRPr>
            </a:pPr>
            <a:r>
              <a:rPr sz="1050" b="1">
                <a:solidFill>
                  <a:srgbClr val="1769AA"/>
                </a:solidFill>
              </a:rPr>
              <a:t>BACKUP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B1989DF-87F1-419A-A53A-30F8E819B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52475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7324D"/>
                </a:solidFill>
              </a:defRPr>
            </a:pPr>
            <a:r>
              <a:rPr sz="2925" b="1">
                <a:solidFill>
                  <a:srgbClr val="17324D"/>
                </a:solidFill>
              </a:rPr>
              <a:t>备用页：关键参数与对照设置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C2DB3BD-AED6-4991-882B-2285F2B7D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8286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769AA"/>
                </a:solidFill>
              </a:defRPr>
            </a:pPr>
            <a:r>
              <a:rPr sz="1200" b="1">
                <a:solidFill>
                  <a:srgbClr val="1769AA"/>
                </a:solidFill>
              </a:rPr>
              <a:t>08</a:t>
            </a:r>
          </a:p>
        </p:txBody>
      </p:sp>
      <p:sp>
        <p:nvSpPr>
          <p:cNvPr id="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416B4C6-3C12-4DD0-9FA9-F9109ED98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1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-left">
            <a:extLst xmlns:a="http://schemas.openxmlformats.org/drawingml/2006/main">
              <a:ext uri="{FF2B5EF4-FFF2-40B4-BE49-F238E27FC236}">
                <a16:creationId xmlns:a16="http://schemas.microsoft.com/office/drawing/2014/main" id="{D1F661E9-3E00-46DE-B61D-084FA64BB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388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7A8996"/>
                </a:solidFill>
              </a:defRPr>
            </a:pPr>
            <a:r>
              <a:rPr sz="825">
                <a:solidFill>
                  <a:srgbClr val="7A8996"/>
                </a:solidFill>
              </a:rPr>
              <a:t>综述型组会 · 示例版式</a:t>
            </a:r>
          </a:p>
        </p:txBody>
      </p:sp>
      <p:sp>
        <p:nvSpPr>
          <p:cNvPr id="7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A3D39B9E-70E1-4C04-8E06-701A797C5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64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7A8996"/>
                </a:solidFill>
              </a:defRPr>
            </a:pPr>
            <a:r>
              <a:rPr sz="825">
                <a:solidFill>
                  <a:srgbClr val="7A8996"/>
                </a:solidFill>
              </a:rPr>
              <a:t>A · 临床蓝</a:t>
            </a:r>
          </a:p>
        </p:txBody>
      </p:sp>
      <p:sp>
        <p:nvSpPr>
          <p:cNvPr id="8" name="backup-tag">
            <a:extLst xmlns:a="http://schemas.openxmlformats.org/drawingml/2006/main">
              <a:ext uri="{FF2B5EF4-FFF2-40B4-BE49-F238E27FC236}">
                <a16:creationId xmlns:a16="http://schemas.microsoft.com/office/drawing/2014/main" id="{0CB1C442-D3E2-4DFA-965D-86603C03E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428750"/>
            <a:ext cx="1981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backup-tag-text">
            <a:extLst xmlns:a="http://schemas.openxmlformats.org/drawingml/2006/main">
              <a:ext uri="{FF2B5EF4-FFF2-40B4-BE49-F238E27FC236}">
                <a16:creationId xmlns:a16="http://schemas.microsoft.com/office/drawing/2014/main" id="{45700DAA-7C69-4B14-ACCB-C2615C2A8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524000"/>
            <a:ext cx="1790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备用页 · 不计入主汇报</a:t>
            </a:r>
          </a:p>
        </p:txBody>
      </p:sp>
      <p:sp>
        <p:nvSpPr>
          <p:cNvPr id="10" name="backup-field-0">
            <a:extLst xmlns:a="http://schemas.openxmlformats.org/drawingml/2006/main">
              <a:ext uri="{FF2B5EF4-FFF2-40B4-BE49-F238E27FC236}">
                <a16:creationId xmlns:a16="http://schemas.microsoft.com/office/drawing/2014/main" id="{DFBDA914-E32D-41FD-9C7E-B170B7AA5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50482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9"/>
            </a:solidFill>
            <a:prstDash val="solid"/>
          </a:ln>
        </p:spPr>
      </p:sp>
      <p:sp>
        <p:nvSpPr>
          <p:cNvPr id="11" name="backup-title-0">
            <a:extLst xmlns:a="http://schemas.openxmlformats.org/drawingml/2006/main">
              <a:ext uri="{FF2B5EF4-FFF2-40B4-BE49-F238E27FC236}">
                <a16:creationId xmlns:a16="http://schemas.microsoft.com/office/drawing/2014/main" id="{0E7BB67E-9AAC-4490-B0D8-7BF5303A2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9077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阳性对照</a:t>
            </a:r>
          </a:p>
        </p:txBody>
      </p:sp>
      <p:sp>
        <p:nvSpPr>
          <p:cNvPr id="12" name="backup-body-0">
            <a:extLst xmlns:a="http://schemas.openxmlformats.org/drawingml/2006/main">
              <a:ext uri="{FF2B5EF4-FFF2-40B4-BE49-F238E27FC236}">
                <a16:creationId xmlns:a16="http://schemas.microsoft.com/office/drawing/2014/main" id="{E6013A24-E684-4221-8EF3-2451648E3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28925"/>
            <a:ext cx="4343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26679"/>
                </a:solidFill>
              </a:defRPr>
            </a:pPr>
            <a:r>
              <a:rPr sz="1200">
                <a:solidFill>
                  <a:srgbClr val="526679"/>
                </a:solidFill>
              </a:rPr>
              <a:t>已知可形成目标构象或聚集状态的样本</a:t>
            </a:r>
          </a:p>
        </p:txBody>
      </p:sp>
      <p:sp>
        <p:nvSpPr>
          <p:cNvPr id="13" name="backup-field-1">
            <a:extLst xmlns:a="http://schemas.openxmlformats.org/drawingml/2006/main">
              <a:ext uri="{FF2B5EF4-FFF2-40B4-BE49-F238E27FC236}">
                <a16:creationId xmlns:a16="http://schemas.microsoft.com/office/drawing/2014/main" id="{DF07EAF8-F752-42D0-B21A-850307A8E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33600"/>
            <a:ext cx="50482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9"/>
            </a:solidFill>
            <a:prstDash val="solid"/>
          </a:ln>
        </p:spPr>
      </p:sp>
      <p:sp>
        <p:nvSpPr>
          <p:cNvPr id="14" name="backup-title-1">
            <a:extLst xmlns:a="http://schemas.openxmlformats.org/drawingml/2006/main">
              <a:ext uri="{FF2B5EF4-FFF2-40B4-BE49-F238E27FC236}">
                <a16:creationId xmlns:a16="http://schemas.microsoft.com/office/drawing/2014/main" id="{52EC7644-0A52-454D-A8FE-1EE2F44AA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9077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阴性对照</a:t>
            </a:r>
          </a:p>
        </p:txBody>
      </p:sp>
      <p:sp>
        <p:nvSpPr>
          <p:cNvPr id="15" name="backup-body-1">
            <a:extLst xmlns:a="http://schemas.openxmlformats.org/drawingml/2006/main">
              <a:ext uri="{FF2B5EF4-FFF2-40B4-BE49-F238E27FC236}">
                <a16:creationId xmlns:a16="http://schemas.microsoft.com/office/drawing/2014/main" id="{1F765F96-B6D9-4A0F-9789-3A2EE76EA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28925"/>
            <a:ext cx="4343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26679"/>
                </a:solidFill>
              </a:defRPr>
            </a:pPr>
            <a:r>
              <a:rPr sz="1200">
                <a:solidFill>
                  <a:srgbClr val="526679"/>
                </a:solidFill>
              </a:rPr>
              <a:t>结构相近但不发生目标变化的样本</a:t>
            </a:r>
          </a:p>
        </p:txBody>
      </p:sp>
      <p:sp>
        <p:nvSpPr>
          <p:cNvPr id="16" name="backup-field-2">
            <a:extLst xmlns:a="http://schemas.openxmlformats.org/drawingml/2006/main">
              <a:ext uri="{FF2B5EF4-FFF2-40B4-BE49-F238E27FC236}">
                <a16:creationId xmlns:a16="http://schemas.microsoft.com/office/drawing/2014/main" id="{E5DA65F8-0077-4F52-A36A-08EE7650E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50482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9"/>
            </a:solidFill>
            <a:prstDash val="solid"/>
          </a:ln>
        </p:spPr>
      </p:sp>
      <p:sp>
        <p:nvSpPr>
          <p:cNvPr id="17" name="backup-title-2">
            <a:extLst xmlns:a="http://schemas.openxmlformats.org/drawingml/2006/main">
              <a:ext uri="{FF2B5EF4-FFF2-40B4-BE49-F238E27FC236}">
                <a16:creationId xmlns:a16="http://schemas.microsoft.com/office/drawing/2014/main" id="{C5F6F1EC-A333-4A91-861A-9C90D68C5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4812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技术控制</a:t>
            </a:r>
          </a:p>
        </p:txBody>
      </p:sp>
      <p:sp>
        <p:nvSpPr>
          <p:cNvPr id="18" name="backup-body-2">
            <a:extLst xmlns:a="http://schemas.openxmlformats.org/drawingml/2006/main">
              <a:ext uri="{FF2B5EF4-FFF2-40B4-BE49-F238E27FC236}">
                <a16:creationId xmlns:a16="http://schemas.microsoft.com/office/drawing/2014/main" id="{63C2269A-81AE-4897-8CEF-CC0CA75EF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486275"/>
            <a:ext cx="4343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26679"/>
                </a:solidFill>
              </a:defRPr>
            </a:pPr>
            <a:r>
              <a:rPr sz="1200">
                <a:solidFill>
                  <a:srgbClr val="526679"/>
                </a:solidFill>
              </a:rPr>
              <a:t>探针浓度、曝光、批次和背景校正</a:t>
            </a:r>
          </a:p>
        </p:txBody>
      </p:sp>
      <p:sp>
        <p:nvSpPr>
          <p:cNvPr id="19" name="backup-field-3">
            <a:extLst xmlns:a="http://schemas.openxmlformats.org/drawingml/2006/main">
              <a:ext uri="{FF2B5EF4-FFF2-40B4-BE49-F238E27FC236}">
                <a16:creationId xmlns:a16="http://schemas.microsoft.com/office/drawing/2014/main" id="{6BA83397-DED6-4B75-86AB-B7161249F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90950"/>
            <a:ext cx="50482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6E1E9"/>
            </a:solidFill>
            <a:prstDash val="solid"/>
          </a:ln>
        </p:spPr>
      </p:sp>
      <p:sp>
        <p:nvSpPr>
          <p:cNvPr id="20" name="backup-title-3">
            <a:extLst xmlns:a="http://schemas.openxmlformats.org/drawingml/2006/main">
              <a:ext uri="{FF2B5EF4-FFF2-40B4-BE49-F238E27FC236}">
                <a16:creationId xmlns:a16="http://schemas.microsoft.com/office/drawing/2014/main" id="{A1F819E0-DE04-481A-B9CF-AFD774D4B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4812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69AA"/>
                </a:solidFill>
              </a:defRPr>
            </a:pPr>
            <a:r>
              <a:rPr sz="1500" b="1">
                <a:solidFill>
                  <a:srgbClr val="1769AA"/>
                </a:solidFill>
              </a:rPr>
              <a:t>正交验证</a:t>
            </a:r>
          </a:p>
        </p:txBody>
      </p:sp>
      <p:sp>
        <p:nvSpPr>
          <p:cNvPr id="21" name="backup-body-3">
            <a:extLst xmlns:a="http://schemas.openxmlformats.org/drawingml/2006/main">
              <a:ext uri="{FF2B5EF4-FFF2-40B4-BE49-F238E27FC236}">
                <a16:creationId xmlns:a16="http://schemas.microsoft.com/office/drawing/2014/main" id="{A9F16EEC-B57C-4835-BDB0-2A01B11BA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486275"/>
            <a:ext cx="4343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26679"/>
                </a:solidFill>
              </a:defRPr>
            </a:pPr>
            <a:r>
              <a:rPr sz="1200">
                <a:solidFill>
                  <a:srgbClr val="526679"/>
                </a:solidFill>
              </a:rPr>
              <a:t>采用不同原理的方法复核主要结论</a:t>
            </a:r>
          </a:p>
        </p:txBody>
      </p:sp>
    </p:spTree>
    <p:extLst>
      <p:ext uri="{BB962C8B-B14F-4D97-AF65-F5344CB8AC3E}">
        <p14:creationId xmlns:p14="http://schemas.microsoft.com/office/powerpoint/2010/main" val="18398726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2026-08-01T10:25:06.6440000Z</dcterms:created>
  <dcterms:modified xsi:type="dcterms:W3CDTF">2026-08-01T10:25:06.6440000Z</dcterms:modified>
</coreProperties>
</file>