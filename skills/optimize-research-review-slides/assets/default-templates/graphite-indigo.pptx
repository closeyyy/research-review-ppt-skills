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3557b36564216" /><Relationship Type="http://schemas.openxmlformats.org/officeDocument/2006/relationships/extended-properties" Target="/docProps/app.xml" Id="R65d9cf9b94374d27" /><Relationship Type="http://schemas.openxmlformats.org/officeDocument/2006/relationships/officeDocument" Target="/ppt/presentation.xml" Id="R96ab74009fd04c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fedefd3bc646a4"/>
  </p:sldMasterIdLst>
  <p:notesMasterIdLst>
    <p:notesMasterId xmlns:r="http://schemas.openxmlformats.org/officeDocument/2006/relationships" r:id="Rd3d83439bcbd4678"/>
  </p:notesMasterIdLst>
  <p:sldIdLst>
    <p:sldId xmlns:r="http://schemas.openxmlformats.org/officeDocument/2006/relationships" id="256" r:id="R24412dcb9bd948c3"/>
    <p:sldId xmlns:r="http://schemas.openxmlformats.org/officeDocument/2006/relationships" id="257" r:id="Rf44f6b9ef6e241cc"/>
    <p:sldId xmlns:r="http://schemas.openxmlformats.org/officeDocument/2006/relationships" id="258" r:id="R50f348f531db46a5"/>
    <p:sldId xmlns:r="http://schemas.openxmlformats.org/officeDocument/2006/relationships" id="259" r:id="Re6227becb17f49e5"/>
    <p:sldId xmlns:r="http://schemas.openxmlformats.org/officeDocument/2006/relationships" id="260" r:id="R1ad026a8c5224242"/>
    <p:sldId xmlns:r="http://schemas.openxmlformats.org/officeDocument/2006/relationships" id="261" r:id="R1c18e8cd453b469e"/>
    <p:sldId xmlns:r="http://schemas.openxmlformats.org/officeDocument/2006/relationships" id="262" r:id="R8cae91bd7e844000"/>
    <p:sldId xmlns:r="http://schemas.openxmlformats.org/officeDocument/2006/relationships" id="263" r:id="Rc5285beceb2e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4f542d50ae48cf" /><Relationship Type="http://schemas.openxmlformats.org/officeDocument/2006/relationships/slideMaster" Target="/ppt/slideMasters/slideMaster1.xml" Id="R47fedefd3bc646a4" /><Relationship Type="http://schemas.openxmlformats.org/officeDocument/2006/relationships/notesMaster" Target="/ppt/notesMasters/notesMaster1.xml" Id="Rd3d83439bcbd4678" /><Relationship Type="http://schemas.openxmlformats.org/officeDocument/2006/relationships/presProps" Target="/ppt/presProps.xml" Id="R1ede39a4b7174ab1" /><Relationship Type="http://schemas.openxmlformats.org/officeDocument/2006/relationships/tableStyles" Target="/ppt/tableStyles.xml" Id="Rd0c96c4699f1453b" /><Relationship Type="http://schemas.openxmlformats.org/officeDocument/2006/relationships/slide" Target="/ppt/slides/slide1.xml" Id="R24412dcb9bd948c3" /><Relationship Type="http://schemas.openxmlformats.org/officeDocument/2006/relationships/slide" Target="/ppt/slides/slide2.xml" Id="Rf44f6b9ef6e241cc" /><Relationship Type="http://schemas.openxmlformats.org/officeDocument/2006/relationships/slide" Target="/ppt/slides/slide3.xml" Id="R50f348f531db46a5" /><Relationship Type="http://schemas.openxmlformats.org/officeDocument/2006/relationships/slide" Target="/ppt/slides/slide4.xml" Id="Re6227becb17f49e5" /><Relationship Type="http://schemas.openxmlformats.org/officeDocument/2006/relationships/slide" Target="/ppt/slides/slide5.xml" Id="R1ad026a8c5224242" /><Relationship Type="http://schemas.openxmlformats.org/officeDocument/2006/relationships/slide" Target="/ppt/slides/slide6.xml" Id="R1c18e8cd453b469e" /><Relationship Type="http://schemas.openxmlformats.org/officeDocument/2006/relationships/slide" Target="/ppt/slides/slide7.xml" Id="R8cae91bd7e844000" /><Relationship Type="http://schemas.openxmlformats.org/officeDocument/2006/relationships/slide" Target="/ppt/slides/slide8.xml" Id="Rc5285beceb2e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8dcdbd648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7224ef8054fbe" /><Relationship Type="http://schemas.openxmlformats.org/officeDocument/2006/relationships/notesMaster" Target="/ppt/notesMasters/notesMaster1.xml" Id="R118c26411caf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cd7d6bce84504" /><Relationship Type="http://schemas.openxmlformats.org/officeDocument/2006/relationships/notesMaster" Target="/ppt/notesMasters/notesMaster1.xml" Id="Rd5de3b3c1136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b77c1b08644e7" /><Relationship Type="http://schemas.openxmlformats.org/officeDocument/2006/relationships/notesMaster" Target="/ppt/notesMasters/notesMaster1.xml" Id="R375a9dd7e8d244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a851a87766456e" /><Relationship Type="http://schemas.openxmlformats.org/officeDocument/2006/relationships/notesMaster" Target="/ppt/notesMasters/notesMaster1.xml" Id="Rbf73ff05390249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e3ba818df34433" /><Relationship Type="http://schemas.openxmlformats.org/officeDocument/2006/relationships/notesMaster" Target="/ppt/notesMasters/notesMaster1.xml" Id="R03c3b07c7c5e4c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5e57ed1864afe" /><Relationship Type="http://schemas.openxmlformats.org/officeDocument/2006/relationships/notesMaster" Target="/ppt/notesMasters/notesMaster1.xml" Id="R281df82df1e545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8170a694914584" /><Relationship Type="http://schemas.openxmlformats.org/officeDocument/2006/relationships/notesMaster" Target="/ppt/notesMasters/notesMaster1.xml" Id="R7b76c33fe4974c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75632651ea4f9a" /><Relationship Type="http://schemas.openxmlformats.org/officeDocument/2006/relationships/notesMaster" Target="/ppt/notesMasters/notesMaster1.xml" Id="R91b7cbbc8d41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8a75f743b4c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a93d34abfc4370" /><Relationship Type="http://schemas.openxmlformats.org/officeDocument/2006/relationships/slideLayout" Target="/ppt/slideLayouts/slideLayout1.xml" Id="R029415d114f942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415d114f9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943397bd497c" /><Relationship Type="http://schemas.openxmlformats.org/officeDocument/2006/relationships/notesSlide" Target="/ppt/notesSlides/notesSlide1.xml" Id="R8d1e5e637f5c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935cf64924474" /><Relationship Type="http://schemas.openxmlformats.org/officeDocument/2006/relationships/notesSlide" Target="/ppt/notesSlides/notesSlide2.xml" Id="R35340e3c858d41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f9d795f10457b" /><Relationship Type="http://schemas.openxmlformats.org/officeDocument/2006/relationships/notesSlide" Target="/ppt/notesSlides/notesSlide3.xml" Id="R441be67247424c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485b1e5464c28" /><Relationship Type="http://schemas.openxmlformats.org/officeDocument/2006/relationships/notesSlide" Target="/ppt/notesSlides/notesSlide4.xml" Id="R94b65e61fe9a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17391bf83487c" /><Relationship Type="http://schemas.openxmlformats.org/officeDocument/2006/relationships/notesSlide" Target="/ppt/notesSlides/notesSlide5.xml" Id="Rca60dbbc2fe5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fe36b8a874555" /><Relationship Type="http://schemas.openxmlformats.org/officeDocument/2006/relationships/notesSlide" Target="/ppt/notesSlides/notesSlide6.xml" Id="Ref057b4f013f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5439bb06b4141" /><Relationship Type="http://schemas.openxmlformats.org/officeDocument/2006/relationships/notesSlide" Target="/ppt/notesSlides/notesSlide7.xml" Id="R60a201ff06b94b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32d228c3b430a" /><Relationship Type="http://schemas.openxmlformats.org/officeDocument/2006/relationships/notesSlide" Target="/ppt/notesSlides/notesSlide8.xml" Id="Rdfe5392d84614c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77FD75F8-0D5B-4554-A331-1851768E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type">
            <a:extLst xmlns:a="http://schemas.openxmlformats.org/drawingml/2006/main">
              <a:ext uri="{FF2B5EF4-FFF2-40B4-BE49-F238E27FC236}">
                <a16:creationId xmlns:a16="http://schemas.microsoft.com/office/drawing/2014/main" id="{84994A53-07EA-4551-94DE-47CB36B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A5"/>
                </a:solidFill>
              </a:defRPr>
            </a:pPr>
            <a:r>
              <a:rPr sz="1275" b="1">
                <a:solidFill>
                  <a:srgbClr val="4B55A5"/>
                </a:solidFill>
              </a:rPr>
              <a:t>文献与方法综述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25818518-9DF0-4AE7-BCCC-30DCC4A1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52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0242B"/>
                </a:solidFill>
              </a:defRPr>
            </a:pPr>
            <a:r>
              <a:rPr sz="3900" b="1">
                <a:solidFill>
                  <a:srgbClr val="20242B"/>
                </a:solidFill>
              </a:rPr>
              <a:t>研究主题：从生物学问题</a:t>
            </a:r>
          </a:p>
          <a:p xmlns:a="http://schemas.openxmlformats.org/drawingml/2006/main">
            <a:pPr>
              <a:defRPr sz="3900" b="1">
                <a:solidFill>
                  <a:srgbClr val="20242B"/>
                </a:solidFill>
              </a:defRPr>
            </a:pPr>
            <a:r>
              <a:rPr sz="3900" b="1">
                <a:solidFill>
                  <a:srgbClr val="20242B"/>
                </a:solidFill>
              </a:rPr>
              <a:t>到可验证的证据链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1A2A0F0-4AF4-4DC1-9753-2667F5C3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26C"/>
                </a:solidFill>
              </a:defRPr>
            </a:pPr>
            <a:r>
              <a:rPr sz="1725">
                <a:solidFill>
                  <a:srgbClr val="5D626C"/>
                </a:solidFill>
              </a:rPr>
              <a:t>围绕机制、方法与应用案例建立清晰的综述框架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1E53D1F2-833D-4803-9324-AAF3B6B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1962150" cy="37147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6" name="motif-1">
            <a:extLst xmlns:a="http://schemas.openxmlformats.org/drawingml/2006/main">
              <a:ext uri="{FF2B5EF4-FFF2-40B4-BE49-F238E27FC236}">
                <a16:creationId xmlns:a16="http://schemas.microsoft.com/office/drawing/2014/main" id="{0360764E-1BAE-4594-BE04-51E95A31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tif-2">
            <a:extLst xmlns:a="http://schemas.openxmlformats.org/drawingml/2006/main">
              <a:ext uri="{FF2B5EF4-FFF2-40B4-BE49-F238E27FC236}">
                <a16:creationId xmlns:a16="http://schemas.microsoft.com/office/drawing/2014/main" id="{FD4992E2-AD05-4B46-AE83-6C29FCAD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9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tif-3">
            <a:extLst xmlns:a="http://schemas.openxmlformats.org/drawingml/2006/main">
              <a:ext uri="{FF2B5EF4-FFF2-40B4-BE49-F238E27FC236}">
                <a16:creationId xmlns:a16="http://schemas.microsoft.com/office/drawing/2014/main" id="{FC5BA4F1-947F-4264-900E-50F39C75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766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B55A5"/>
            </a:solidFill>
            <a:prstDash val="solid"/>
          </a:ln>
        </p:spPr>
      </p:sp>
      <p:sp>
        <p:nvSpPr>
          <p:cNvPr id="9" name="author">
            <a:extLst xmlns:a="http://schemas.openxmlformats.org/drawingml/2006/main">
              <a:ext uri="{FF2B5EF4-FFF2-40B4-BE49-F238E27FC236}">
                <a16:creationId xmlns:a16="http://schemas.microsoft.com/office/drawing/2014/main" id="{9EA40F47-77E4-468B-B585-399CE49C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26C"/>
                </a:solidFill>
              </a:defRPr>
            </a:pPr>
            <a:r>
              <a:rPr sz="1275">
                <a:solidFill>
                  <a:srgbClr val="5D626C"/>
                </a:solidFill>
              </a:rPr>
              <a:t>汇报人｜课题组｜日期</a:t>
            </a:r>
          </a:p>
        </p:txBody>
      </p:sp>
      <p:sp>
        <p:nvSpPr>
          <p:cNvPr id="10" name="palette">
            <a:extLst xmlns:a="http://schemas.openxmlformats.org/drawingml/2006/main">
              <a:ext uri="{FF2B5EF4-FFF2-40B4-BE49-F238E27FC236}">
                <a16:creationId xmlns:a16="http://schemas.microsoft.com/office/drawing/2014/main" id="{9CAAD380-324B-43FD-885A-0840997A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10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D  石墨靛蓝</a:t>
            </a:r>
          </a:p>
        </p:txBody>
      </p:sp>
    </p:spTree>
    <p:extLst>
      <p:ext uri="{BB962C8B-B14F-4D97-AF65-F5344CB8AC3E}">
        <p14:creationId xmlns:p14="http://schemas.microsoft.com/office/powerpoint/2010/main" val="301210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ide-rule">
            <a:extLst xmlns:a="http://schemas.openxmlformats.org/drawingml/2006/main">
              <a:ext uri="{FF2B5EF4-FFF2-40B4-BE49-F238E27FC236}">
                <a16:creationId xmlns:a16="http://schemas.microsoft.com/office/drawing/2014/main" id="{47DC54EF-A0E6-457B-88FC-DE1AEC5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CA98989-E607-4780-A0FA-1BB64DB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4B55A5"/>
                </a:solidFill>
              </a:defRPr>
            </a:pPr>
            <a:r>
              <a:rPr sz="5400" b="1">
                <a:solidFill>
                  <a:srgbClr val="4B55A5"/>
                </a:solidFill>
              </a:rPr>
              <a:t>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E83C569-069E-440F-9B55-6CAA93E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42B"/>
                </a:solidFill>
              </a:defRPr>
            </a:pPr>
            <a:r>
              <a:rPr sz="3750" b="1">
                <a:solidFill>
                  <a:srgbClr val="20242B"/>
                </a:solidFill>
              </a:rPr>
              <a:t>问题与研究边界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6353F269-02B7-4271-BEFF-6F2CD86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26C"/>
                </a:solidFill>
              </a:defRPr>
            </a:pPr>
            <a:r>
              <a:rPr sz="1725">
                <a:solidFill>
                  <a:srgbClr val="5D626C"/>
                </a:solidFill>
              </a:rPr>
              <a:t>先明确要检测的对象，再讨论方法是否合适</a:t>
            </a:r>
          </a:p>
        </p:txBody>
      </p:sp>
      <p:sp>
        <p:nvSpPr>
          <p:cNvPr id="5" name="section-field">
            <a:extLst xmlns:a="http://schemas.openxmlformats.org/drawingml/2006/main">
              <a:ext uri="{FF2B5EF4-FFF2-40B4-BE49-F238E27FC236}">
                <a16:creationId xmlns:a16="http://schemas.microsoft.com/office/drawing/2014/main" id="{66B975D1-6D26-4245-8129-00A6D3E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647950" cy="4762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6" name="section-prompt">
            <a:extLst xmlns:a="http://schemas.openxmlformats.org/drawingml/2006/main">
              <a:ext uri="{FF2B5EF4-FFF2-40B4-BE49-F238E27FC236}">
                <a16:creationId xmlns:a16="http://schemas.microsoft.com/office/drawing/2014/main" id="{263973D4-A60A-46A4-9EB5-FABAC2D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B55A5"/>
                </a:solidFill>
              </a:defRPr>
            </a:pPr>
            <a:r>
              <a:rPr sz="1125" b="1">
                <a:solidFill>
                  <a:srgbClr val="4B55A5"/>
                </a:solidFill>
              </a:rPr>
              <a:t>本节回答</a:t>
            </a:r>
          </a:p>
        </p:txBody>
      </p:sp>
      <p:sp>
        <p:nvSpPr>
          <p:cNvPr id="7" name="section-question">
            <a:extLst xmlns:a="http://schemas.openxmlformats.org/drawingml/2006/main">
              <a:ext uri="{FF2B5EF4-FFF2-40B4-BE49-F238E27FC236}">
                <a16:creationId xmlns:a16="http://schemas.microsoft.com/office/drawing/2014/main" id="{55CC2799-82DB-4F03-A83B-DF64821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1943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42B"/>
                </a:solidFill>
              </a:defRPr>
            </a:pPr>
            <a:r>
              <a:rPr sz="1575" b="1">
                <a:solidFill>
                  <a:srgbClr val="20242B"/>
                </a:solidFill>
              </a:rPr>
              <a:t>• 研究对象是什么</a:t>
            </a:r>
          </a:p>
          <a:p xmlns:a="http://schemas.openxmlformats.org/drawingml/2006/main">
            <a:pPr>
              <a:defRPr sz="1575" b="1">
                <a:solidFill>
                  <a:srgbClr val="20242B"/>
                </a:solidFill>
              </a:defRPr>
            </a:pPr>
            <a:r>
              <a:rPr sz="1575" b="1">
                <a:solidFill>
                  <a:srgbClr val="20242B"/>
                </a:solidFill>
              </a:rPr>
              <a:t>• 直接证据有哪些</a:t>
            </a:r>
          </a:p>
          <a:p xmlns:a="http://schemas.openxmlformats.org/drawingml/2006/main">
            <a:pPr>
              <a:defRPr sz="1575" b="1">
                <a:solidFill>
                  <a:srgbClr val="20242B"/>
                </a:solidFill>
              </a:defRPr>
            </a:pPr>
            <a:r>
              <a:rPr sz="1575" b="1">
                <a:solidFill>
                  <a:srgbClr val="20242B"/>
                </a:solidFill>
              </a:rPr>
              <a:t>• 哪些只是间接指标</a:t>
            </a:r>
          </a:p>
        </p:txBody>
      </p:sp>
    </p:spTree>
    <p:extLst>
      <p:ext uri="{BB962C8B-B14F-4D97-AF65-F5344CB8AC3E}">
        <p14:creationId xmlns:p14="http://schemas.microsoft.com/office/powerpoint/2010/main" val="1790242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">
            <a:extLst xmlns:a="http://schemas.openxmlformats.org/drawingml/2006/main">
              <a:ext uri="{FF2B5EF4-FFF2-40B4-BE49-F238E27FC236}">
                <a16:creationId xmlns:a16="http://schemas.microsoft.com/office/drawing/2014/main" id="{81EDFADB-D7C7-4E7A-B1CA-74CE0BB6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1F240A4-1EBF-47C0-8CCA-E2F1D920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概念框架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8672B5-163E-4AA9-8754-D4D1A014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42B"/>
                </a:solidFill>
              </a:defRPr>
            </a:pPr>
            <a:r>
              <a:rPr sz="2925" b="1">
                <a:solidFill>
                  <a:srgbClr val="20242B"/>
                </a:solidFill>
              </a:rPr>
              <a:t>先区分检测对象，再选择实验方法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EEF51D-2474-4AD7-818A-379F79F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03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3E1847B-C3BB-4125-B9AE-751657C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79CA04-A8C3-44E2-AB56-EAEDAC5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C7AB3F3-8B11-42D2-9C73-8A9A3754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D · 石墨靛蓝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E3C49193-A43A-4B63-AA88-4E1CA716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26C"/>
                </a:solidFill>
              </a:defRPr>
            </a:pPr>
            <a:r>
              <a:rPr sz="1350">
                <a:solidFill>
                  <a:srgbClr val="5D626C"/>
                </a:solidFill>
              </a:rPr>
              <a:t>同一信号可能对应不同层级的生物学变化</a:t>
            </a:r>
          </a:p>
        </p:txBody>
      </p:sp>
      <p:sp>
        <p:nvSpPr>
          <p:cNvPr id="9" name="concept-field-0">
            <a:extLst xmlns:a="http://schemas.openxmlformats.org/drawingml/2006/main">
              <a:ext uri="{FF2B5EF4-FFF2-40B4-BE49-F238E27FC236}">
                <a16:creationId xmlns:a16="http://schemas.microsoft.com/office/drawing/2014/main" id="{56CE06FC-0887-44B2-9257-FB7584DC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0" name="concept-number-bg-0">
            <a:extLst xmlns:a="http://schemas.openxmlformats.org/drawingml/2006/main">
              <a:ext uri="{FF2B5EF4-FFF2-40B4-BE49-F238E27FC236}">
                <a16:creationId xmlns:a16="http://schemas.microsoft.com/office/drawing/2014/main" id="{03A8A013-DF19-4D2D-A159-D3430D3D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1" name="concept-number-0">
            <a:extLst xmlns:a="http://schemas.openxmlformats.org/drawingml/2006/main">
              <a:ext uri="{FF2B5EF4-FFF2-40B4-BE49-F238E27FC236}">
                <a16:creationId xmlns:a16="http://schemas.microsoft.com/office/drawing/2014/main" id="{19430347-5287-4E6F-8F5A-767AB6E2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91CB6C90-63BE-4336-BD2D-2E34824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B"/>
                </a:solidFill>
              </a:defRPr>
            </a:pPr>
            <a:r>
              <a:rPr sz="1875" b="1">
                <a:solidFill>
                  <a:srgbClr val="20242B"/>
                </a:solidFill>
              </a:rPr>
              <a:t>分子状态</a:t>
            </a:r>
          </a:p>
        </p:txBody>
      </p:sp>
      <p:sp>
        <p:nvSpPr>
          <p:cNvPr id="13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0C9D39E8-116D-4B85-B79E-7AF724D8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26C"/>
                </a:solidFill>
              </a:defRPr>
            </a:pPr>
            <a:r>
              <a:rPr sz="1350">
                <a:solidFill>
                  <a:srgbClr val="5D626C"/>
                </a:solidFill>
              </a:rPr>
              <a:t>构象变化、错误折叠、聚集体形成</a:t>
            </a:r>
          </a:p>
        </p:txBody>
      </p:sp>
      <p:sp>
        <p:nvSpPr>
          <p:cNvPr id="14" name="concept-field-1">
            <a:extLst xmlns:a="http://schemas.openxmlformats.org/drawingml/2006/main">
              <a:ext uri="{FF2B5EF4-FFF2-40B4-BE49-F238E27FC236}">
                <a16:creationId xmlns:a16="http://schemas.microsoft.com/office/drawing/2014/main" id="{72B2E459-64DE-4ADD-988A-A41987D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5" name="concept-number-bg-1">
            <a:extLst xmlns:a="http://schemas.openxmlformats.org/drawingml/2006/main">
              <a:ext uri="{FF2B5EF4-FFF2-40B4-BE49-F238E27FC236}">
                <a16:creationId xmlns:a16="http://schemas.microsoft.com/office/drawing/2014/main" id="{77FC3715-62C5-431B-990C-C72671FA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6" name="concept-number-1">
            <a:extLst xmlns:a="http://schemas.openxmlformats.org/drawingml/2006/main">
              <a:ext uri="{FF2B5EF4-FFF2-40B4-BE49-F238E27FC236}">
                <a16:creationId xmlns:a16="http://schemas.microsoft.com/office/drawing/2014/main" id="{D9279D1B-8811-4C50-8717-19EC0D94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55A5"/>
                </a:solidFill>
              </a:defRPr>
            </a:pPr>
            <a:r>
              <a:rPr sz="1275" b="1">
                <a:solidFill>
                  <a:srgbClr val="4B55A5"/>
                </a:solidFill>
              </a:rPr>
              <a:t>2</a:t>
            </a:r>
          </a:p>
        </p:txBody>
      </p:sp>
      <p:sp>
        <p:nvSpPr>
          <p:cNvPr id="17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D50D7DAE-E474-4647-9AD9-6A8AEE7C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B"/>
                </a:solidFill>
              </a:defRPr>
            </a:pPr>
            <a:r>
              <a:rPr sz="1875" b="1">
                <a:solidFill>
                  <a:srgbClr val="20242B"/>
                </a:solidFill>
              </a:rPr>
              <a:t>细胞定位</a:t>
            </a:r>
          </a:p>
        </p:txBody>
      </p:sp>
      <p:sp>
        <p:nvSpPr>
          <p:cNvPr id="1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18B3A328-4C7D-424F-9EF6-83F22C56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26C"/>
                </a:solidFill>
              </a:defRPr>
            </a:pPr>
            <a:r>
              <a:rPr sz="1350">
                <a:solidFill>
                  <a:srgbClr val="5D626C"/>
                </a:solidFill>
              </a:rPr>
              <a:t>胞质、细胞器或特定亚细胞区域</a:t>
            </a:r>
          </a:p>
        </p:txBody>
      </p:sp>
      <p:sp>
        <p:nvSpPr>
          <p:cNvPr id="19" name="concept-field-2">
            <a:extLst xmlns:a="http://schemas.openxmlformats.org/drawingml/2006/main">
              <a:ext uri="{FF2B5EF4-FFF2-40B4-BE49-F238E27FC236}">
                <a16:creationId xmlns:a16="http://schemas.microsoft.com/office/drawing/2014/main" id="{136A9E0D-63C3-4FFB-AAEF-996E3789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0" name="concept-number-bg-2">
            <a:extLst xmlns:a="http://schemas.openxmlformats.org/drawingml/2006/main">
              <a:ext uri="{FF2B5EF4-FFF2-40B4-BE49-F238E27FC236}">
                <a16:creationId xmlns:a16="http://schemas.microsoft.com/office/drawing/2014/main" id="{856AD958-4F26-43FA-891E-EBC8221B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1" name="concept-number-2">
            <a:extLst xmlns:a="http://schemas.openxmlformats.org/drawingml/2006/main">
              <a:ext uri="{FF2B5EF4-FFF2-40B4-BE49-F238E27FC236}">
                <a16:creationId xmlns:a16="http://schemas.microsoft.com/office/drawing/2014/main" id="{0D338742-9275-492A-877C-EBC5403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55A5"/>
                </a:solidFill>
              </a:defRPr>
            </a:pPr>
            <a:r>
              <a:rPr sz="1275" b="1">
                <a:solidFill>
                  <a:srgbClr val="4B55A5"/>
                </a:solidFill>
              </a:rPr>
              <a:t>3</a:t>
            </a:r>
          </a:p>
        </p:txBody>
      </p:sp>
      <p:sp>
        <p:nvSpPr>
          <p:cNvPr id="22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8FAB5B21-FBB0-46B8-8F3E-6722DBD9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B"/>
                </a:solidFill>
              </a:defRPr>
            </a:pPr>
            <a:r>
              <a:rPr sz="1875" b="1">
                <a:solidFill>
                  <a:srgbClr val="20242B"/>
                </a:solidFill>
              </a:rPr>
              <a:t>功能后果</a:t>
            </a:r>
          </a:p>
        </p:txBody>
      </p:sp>
      <p:sp>
        <p:nvSpPr>
          <p:cNvPr id="23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1B019DDA-1843-43B0-99FB-1310FAB6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26C"/>
                </a:solidFill>
              </a:defRPr>
            </a:pPr>
            <a:r>
              <a:rPr sz="1350">
                <a:solidFill>
                  <a:srgbClr val="5D626C"/>
                </a:solidFill>
              </a:rPr>
              <a:t>应激反应、降解障碍或细胞毒性</a:t>
            </a:r>
          </a:p>
        </p:txBody>
      </p:sp>
    </p:spTree>
    <p:extLst>
      <p:ext uri="{BB962C8B-B14F-4D97-AF65-F5344CB8AC3E}">
        <p14:creationId xmlns:p14="http://schemas.microsoft.com/office/powerpoint/2010/main" val="930032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4F66153E-A0FD-4631-8CCA-AE4E8E18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E09D820-83F6-4963-9367-4C74A53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应用案例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94AAB3-6CF9-4EDB-9EFB-B145E994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42B"/>
                </a:solidFill>
              </a:defRPr>
            </a:pPr>
            <a:r>
              <a:rPr sz="2925" b="1">
                <a:solidFill>
                  <a:srgbClr val="20242B"/>
                </a:solidFill>
              </a:rPr>
              <a:t>文献图应服务于一个明确判断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1DF47D-D00B-4205-BEF7-41F8AD6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04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34818C-455A-4DC2-8BFB-1846285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19A4A2-261B-465B-93F2-B670002D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E04C993-40C2-4639-BB52-317304E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D · 石墨靛蓝</a:t>
            </a:r>
          </a:p>
        </p:txBody>
      </p:sp>
      <p:sp>
        <p:nvSpPr>
          <p:cNvPr id="8" name="figure-frame">
            <a:extLst xmlns:a="http://schemas.openxmlformats.org/drawingml/2006/main">
              <a:ext uri="{FF2B5EF4-FFF2-40B4-BE49-F238E27FC236}">
                <a16:creationId xmlns:a16="http://schemas.microsoft.com/office/drawing/2014/main" id="{F52CF928-B6A6-4F85-8823-03034F5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4008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9" name="figure-label">
            <a:extLst xmlns:a="http://schemas.openxmlformats.org/drawingml/2006/main">
              <a:ext uri="{FF2B5EF4-FFF2-40B4-BE49-F238E27FC236}">
                <a16:creationId xmlns:a16="http://schemas.microsoft.com/office/drawing/2014/main" id="{45BD5F50-6808-43A8-95A2-09748CB7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58994"/>
                </a:solidFill>
              </a:defRPr>
            </a:pPr>
            <a:r>
              <a:rPr sz="1950" b="1">
                <a:solidFill>
                  <a:srgbClr val="858994"/>
                </a:solidFill>
              </a:rPr>
              <a:t>文献图 / 实验图</a:t>
            </a:r>
          </a:p>
        </p:txBody>
      </p:sp>
      <p:sp>
        <p:nvSpPr>
          <p:cNvPr id="10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050152C4-9E67-4F2E-9D7C-8041632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90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858994"/>
                </a:solidFill>
              </a:defRPr>
            </a:pPr>
            <a:r>
              <a:rPr sz="1050">
                <a:solidFill>
                  <a:srgbClr val="858994"/>
                </a:solidFill>
              </a:rPr>
              <a:t>图源与面板说明置于图下或备注区</a:t>
            </a:r>
          </a:p>
        </p:txBody>
      </p:sp>
      <p:sp>
        <p:nvSpPr>
          <p:cNvPr id="11" name="finding-label">
            <a:extLst xmlns:a="http://schemas.openxmlformats.org/drawingml/2006/main">
              <a:ext uri="{FF2B5EF4-FFF2-40B4-BE49-F238E27FC236}">
                <a16:creationId xmlns:a16="http://schemas.microsoft.com/office/drawing/2014/main" id="{D6710AB6-B331-43F5-BCCF-277F137B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本页结论</a:t>
            </a:r>
          </a:p>
        </p:txBody>
      </p:sp>
      <p:sp>
        <p:nvSpPr>
          <p:cNvPr id="12" name="finding">
            <a:extLst xmlns:a="http://schemas.openxmlformats.org/drawingml/2006/main">
              <a:ext uri="{FF2B5EF4-FFF2-40B4-BE49-F238E27FC236}">
                <a16:creationId xmlns:a16="http://schemas.microsoft.com/office/drawing/2014/main" id="{36A29118-EC89-4141-9D4A-A79C83A1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B"/>
                </a:solidFill>
              </a:defRPr>
            </a:pPr>
            <a:r>
              <a:rPr sz="2175" b="1">
                <a:solidFill>
                  <a:srgbClr val="20242B"/>
                </a:solidFill>
              </a:rPr>
              <a:t>先讲图中最重要的变化，</a:t>
            </a:r>
          </a:p>
          <a:p xmlns:a="http://schemas.openxmlformats.org/drawingml/2006/main">
            <a:pPr>
              <a:defRPr sz="2175" b="1">
                <a:solidFill>
                  <a:srgbClr val="20242B"/>
                </a:solidFill>
              </a:defRPr>
            </a:pPr>
            <a:r>
              <a:rPr sz="2175" b="1">
                <a:solidFill>
                  <a:srgbClr val="20242B"/>
                </a:solidFill>
              </a:rPr>
              <a:t>再说明它支持什么结论。</a:t>
            </a:r>
          </a:p>
        </p:txBody>
      </p:sp>
      <p:sp>
        <p:nvSpPr>
          <p:cNvPr id="13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8965AF64-B90C-4D75-857F-3C10607B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1B09A1CF-AA6F-4E93-99D1-F4AA3123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26C"/>
                </a:solidFill>
              </a:defRPr>
            </a:pPr>
            <a:r>
              <a:rPr sz="1350">
                <a:solidFill>
                  <a:srgbClr val="5D626C"/>
                </a:solidFill>
              </a:rPr>
              <a:t>避免逐项复述坐标、图例和每一个面板；同时交代样本、对照和证据边界。</a:t>
            </a:r>
          </a:p>
        </p:txBody>
      </p:sp>
    </p:spTree>
    <p:extLst>
      <p:ext uri="{BB962C8B-B14F-4D97-AF65-F5344CB8AC3E}">
        <p14:creationId xmlns:p14="http://schemas.microsoft.com/office/powerpoint/2010/main" val="814445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rule">
            <a:extLst xmlns:a="http://schemas.openxmlformats.org/drawingml/2006/main">
              <a:ext uri="{FF2B5EF4-FFF2-40B4-BE49-F238E27FC236}">
                <a16:creationId xmlns:a16="http://schemas.microsoft.com/office/drawing/2014/main" id="{10197C80-E0EE-4155-9DBB-B9BE490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A0E3A9D-FF3F-4A48-A680-6FF55C8D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方法比较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601863-389B-4925-80CB-AE61C264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42B"/>
                </a:solidFill>
              </a:defRPr>
            </a:pPr>
            <a:r>
              <a:rPr sz="2925" b="1">
                <a:solidFill>
                  <a:srgbClr val="20242B"/>
                </a:solidFill>
              </a:rPr>
              <a:t>方法选择取决于研究问题与证据强度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3E6FCD-E0B4-4008-A0FC-FB8671A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05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47AAC73-6C0D-471F-A6E5-8466F3C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817F28-3AB7-421E-880D-0EBED9F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396F6D-2861-403A-80B7-F5EBCD36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D · 石墨靛蓝</a:t>
            </a:r>
          </a:p>
        </p:txBody>
      </p:sp>
      <p:sp>
        <p:nvSpPr>
          <p:cNvPr id="8" name="head-0">
            <a:extLst xmlns:a="http://schemas.openxmlformats.org/drawingml/2006/main">
              <a:ext uri="{FF2B5EF4-FFF2-40B4-BE49-F238E27FC236}">
                <a16:creationId xmlns:a16="http://schemas.microsoft.com/office/drawing/2014/main" id="{EB491D20-38C7-4E20-826F-E35EB8C7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9" name="head-text-0">
            <a:extLst xmlns:a="http://schemas.openxmlformats.org/drawingml/2006/main">
              <a:ext uri="{FF2B5EF4-FFF2-40B4-BE49-F238E27FC236}">
                <a16:creationId xmlns:a16="http://schemas.microsoft.com/office/drawing/2014/main" id="{F2D5F215-BA77-418A-AB1B-C97A359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方法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E85EEE17-3DDD-44DF-8DD1-3C41C6D0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1" name="head-text-1">
            <a:extLst xmlns:a="http://schemas.openxmlformats.org/drawingml/2006/main">
              <a:ext uri="{FF2B5EF4-FFF2-40B4-BE49-F238E27FC236}">
                <a16:creationId xmlns:a16="http://schemas.microsoft.com/office/drawing/2014/main" id="{198C9475-1680-42F7-90E6-B51B00FD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B"/>
                </a:solidFill>
              </a:defRPr>
            </a:pPr>
            <a:r>
              <a:rPr sz="1200" b="1">
                <a:solidFill>
                  <a:srgbClr val="20242B"/>
                </a:solidFill>
              </a:rPr>
              <a:t>主要读出</a:t>
            </a:r>
          </a:p>
        </p:txBody>
      </p:sp>
      <p:sp>
        <p:nvSpPr>
          <p:cNvPr id="12" name="head-2">
            <a:extLst xmlns:a="http://schemas.openxmlformats.org/drawingml/2006/main">
              <a:ext uri="{FF2B5EF4-FFF2-40B4-BE49-F238E27FC236}">
                <a16:creationId xmlns:a16="http://schemas.microsoft.com/office/drawing/2014/main" id="{C86825E1-7707-49F8-AF35-DDDA5E83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3" name="head-text-2">
            <a:extLst xmlns:a="http://schemas.openxmlformats.org/drawingml/2006/main">
              <a:ext uri="{FF2B5EF4-FFF2-40B4-BE49-F238E27FC236}">
                <a16:creationId xmlns:a16="http://schemas.microsoft.com/office/drawing/2014/main" id="{9ED8F281-BDB3-4794-BA3F-B73A4967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B"/>
                </a:solidFill>
              </a:defRPr>
            </a:pPr>
            <a:r>
              <a:rPr sz="1200" b="1">
                <a:solidFill>
                  <a:srgbClr val="20242B"/>
                </a:solidFill>
              </a:rPr>
              <a:t>优势</a:t>
            </a:r>
          </a:p>
        </p:txBody>
      </p:sp>
      <p:sp>
        <p:nvSpPr>
          <p:cNvPr id="14" name="head-3">
            <a:extLst xmlns:a="http://schemas.openxmlformats.org/drawingml/2006/main">
              <a:ext uri="{FF2B5EF4-FFF2-40B4-BE49-F238E27FC236}">
                <a16:creationId xmlns:a16="http://schemas.microsoft.com/office/drawing/2014/main" id="{391613D0-B3C1-483A-9E71-690F5661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5" name="head-text-3">
            <a:extLst xmlns:a="http://schemas.openxmlformats.org/drawingml/2006/main">
              <a:ext uri="{FF2B5EF4-FFF2-40B4-BE49-F238E27FC236}">
                <a16:creationId xmlns:a16="http://schemas.microsoft.com/office/drawing/2014/main" id="{FA22A643-6C00-40B1-8D36-E644D52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B"/>
                </a:solidFill>
              </a:defRPr>
            </a:pPr>
            <a:r>
              <a:rPr sz="1200" b="1">
                <a:solidFill>
                  <a:srgbClr val="20242B"/>
                </a:solidFill>
              </a:rPr>
              <a:t>局限</a:t>
            </a:r>
          </a:p>
        </p:txBody>
      </p:sp>
      <p:sp>
        <p:nvSpPr>
          <p:cNvPr id="16" name="head-4">
            <a:extLst xmlns:a="http://schemas.openxmlformats.org/drawingml/2006/main">
              <a:ext uri="{FF2B5EF4-FFF2-40B4-BE49-F238E27FC236}">
                <a16:creationId xmlns:a16="http://schemas.microsoft.com/office/drawing/2014/main" id="{2010ED30-BB6F-43E6-A43C-D65690C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5262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7" name="head-text-4">
            <a:extLst xmlns:a="http://schemas.openxmlformats.org/drawingml/2006/main">
              <a:ext uri="{FF2B5EF4-FFF2-40B4-BE49-F238E27FC236}">
                <a16:creationId xmlns:a16="http://schemas.microsoft.com/office/drawing/2014/main" id="{22270DC9-47ED-493A-923F-8389F2EC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240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B"/>
                </a:solidFill>
              </a:defRPr>
            </a:pPr>
            <a:r>
              <a:rPr sz="1200" b="1">
                <a:solidFill>
                  <a:srgbClr val="20242B"/>
                </a:solidFill>
              </a:rPr>
              <a:t>推荐场景</a:t>
            </a:r>
          </a:p>
        </p:txBody>
      </p:sp>
      <p:sp>
        <p:nvSpPr>
          <p:cNvPr id="18" name="cell-0-0">
            <a:extLst xmlns:a="http://schemas.openxmlformats.org/drawingml/2006/main">
              <a:ext uri="{FF2B5EF4-FFF2-40B4-BE49-F238E27FC236}">
                <a16:creationId xmlns:a16="http://schemas.microsoft.com/office/drawing/2014/main" id="{17C05ECA-23B2-4489-933B-D86AF250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9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D86EB5B0-890D-43EE-A7BD-6493AC87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A5"/>
                </a:solidFill>
              </a:defRPr>
            </a:pPr>
            <a:r>
              <a:rPr sz="1275" b="1">
                <a:solidFill>
                  <a:srgbClr val="4B55A5"/>
                </a:solidFill>
              </a:rPr>
              <a:t>构象探针</a:t>
            </a:r>
          </a:p>
        </p:txBody>
      </p:sp>
      <p:sp>
        <p:nvSpPr>
          <p:cNvPr id="20" name="cell-0-1">
            <a:extLst xmlns:a="http://schemas.openxmlformats.org/drawingml/2006/main">
              <a:ext uri="{FF2B5EF4-FFF2-40B4-BE49-F238E27FC236}">
                <a16:creationId xmlns:a16="http://schemas.microsoft.com/office/drawing/2014/main" id="{3BAF77EC-8935-4B7D-A6DA-0E1971D1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1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00B82BE7-9C33-43CD-A1BB-CD98131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局部环境变化</a:t>
            </a:r>
          </a:p>
        </p:txBody>
      </p:sp>
      <p:sp>
        <p:nvSpPr>
          <p:cNvPr id="22" name="cell-0-2">
            <a:extLst xmlns:a="http://schemas.openxmlformats.org/drawingml/2006/main">
              <a:ext uri="{FF2B5EF4-FFF2-40B4-BE49-F238E27FC236}">
                <a16:creationId xmlns:a16="http://schemas.microsoft.com/office/drawing/2014/main" id="{662C7BCF-DC71-47CB-91FF-567479B9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3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20E553FB-4614-4051-8CD3-C98F4F68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灵敏、成像直观</a:t>
            </a:r>
          </a:p>
        </p:txBody>
      </p:sp>
      <p:sp>
        <p:nvSpPr>
          <p:cNvPr id="24" name="cell-0-3">
            <a:extLst xmlns:a="http://schemas.openxmlformats.org/drawingml/2006/main">
              <a:ext uri="{FF2B5EF4-FFF2-40B4-BE49-F238E27FC236}">
                <a16:creationId xmlns:a16="http://schemas.microsoft.com/office/drawing/2014/main" id="{227B3F6A-B225-4083-8D74-74BA7F82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5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4C3DD8AE-6AA0-4D59-A710-54A019CD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可能非特异</a:t>
            </a:r>
          </a:p>
        </p:txBody>
      </p:sp>
      <p:sp>
        <p:nvSpPr>
          <p:cNvPr id="26" name="cell-0-4">
            <a:extLst xmlns:a="http://schemas.openxmlformats.org/drawingml/2006/main">
              <a:ext uri="{FF2B5EF4-FFF2-40B4-BE49-F238E27FC236}">
                <a16:creationId xmlns:a16="http://schemas.microsoft.com/office/drawing/2014/main" id="{36595CB0-5BE3-4809-B13D-6C45B6D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622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7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62F1D082-53FF-40BC-A969-B0664349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筛查</a:t>
            </a:r>
          </a:p>
        </p:txBody>
      </p:sp>
      <p:sp>
        <p:nvSpPr>
          <p:cNvPr id="28" name="cell-1-0">
            <a:extLst xmlns:a="http://schemas.openxmlformats.org/drawingml/2006/main">
              <a:ext uri="{FF2B5EF4-FFF2-40B4-BE49-F238E27FC236}">
                <a16:creationId xmlns:a16="http://schemas.microsoft.com/office/drawing/2014/main" id="{CBFAFC67-C80D-444B-B492-C2BCB1B6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9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1E22C2D6-7991-43CF-ABD7-73D5FC81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A5"/>
                </a:solidFill>
              </a:defRPr>
            </a:pPr>
            <a:r>
              <a:rPr sz="1275" b="1">
                <a:solidFill>
                  <a:srgbClr val="4B55A5"/>
                </a:solidFill>
              </a:rPr>
              <a:t>生化分级</a:t>
            </a:r>
          </a:p>
        </p:txBody>
      </p:sp>
      <p:sp>
        <p:nvSpPr>
          <p:cNvPr id="30" name="cell-1-1">
            <a:extLst xmlns:a="http://schemas.openxmlformats.org/drawingml/2006/main">
              <a:ext uri="{FF2B5EF4-FFF2-40B4-BE49-F238E27FC236}">
                <a16:creationId xmlns:a16="http://schemas.microsoft.com/office/drawing/2014/main" id="{DA50DA25-6A51-4642-8CBB-B29DD4A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31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F91620CB-4545-4516-8C6B-06C3AD6D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可溶 / 不溶组分</a:t>
            </a:r>
          </a:p>
        </p:txBody>
      </p:sp>
      <p:sp>
        <p:nvSpPr>
          <p:cNvPr id="32" name="cell-1-2">
            <a:extLst xmlns:a="http://schemas.openxmlformats.org/drawingml/2006/main">
              <a:ext uri="{FF2B5EF4-FFF2-40B4-BE49-F238E27FC236}">
                <a16:creationId xmlns:a16="http://schemas.microsoft.com/office/drawing/2014/main" id="{E908AEF6-2AF4-47A5-B03C-0EB84EA7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33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7721D180-F3F9-4CB9-AE88-8CEF3B4B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直接、可定量</a:t>
            </a:r>
          </a:p>
        </p:txBody>
      </p:sp>
      <p:sp>
        <p:nvSpPr>
          <p:cNvPr id="34" name="cell-1-3">
            <a:extLst xmlns:a="http://schemas.openxmlformats.org/drawingml/2006/main">
              <a:ext uri="{FF2B5EF4-FFF2-40B4-BE49-F238E27FC236}">
                <a16:creationId xmlns:a16="http://schemas.microsoft.com/office/drawing/2014/main" id="{9CAF48A3-348A-4701-8019-137CAFA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35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1CFF411E-CF64-4D29-8538-CFDD580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丢失空间信息</a:t>
            </a:r>
          </a:p>
        </p:txBody>
      </p:sp>
      <p:sp>
        <p:nvSpPr>
          <p:cNvPr id="36" name="cell-1-4">
            <a:extLst xmlns:a="http://schemas.openxmlformats.org/drawingml/2006/main">
              <a:ext uri="{FF2B5EF4-FFF2-40B4-BE49-F238E27FC236}">
                <a16:creationId xmlns:a16="http://schemas.microsoft.com/office/drawing/2014/main" id="{894E7A51-19C2-4AE2-B1CF-8CBD6D35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37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86046331-C3CA-4DAF-BA54-8F16A32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验证</a:t>
            </a:r>
          </a:p>
        </p:txBody>
      </p:sp>
      <p:sp>
        <p:nvSpPr>
          <p:cNvPr id="38" name="cell-2-0">
            <a:extLst xmlns:a="http://schemas.openxmlformats.org/drawingml/2006/main">
              <a:ext uri="{FF2B5EF4-FFF2-40B4-BE49-F238E27FC236}">
                <a16:creationId xmlns:a16="http://schemas.microsoft.com/office/drawing/2014/main" id="{5C980B22-E946-4DA3-A311-455C988F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39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F8B57B56-2540-4EF3-A922-33F9321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A5"/>
                </a:solidFill>
              </a:defRPr>
            </a:pPr>
            <a:r>
              <a:rPr sz="1275" b="1">
                <a:solidFill>
                  <a:srgbClr val="4B55A5"/>
                </a:solidFill>
              </a:rPr>
              <a:t>显微成像</a:t>
            </a:r>
          </a:p>
        </p:txBody>
      </p:sp>
      <p:sp>
        <p:nvSpPr>
          <p:cNvPr id="40" name="cell-2-1">
            <a:extLst xmlns:a="http://schemas.openxmlformats.org/drawingml/2006/main">
              <a:ext uri="{FF2B5EF4-FFF2-40B4-BE49-F238E27FC236}">
                <a16:creationId xmlns:a16="http://schemas.microsoft.com/office/drawing/2014/main" id="{6C756DA3-EF73-4243-BE41-15E76B2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41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49F0D197-2E47-4C8B-B6E1-2FF3F39F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聚集体定位</a:t>
            </a:r>
          </a:p>
        </p:txBody>
      </p:sp>
      <p:sp>
        <p:nvSpPr>
          <p:cNvPr id="42" name="cell-2-2">
            <a:extLst xmlns:a="http://schemas.openxmlformats.org/drawingml/2006/main">
              <a:ext uri="{FF2B5EF4-FFF2-40B4-BE49-F238E27FC236}">
                <a16:creationId xmlns:a16="http://schemas.microsoft.com/office/drawing/2014/main" id="{FE296360-3B76-40DC-BA73-9B84875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43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E12D1C21-029D-441C-8250-CE30E9CE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保留细胞背景</a:t>
            </a:r>
          </a:p>
        </p:txBody>
      </p:sp>
      <p:sp>
        <p:nvSpPr>
          <p:cNvPr id="44" name="cell-2-3">
            <a:extLst xmlns:a="http://schemas.openxmlformats.org/drawingml/2006/main">
              <a:ext uri="{FF2B5EF4-FFF2-40B4-BE49-F238E27FC236}">
                <a16:creationId xmlns:a16="http://schemas.microsoft.com/office/drawing/2014/main" id="{480D9DC1-1DAC-4A7B-AFF2-D7810A23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45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594CE1C8-1BC2-48EF-A8A9-116B8C7D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依赖抗体与阈值</a:t>
            </a:r>
          </a:p>
        </p:txBody>
      </p:sp>
      <p:sp>
        <p:nvSpPr>
          <p:cNvPr id="46" name="cell-2-4">
            <a:extLst xmlns:a="http://schemas.openxmlformats.org/drawingml/2006/main">
              <a:ext uri="{FF2B5EF4-FFF2-40B4-BE49-F238E27FC236}">
                <a16:creationId xmlns:a16="http://schemas.microsoft.com/office/drawing/2014/main" id="{C43BF04E-9323-4731-A12D-55C9AD5E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910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47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188DB2B7-283B-4C03-824C-7C44F99A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26C"/>
                </a:solidFill>
              </a:defRPr>
            </a:pPr>
            <a:r>
              <a:rPr sz="1125" b="0">
                <a:solidFill>
                  <a:srgbClr val="5D626C"/>
                </a:solidFill>
              </a:rPr>
              <a:t>定位</a:t>
            </a:r>
          </a:p>
        </p:txBody>
      </p:sp>
    </p:spTree>
    <p:extLst>
      <p:ext uri="{BB962C8B-B14F-4D97-AF65-F5344CB8AC3E}">
        <p14:creationId xmlns:p14="http://schemas.microsoft.com/office/powerpoint/2010/main" val="1616177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ule">
            <a:extLst xmlns:a="http://schemas.openxmlformats.org/drawingml/2006/main">
              <a:ext uri="{FF2B5EF4-FFF2-40B4-BE49-F238E27FC236}">
                <a16:creationId xmlns:a16="http://schemas.microsoft.com/office/drawing/2014/main" id="{2CC09689-5F86-44FC-BF1A-ED905C52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6A5FC5F-AC7D-4D85-AC9A-CAD3336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证据链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788B66-E0FD-4177-B4A8-3853379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42B"/>
                </a:solidFill>
              </a:defRPr>
            </a:pPr>
            <a:r>
              <a:rPr sz="2925" b="1">
                <a:solidFill>
                  <a:srgbClr val="20242B"/>
                </a:solidFill>
              </a:rPr>
              <a:t>可靠结论来自多层证据的相互印证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32FDB7-277F-421B-926E-653DEA0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06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43A4C3-F030-4007-BCD8-4787064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EE95C7-6D03-4C88-8A82-CBD7961B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61521E8-C229-4DDE-9361-B87219FE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D · 石墨靛蓝</a:t>
            </a:r>
          </a:p>
        </p:txBody>
      </p:sp>
      <p:sp>
        <p:nvSpPr>
          <p:cNvPr id="8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1528572E-DF51-449F-AD1C-D3A86F18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99D0"/>
            </a:solidFill>
            <a:prstDash val="solid"/>
          </a:ln>
        </p:spPr>
      </p:sp>
      <p:sp>
        <p:nvSpPr>
          <p:cNvPr id="9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49D4A4D3-B9D0-4757-8E17-639D4D4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99D0"/>
            </a:solidFill>
            <a:prstDash val="solid"/>
          </a:ln>
        </p:spPr>
      </p:sp>
      <p:sp>
        <p:nvSpPr>
          <p:cNvPr id="10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54066164-A0AA-4D06-9A3D-B20FE73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99D0"/>
            </a:solidFill>
            <a:prstDash val="solid"/>
          </a:ln>
        </p:spPr>
      </p:sp>
      <p:sp>
        <p:nvSpPr>
          <p:cNvPr id="11" name="step-circle-0">
            <a:extLst xmlns:a="http://schemas.openxmlformats.org/drawingml/2006/main">
              <a:ext uri="{FF2B5EF4-FFF2-40B4-BE49-F238E27FC236}">
                <a16:creationId xmlns:a16="http://schemas.microsoft.com/office/drawing/2014/main" id="{64DFB9E8-3B41-4285-996B-DD3C4D00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2" name="step-num-0">
            <a:extLst xmlns:a="http://schemas.openxmlformats.org/drawingml/2006/main">
              <a:ext uri="{FF2B5EF4-FFF2-40B4-BE49-F238E27FC236}">
                <a16:creationId xmlns:a16="http://schemas.microsoft.com/office/drawing/2014/main" id="{5F2C5ECB-6132-472C-9A0A-469C0B1E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55A5"/>
                </a:solidFill>
              </a:defRPr>
            </a:pPr>
            <a:r>
              <a:rPr sz="1650" b="1">
                <a:solidFill>
                  <a:srgbClr val="4B55A5"/>
                </a:solidFill>
              </a:rPr>
              <a:t>01</a:t>
            </a:r>
          </a:p>
        </p:txBody>
      </p:sp>
      <p:sp>
        <p:nvSpPr>
          <p:cNvPr id="13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7857D27-335B-43AC-8981-221049C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初筛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4F80671-5A56-4885-8936-BCEBB98A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D626C"/>
                </a:solidFill>
              </a:defRPr>
            </a:pPr>
            <a:r>
              <a:rPr sz="1125">
                <a:solidFill>
                  <a:srgbClr val="5D626C"/>
                </a:solidFill>
              </a:rPr>
              <a:t>探针或高通量读出</a:t>
            </a:r>
          </a:p>
        </p:txBody>
      </p:sp>
      <p:sp>
        <p:nvSpPr>
          <p:cNvPr id="15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FE98F91B-6275-4157-B3AA-628911A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6" name="step-num-1">
            <a:extLst xmlns:a="http://schemas.openxmlformats.org/drawingml/2006/main">
              <a:ext uri="{FF2B5EF4-FFF2-40B4-BE49-F238E27FC236}">
                <a16:creationId xmlns:a16="http://schemas.microsoft.com/office/drawing/2014/main" id="{FE203B2F-FB9D-453C-BAD7-6DE306BF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55A5"/>
                </a:solidFill>
              </a:defRPr>
            </a:pPr>
            <a:r>
              <a:rPr sz="1650" b="1">
                <a:solidFill>
                  <a:srgbClr val="4B55A5"/>
                </a:solidFill>
              </a:rPr>
              <a:t>02</a:t>
            </a:r>
          </a:p>
        </p:txBody>
      </p:sp>
      <p:sp>
        <p:nvSpPr>
          <p:cNvPr id="1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A5A8487-6AD0-4FBC-8695-BD15B3C4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定位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621835E2-541E-455F-B9A0-D601342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D626C"/>
                </a:solidFill>
              </a:defRPr>
            </a:pPr>
            <a:r>
              <a:rPr sz="1125">
                <a:solidFill>
                  <a:srgbClr val="5D626C"/>
                </a:solidFill>
              </a:rPr>
              <a:t>确认异常发生的位置</a:t>
            </a:r>
          </a:p>
        </p:txBody>
      </p:sp>
      <p:sp>
        <p:nvSpPr>
          <p:cNvPr id="19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4C0030E9-4233-46A5-9ADC-07527785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0" name="step-num-2">
            <a:extLst xmlns:a="http://schemas.openxmlformats.org/drawingml/2006/main">
              <a:ext uri="{FF2B5EF4-FFF2-40B4-BE49-F238E27FC236}">
                <a16:creationId xmlns:a16="http://schemas.microsoft.com/office/drawing/2014/main" id="{ADDA642C-C4D6-405D-8831-E0535FF5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357CB9C-4736-47D2-A710-2BA7384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验证</a:t>
            </a:r>
          </a:p>
        </p:txBody>
      </p:sp>
      <p:sp>
        <p:nvSpPr>
          <p:cNvPr id="2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9B00405-7492-4C77-8691-3787C54C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D626C"/>
                </a:solidFill>
              </a:defRPr>
            </a:pPr>
            <a:r>
              <a:rPr sz="1125">
                <a:solidFill>
                  <a:srgbClr val="5D626C"/>
                </a:solidFill>
              </a:rPr>
              <a:t>生化分级或构象证据</a:t>
            </a:r>
          </a:p>
        </p:txBody>
      </p:sp>
      <p:sp>
        <p:nvSpPr>
          <p:cNvPr id="23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CC88DC2D-B60F-4C37-9993-20F59F3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4" name="step-num-3">
            <a:extLst xmlns:a="http://schemas.openxmlformats.org/drawingml/2006/main">
              <a:ext uri="{FF2B5EF4-FFF2-40B4-BE49-F238E27FC236}">
                <a16:creationId xmlns:a16="http://schemas.microsoft.com/office/drawing/2014/main" id="{D5C5202A-31C1-43BF-A716-58433D95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55A5"/>
                </a:solidFill>
              </a:defRPr>
            </a:pPr>
            <a:r>
              <a:rPr sz="1650" b="1">
                <a:solidFill>
                  <a:srgbClr val="4B55A5"/>
                </a:solidFill>
              </a:rPr>
              <a:t>04</a:t>
            </a:r>
          </a:p>
        </p:txBody>
      </p:sp>
      <p:sp>
        <p:nvSpPr>
          <p:cNvPr id="2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54D231FF-4007-4378-8EF2-FCDECEC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解释</a:t>
            </a:r>
          </a:p>
        </p:txBody>
      </p:sp>
      <p:sp>
        <p:nvSpPr>
          <p:cNvPr id="2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C1DAF98-FCED-4C78-AC89-DF56122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D626C"/>
                </a:solidFill>
              </a:defRPr>
            </a:pPr>
            <a:r>
              <a:rPr sz="1125">
                <a:solidFill>
                  <a:srgbClr val="5D626C"/>
                </a:solidFill>
              </a:rPr>
              <a:t>联系细胞功能与表型</a:t>
            </a:r>
          </a:p>
        </p:txBody>
      </p:sp>
    </p:spTree>
    <p:extLst>
      <p:ext uri="{BB962C8B-B14F-4D97-AF65-F5344CB8AC3E}">
        <p14:creationId xmlns:p14="http://schemas.microsoft.com/office/powerpoint/2010/main" val="343646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400090AE-801B-468D-AEBF-951E2594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13B8371-42B1-4110-9596-E45CBAD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总结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F8A77F-7AD8-4A8A-B170-4E482438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42B"/>
                </a:solidFill>
              </a:defRPr>
            </a:pPr>
            <a:r>
              <a:rPr sz="2925" b="1">
                <a:solidFill>
                  <a:srgbClr val="20242B"/>
                </a:solidFill>
              </a:rPr>
              <a:t>结论：先明确对象，再组合互补方法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49FDD8-CEE5-4262-A8EB-86ABA309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07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C14978-A193-4700-9739-CC7A223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3360D9D-09BB-4580-A01B-8A9F02C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DF8E53-25BE-4E67-8394-91BFCA7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D · 石墨靛蓝</a:t>
            </a:r>
          </a:p>
        </p:txBody>
      </p:sp>
      <p:sp>
        <p:nvSpPr>
          <p:cNvPr id="8" name="summary-mark-0">
            <a:extLst xmlns:a="http://schemas.openxmlformats.org/drawingml/2006/main">
              <a:ext uri="{FF2B5EF4-FFF2-40B4-BE49-F238E27FC236}">
                <a16:creationId xmlns:a16="http://schemas.microsoft.com/office/drawing/2014/main" id="{5D3FA30C-7F8C-4C9F-AD1A-853D96E1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title-0">
            <a:extLst xmlns:a="http://schemas.openxmlformats.org/drawingml/2006/main">
              <a:ext uri="{FF2B5EF4-FFF2-40B4-BE49-F238E27FC236}">
                <a16:creationId xmlns:a16="http://schemas.microsoft.com/office/drawing/2014/main" id="{80C09AFD-E9C2-441A-B694-A100BE9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检测对象</a:t>
            </a:r>
          </a:p>
        </p:txBody>
      </p:sp>
      <p:sp>
        <p:nvSpPr>
          <p:cNvPr id="10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E0F96C93-2D41-4D22-AB00-7A1C2147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26C"/>
                </a:solidFill>
              </a:defRPr>
            </a:pPr>
            <a:r>
              <a:rPr sz="1575">
                <a:solidFill>
                  <a:srgbClr val="5D626C"/>
                </a:solidFill>
              </a:rPr>
              <a:t>区分构象变化、聚集体、定位和细胞反应</a:t>
            </a:r>
          </a:p>
        </p:txBody>
      </p:sp>
      <p:sp>
        <p:nvSpPr>
          <p:cNvPr id="11" name="summary-mark-1">
            <a:extLst xmlns:a="http://schemas.openxmlformats.org/drawingml/2006/main">
              <a:ext uri="{FF2B5EF4-FFF2-40B4-BE49-F238E27FC236}">
                <a16:creationId xmlns:a16="http://schemas.microsoft.com/office/drawing/2014/main" id="{E37EDD1D-5133-43A6-BC22-519EFD3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title-1">
            <a:extLst xmlns:a="http://schemas.openxmlformats.org/drawingml/2006/main">
              <a:ext uri="{FF2B5EF4-FFF2-40B4-BE49-F238E27FC236}">
                <a16:creationId xmlns:a16="http://schemas.microsoft.com/office/drawing/2014/main" id="{684C167E-38DE-48B8-A36B-39F189C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证据强度</a:t>
            </a:r>
          </a:p>
        </p:txBody>
      </p:sp>
      <p:sp>
        <p:nvSpPr>
          <p:cNvPr id="13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36C5444F-06D1-4D89-9542-7D9D4985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26C"/>
                </a:solidFill>
              </a:defRPr>
            </a:pPr>
            <a:r>
              <a:rPr sz="1575">
                <a:solidFill>
                  <a:srgbClr val="5D626C"/>
                </a:solidFill>
              </a:rPr>
              <a:t>单一信号用于提示，正交方法用于验证</a:t>
            </a:r>
          </a:p>
        </p:txBody>
      </p:sp>
      <p:sp>
        <p:nvSpPr>
          <p:cNvPr id="14" name="summary-mark-2">
            <a:extLst xmlns:a="http://schemas.openxmlformats.org/drawingml/2006/main">
              <a:ext uri="{FF2B5EF4-FFF2-40B4-BE49-F238E27FC236}">
                <a16:creationId xmlns:a16="http://schemas.microsoft.com/office/drawing/2014/main" id="{4B736B4F-1C0A-4C19-9D62-93C870FA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title-2">
            <a:extLst xmlns:a="http://schemas.openxmlformats.org/drawingml/2006/main">
              <a:ext uri="{FF2B5EF4-FFF2-40B4-BE49-F238E27FC236}">
                <a16:creationId xmlns:a16="http://schemas.microsoft.com/office/drawing/2014/main" id="{F6B41604-9AEF-4618-8684-05154FE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42B"/>
                </a:solidFill>
              </a:defRPr>
            </a:pPr>
            <a:r>
              <a:rPr sz="1650" b="1">
                <a:solidFill>
                  <a:srgbClr val="20242B"/>
                </a:solidFill>
              </a:rPr>
              <a:t>实验选择</a:t>
            </a:r>
          </a:p>
        </p:txBody>
      </p:sp>
      <p:sp>
        <p:nvSpPr>
          <p:cNvPr id="16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94EEF6C7-EA5C-46CB-BD4B-8CE1802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26C"/>
                </a:solidFill>
              </a:defRPr>
            </a:pPr>
            <a:r>
              <a:rPr sz="1575">
                <a:solidFill>
                  <a:srgbClr val="5D626C"/>
                </a:solidFill>
              </a:rPr>
              <a:t>根据样本、尺度和研究问题组合方法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25421752-4F09-433F-9E26-6E98E603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39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8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FB7C201A-3EC1-4B08-8487-2C3A7D54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97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B55A5"/>
                </a:solidFill>
              </a:defRPr>
            </a:pPr>
            <a:r>
              <a:rPr sz="1425" b="1">
                <a:solidFill>
                  <a:srgbClr val="4B55A5"/>
                </a:solidFill>
              </a:rPr>
              <a:t>下一步：用与研究问题匹配的证据组合，减少过度解释。</a:t>
            </a:r>
          </a:p>
        </p:txBody>
      </p:sp>
    </p:spTree>
    <p:extLst>
      <p:ext uri="{BB962C8B-B14F-4D97-AF65-F5344CB8AC3E}">
        <p14:creationId xmlns:p14="http://schemas.microsoft.com/office/powerpoint/2010/main" val="196541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">
            <a:extLst xmlns:a="http://schemas.openxmlformats.org/drawingml/2006/main">
              <a:ext uri="{FF2B5EF4-FFF2-40B4-BE49-F238E27FC236}">
                <a16:creationId xmlns:a16="http://schemas.microsoft.com/office/drawing/2014/main" id="{35F3E58C-DEC9-474D-A631-E21E2736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16A161D-C26C-4071-ABC9-A03587D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A5"/>
                </a:solidFill>
              </a:defRPr>
            </a:pPr>
            <a:r>
              <a:rPr sz="1050" b="1">
                <a:solidFill>
                  <a:srgbClr val="4B55A5"/>
                </a:solidFill>
              </a:rPr>
              <a:t>BACKUP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15460C-CAEA-41AA-BE94-1B7796E6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42B"/>
                </a:solidFill>
              </a:defRPr>
            </a:pPr>
            <a:r>
              <a:rPr sz="2925" b="1">
                <a:solidFill>
                  <a:srgbClr val="20242B"/>
                </a:solidFill>
              </a:rPr>
              <a:t>备用页：关键参数与对照设置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A7B278-DED2-4B52-A948-BE24C2D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A5"/>
                </a:solidFill>
              </a:defRPr>
            </a:pPr>
            <a:r>
              <a:rPr sz="1200" b="1">
                <a:solidFill>
                  <a:srgbClr val="4B55A5"/>
                </a:solidFill>
              </a:rPr>
              <a:t>08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CFB88CA-308D-48E8-B8FF-75581F20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4678D7-567D-4AA5-A015-58D2C66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64A15BE-B595-46FE-A822-13752F1F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994"/>
                </a:solidFill>
              </a:defRPr>
            </a:pPr>
            <a:r>
              <a:rPr sz="825">
                <a:solidFill>
                  <a:srgbClr val="858994"/>
                </a:solidFill>
              </a:rPr>
              <a:t>D · 石墨靛蓝</a:t>
            </a:r>
          </a:p>
        </p:txBody>
      </p:sp>
      <p:sp>
        <p:nvSpPr>
          <p:cNvPr id="8" name="backup-tag">
            <a:extLst xmlns:a="http://schemas.openxmlformats.org/drawingml/2006/main">
              <a:ext uri="{FF2B5EF4-FFF2-40B4-BE49-F238E27FC236}">
                <a16:creationId xmlns:a16="http://schemas.microsoft.com/office/drawing/2014/main" id="{72B95DDC-0F4A-44E4-85E2-9FB6003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198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ckup-tag-text">
            <a:extLst xmlns:a="http://schemas.openxmlformats.org/drawingml/2006/main">
              <a:ext uri="{FF2B5EF4-FFF2-40B4-BE49-F238E27FC236}">
                <a16:creationId xmlns:a16="http://schemas.microsoft.com/office/drawing/2014/main" id="{85C844BD-1BD2-4092-87EB-FE5DAFFE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备用页 · 不计入主汇报</a:t>
            </a:r>
          </a:p>
        </p:txBody>
      </p:sp>
      <p:sp>
        <p:nvSpPr>
          <p:cNvPr id="10" name="backup-field-0">
            <a:extLst xmlns:a="http://schemas.openxmlformats.org/drawingml/2006/main">
              <a:ext uri="{FF2B5EF4-FFF2-40B4-BE49-F238E27FC236}">
                <a16:creationId xmlns:a16="http://schemas.microsoft.com/office/drawing/2014/main" id="{93BB2AB8-0AB6-43AF-8B82-0FA6DA8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1" name="backup-title-0">
            <a:extLst xmlns:a="http://schemas.openxmlformats.org/drawingml/2006/main">
              <a:ext uri="{FF2B5EF4-FFF2-40B4-BE49-F238E27FC236}">
                <a16:creationId xmlns:a16="http://schemas.microsoft.com/office/drawing/2014/main" id="{802FDE3D-24FD-4B15-B186-2AB900C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42B"/>
                </a:solidFill>
              </a:defRPr>
            </a:pPr>
            <a:r>
              <a:rPr sz="1500" b="1">
                <a:solidFill>
                  <a:srgbClr val="20242B"/>
                </a:solidFill>
              </a:rPr>
              <a:t>阳性对照</a:t>
            </a:r>
          </a:p>
        </p:txBody>
      </p:sp>
      <p:sp>
        <p:nvSpPr>
          <p:cNvPr id="12" name="backup-body-0">
            <a:extLst xmlns:a="http://schemas.openxmlformats.org/drawingml/2006/main">
              <a:ext uri="{FF2B5EF4-FFF2-40B4-BE49-F238E27FC236}">
                <a16:creationId xmlns:a16="http://schemas.microsoft.com/office/drawing/2014/main" id="{158189A4-0564-4E21-AC4F-EC88C6A1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26C"/>
                </a:solidFill>
              </a:defRPr>
            </a:pPr>
            <a:r>
              <a:rPr sz="1200">
                <a:solidFill>
                  <a:srgbClr val="5D626C"/>
                </a:solidFill>
              </a:rPr>
              <a:t>已知可形成目标构象或聚集状态的样本</a:t>
            </a:r>
          </a:p>
        </p:txBody>
      </p:sp>
      <p:sp>
        <p:nvSpPr>
          <p:cNvPr id="13" name="backup-field-1">
            <a:extLst xmlns:a="http://schemas.openxmlformats.org/drawingml/2006/main">
              <a:ext uri="{FF2B5EF4-FFF2-40B4-BE49-F238E27FC236}">
                <a16:creationId xmlns:a16="http://schemas.microsoft.com/office/drawing/2014/main" id="{F1426D26-622B-470B-A3E1-D16C2129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4" name="backup-title-1">
            <a:extLst xmlns:a="http://schemas.openxmlformats.org/drawingml/2006/main">
              <a:ext uri="{FF2B5EF4-FFF2-40B4-BE49-F238E27FC236}">
                <a16:creationId xmlns:a16="http://schemas.microsoft.com/office/drawing/2014/main" id="{CEE9DF8F-AACC-4319-854E-DF37D4A0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42B"/>
                </a:solidFill>
              </a:defRPr>
            </a:pPr>
            <a:r>
              <a:rPr sz="1500" b="1">
                <a:solidFill>
                  <a:srgbClr val="20242B"/>
                </a:solidFill>
              </a:rPr>
              <a:t>阴性对照</a:t>
            </a:r>
          </a:p>
        </p:txBody>
      </p:sp>
      <p:sp>
        <p:nvSpPr>
          <p:cNvPr id="15" name="backup-body-1">
            <a:extLst xmlns:a="http://schemas.openxmlformats.org/drawingml/2006/main">
              <a:ext uri="{FF2B5EF4-FFF2-40B4-BE49-F238E27FC236}">
                <a16:creationId xmlns:a16="http://schemas.microsoft.com/office/drawing/2014/main" id="{5D439986-1783-4120-AAA0-659F3648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26C"/>
                </a:solidFill>
              </a:defRPr>
            </a:pPr>
            <a:r>
              <a:rPr sz="1200">
                <a:solidFill>
                  <a:srgbClr val="5D626C"/>
                </a:solidFill>
              </a:rPr>
              <a:t>结构相近但不发生目标变化的样本</a:t>
            </a:r>
          </a:p>
        </p:txBody>
      </p:sp>
      <p:sp>
        <p:nvSpPr>
          <p:cNvPr id="16" name="backup-field-2">
            <a:extLst xmlns:a="http://schemas.openxmlformats.org/drawingml/2006/main">
              <a:ext uri="{FF2B5EF4-FFF2-40B4-BE49-F238E27FC236}">
                <a16:creationId xmlns:a16="http://schemas.microsoft.com/office/drawing/2014/main" id="{22E4AE0B-6384-47A9-BBEE-BD62F6B8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17" name="backup-title-2">
            <a:extLst xmlns:a="http://schemas.openxmlformats.org/drawingml/2006/main">
              <a:ext uri="{FF2B5EF4-FFF2-40B4-BE49-F238E27FC236}">
                <a16:creationId xmlns:a16="http://schemas.microsoft.com/office/drawing/2014/main" id="{EEC23A45-E487-472B-85EC-6AC501B8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42B"/>
                </a:solidFill>
              </a:defRPr>
            </a:pPr>
            <a:r>
              <a:rPr sz="1500" b="1">
                <a:solidFill>
                  <a:srgbClr val="20242B"/>
                </a:solidFill>
              </a:rPr>
              <a:t>技术控制</a:t>
            </a:r>
          </a:p>
        </p:txBody>
      </p:sp>
      <p:sp>
        <p:nvSpPr>
          <p:cNvPr id="18" name="backup-body-2">
            <a:extLst xmlns:a="http://schemas.openxmlformats.org/drawingml/2006/main">
              <a:ext uri="{FF2B5EF4-FFF2-40B4-BE49-F238E27FC236}">
                <a16:creationId xmlns:a16="http://schemas.microsoft.com/office/drawing/2014/main" id="{0864796B-4D5A-477F-877A-7F73A5A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26C"/>
                </a:solidFill>
              </a:defRPr>
            </a:pPr>
            <a:r>
              <a:rPr sz="1200">
                <a:solidFill>
                  <a:srgbClr val="5D626C"/>
                </a:solidFill>
              </a:rPr>
              <a:t>探针浓度、曝光、批次和背景校正</a:t>
            </a:r>
          </a:p>
        </p:txBody>
      </p:sp>
      <p:sp>
        <p:nvSpPr>
          <p:cNvPr id="19" name="backup-field-3">
            <a:extLst xmlns:a="http://schemas.openxmlformats.org/drawingml/2006/main">
              <a:ext uri="{FF2B5EF4-FFF2-40B4-BE49-F238E27FC236}">
                <a16:creationId xmlns:a16="http://schemas.microsoft.com/office/drawing/2014/main" id="{D25ED83C-44F3-46FD-BCB9-278A026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BE1"/>
            </a:solidFill>
            <a:prstDash val="solid"/>
          </a:ln>
        </p:spPr>
      </p:sp>
      <p:sp>
        <p:nvSpPr>
          <p:cNvPr id="20" name="backup-title-3">
            <a:extLst xmlns:a="http://schemas.openxmlformats.org/drawingml/2006/main">
              <a:ext uri="{FF2B5EF4-FFF2-40B4-BE49-F238E27FC236}">
                <a16:creationId xmlns:a16="http://schemas.microsoft.com/office/drawing/2014/main" id="{7D3B6499-799F-421F-9D36-A55CC2A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A5"/>
                </a:solidFill>
              </a:defRPr>
            </a:pPr>
            <a:r>
              <a:rPr sz="1500" b="1">
                <a:solidFill>
                  <a:srgbClr val="4B55A5"/>
                </a:solidFill>
              </a:rPr>
              <a:t>正交验证</a:t>
            </a:r>
          </a:p>
        </p:txBody>
      </p:sp>
      <p:sp>
        <p:nvSpPr>
          <p:cNvPr id="21" name="backup-body-3">
            <a:extLst xmlns:a="http://schemas.openxmlformats.org/drawingml/2006/main">
              <a:ext uri="{FF2B5EF4-FFF2-40B4-BE49-F238E27FC236}">
                <a16:creationId xmlns:a16="http://schemas.microsoft.com/office/drawing/2014/main" id="{B7EC93CD-37A3-4D6C-A9A6-956FA2CC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26C"/>
                </a:solidFill>
              </a:defRPr>
            </a:pPr>
            <a:r>
              <a:rPr sz="1200">
                <a:solidFill>
                  <a:srgbClr val="5D626C"/>
                </a:solidFill>
              </a:rPr>
              <a:t>采用不同原理的方法复核主要结论</a:t>
            </a:r>
          </a:p>
        </p:txBody>
      </p:sp>
    </p:spTree>
    <p:extLst>
      <p:ext uri="{BB962C8B-B14F-4D97-AF65-F5344CB8AC3E}">
        <p14:creationId xmlns:p14="http://schemas.microsoft.com/office/powerpoint/2010/main" val="1856305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2026-08-01T10:25:08.5820000Z</dcterms:created>
  <dcterms:modified xsi:type="dcterms:W3CDTF">2026-08-01T10:25:08.5820000Z</dcterms:modified>
</coreProperties>
</file>