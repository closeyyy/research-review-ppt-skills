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ea1c6fa4ce429b" /><Relationship Type="http://schemas.openxmlformats.org/officeDocument/2006/relationships/extended-properties" Target="/docProps/app.xml" Id="Raa277b1e92334247" /><Relationship Type="http://schemas.openxmlformats.org/officeDocument/2006/relationships/officeDocument" Target="/ppt/presentation.xml" Id="Rc7cc3b068f0a4e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fcb64c106c43a6"/>
  </p:sldMasterIdLst>
  <p:notesMasterIdLst>
    <p:notesMasterId xmlns:r="http://schemas.openxmlformats.org/officeDocument/2006/relationships" r:id="Rc518b2cdaa084bb6"/>
  </p:notesMasterIdLst>
  <p:sldIdLst>
    <p:sldId xmlns:r="http://schemas.openxmlformats.org/officeDocument/2006/relationships" id="256" r:id="R244d209b7f524e7e"/>
    <p:sldId xmlns:r="http://schemas.openxmlformats.org/officeDocument/2006/relationships" id="257" r:id="R6f5fd7eba88e4a2a"/>
    <p:sldId xmlns:r="http://schemas.openxmlformats.org/officeDocument/2006/relationships" id="258" r:id="Re171c6224eb446fb"/>
    <p:sldId xmlns:r="http://schemas.openxmlformats.org/officeDocument/2006/relationships" id="259" r:id="R505eddfb8ff8444f"/>
    <p:sldId xmlns:r="http://schemas.openxmlformats.org/officeDocument/2006/relationships" id="260" r:id="R2b626ba374eb4aba"/>
    <p:sldId xmlns:r="http://schemas.openxmlformats.org/officeDocument/2006/relationships" id="261" r:id="R9f4afd7cd7014aaa"/>
    <p:sldId xmlns:r="http://schemas.openxmlformats.org/officeDocument/2006/relationships" id="262" r:id="R9440e30dd651437e"/>
    <p:sldId xmlns:r="http://schemas.openxmlformats.org/officeDocument/2006/relationships" id="263" r:id="R5cb4098bee6f422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6df936c7e5044b6" /><Relationship Type="http://schemas.openxmlformats.org/officeDocument/2006/relationships/slideMaster" Target="/ppt/slideMasters/slideMaster1.xml" Id="R59fcb64c106c43a6" /><Relationship Type="http://schemas.openxmlformats.org/officeDocument/2006/relationships/notesMaster" Target="/ppt/notesMasters/notesMaster1.xml" Id="Rc518b2cdaa084bb6" /><Relationship Type="http://schemas.openxmlformats.org/officeDocument/2006/relationships/presProps" Target="/ppt/presProps.xml" Id="R944c2a414bd74a69" /><Relationship Type="http://schemas.openxmlformats.org/officeDocument/2006/relationships/tableStyles" Target="/ppt/tableStyles.xml" Id="Rca6d1a13ee37401a" /><Relationship Type="http://schemas.openxmlformats.org/officeDocument/2006/relationships/slide" Target="/ppt/slides/slide1.xml" Id="R244d209b7f524e7e" /><Relationship Type="http://schemas.openxmlformats.org/officeDocument/2006/relationships/slide" Target="/ppt/slides/slide2.xml" Id="R6f5fd7eba88e4a2a" /><Relationship Type="http://schemas.openxmlformats.org/officeDocument/2006/relationships/slide" Target="/ppt/slides/slide3.xml" Id="Re171c6224eb446fb" /><Relationship Type="http://schemas.openxmlformats.org/officeDocument/2006/relationships/slide" Target="/ppt/slides/slide4.xml" Id="R505eddfb8ff8444f" /><Relationship Type="http://schemas.openxmlformats.org/officeDocument/2006/relationships/slide" Target="/ppt/slides/slide5.xml" Id="R2b626ba374eb4aba" /><Relationship Type="http://schemas.openxmlformats.org/officeDocument/2006/relationships/slide" Target="/ppt/slides/slide6.xml" Id="R9f4afd7cd7014aaa" /><Relationship Type="http://schemas.openxmlformats.org/officeDocument/2006/relationships/slide" Target="/ppt/slides/slide7.xml" Id="R9440e30dd651437e" /><Relationship Type="http://schemas.openxmlformats.org/officeDocument/2006/relationships/slide" Target="/ppt/slides/slide8.xml" Id="R5cb4098bee6f42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4183bd57e548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5adc11c15a450d" /><Relationship Type="http://schemas.openxmlformats.org/officeDocument/2006/relationships/notesMaster" Target="/ppt/notesMasters/notesMaster1.xml" Id="R5b4703e46f7a481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7fd24e9f7a14c50" /><Relationship Type="http://schemas.openxmlformats.org/officeDocument/2006/relationships/notesMaster" Target="/ppt/notesMasters/notesMaster1.xml" Id="Ra5c5a69bee2a4f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7c3191241f4b9d" /><Relationship Type="http://schemas.openxmlformats.org/officeDocument/2006/relationships/notesMaster" Target="/ppt/notesMasters/notesMaster1.xml" Id="R6e740fa8baf741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4e38580c85d4375" /><Relationship Type="http://schemas.openxmlformats.org/officeDocument/2006/relationships/notesMaster" Target="/ppt/notesMasters/notesMaster1.xml" Id="Re4ebb999b8074dd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d55370a4948432b" /><Relationship Type="http://schemas.openxmlformats.org/officeDocument/2006/relationships/notesMaster" Target="/ppt/notesMasters/notesMaster1.xml" Id="R53ee6019408141b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c21d0d9f9734662" /><Relationship Type="http://schemas.openxmlformats.org/officeDocument/2006/relationships/notesMaster" Target="/ppt/notesMasters/notesMaster1.xml" Id="Reeb47322a5b1487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44d28e689cd42f6" /><Relationship Type="http://schemas.openxmlformats.org/officeDocument/2006/relationships/notesMaster" Target="/ppt/notesMasters/notesMaster1.xml" Id="R733c52a97200417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0c2a8991bd04717" /><Relationship Type="http://schemas.openxmlformats.org/officeDocument/2006/relationships/notesMaster" Target="/ppt/notesMasters/notesMaster1.xml" Id="R586ace470d9846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9feedf57f342d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7cbe966b85490e" /><Relationship Type="http://schemas.openxmlformats.org/officeDocument/2006/relationships/slideLayout" Target="/ppt/slideLayouts/slideLayout1.xml" Id="R56984a2be90a4e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984a2be90a4e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c4ace8343f4a90" /><Relationship Type="http://schemas.openxmlformats.org/officeDocument/2006/relationships/notesSlide" Target="/ppt/notesSlides/notesSlide1.xml" Id="R141c025d1c3543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8447d2d19a4bb7" /><Relationship Type="http://schemas.openxmlformats.org/officeDocument/2006/relationships/notesSlide" Target="/ppt/notesSlides/notesSlide2.xml" Id="R14de3f86f90d44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c1499b98614aec" /><Relationship Type="http://schemas.openxmlformats.org/officeDocument/2006/relationships/notesSlide" Target="/ppt/notesSlides/notesSlide3.xml" Id="R9fa88a13cfa442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a4579f283a410b" /><Relationship Type="http://schemas.openxmlformats.org/officeDocument/2006/relationships/notesSlide" Target="/ppt/notesSlides/notesSlide4.xml" Id="R0bca09c8f9c640b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8847054bfd46be" /><Relationship Type="http://schemas.openxmlformats.org/officeDocument/2006/relationships/notesSlide" Target="/ppt/notesSlides/notesSlide5.xml" Id="R3a768790f9da4f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3dc60bfac74d37" /><Relationship Type="http://schemas.openxmlformats.org/officeDocument/2006/relationships/notesSlide" Target="/ppt/notesSlides/notesSlide6.xml" Id="R81dac6ed2c824dc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6ff399229643f2" /><Relationship Type="http://schemas.openxmlformats.org/officeDocument/2006/relationships/notesSlide" Target="/ppt/notesSlides/notesSlide7.xml" Id="R71a18f43238d4ab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6fac66ba6f4ff2" /><Relationship Type="http://schemas.openxmlformats.org/officeDocument/2006/relationships/notesSlide" Target="/ppt/notesSlides/notesSlide8.xml" Id="Rbc9354941cd0414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ule">
            <a:extLst xmlns:a="http://schemas.openxmlformats.org/drawingml/2006/main">
              <a:ext uri="{FF2B5EF4-FFF2-40B4-BE49-F238E27FC236}">
                <a16:creationId xmlns:a16="http://schemas.microsoft.com/office/drawing/2014/main" id="{83CD60C6-DEDD-4D01-9BAC-815D02BAC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eck-type">
            <a:extLst xmlns:a="http://schemas.openxmlformats.org/drawingml/2006/main">
              <a:ext uri="{FF2B5EF4-FFF2-40B4-BE49-F238E27FC236}">
                <a16:creationId xmlns:a16="http://schemas.microsoft.com/office/drawing/2014/main" id="{B5F814BB-6550-459C-A94A-511A76ABA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144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95D45"/>
                </a:solidFill>
              </a:defRPr>
            </a:pPr>
            <a:r>
              <a:rPr sz="1275" b="1">
                <a:solidFill>
                  <a:srgbClr val="D95D45"/>
                </a:solidFill>
              </a:rPr>
              <a:t>文献与方法综述</a:t>
            </a:r>
          </a:p>
        </p:txBody>
      </p:sp>
      <p:sp>
        <p:nvSpPr>
          <p:cNvPr id="3" name="deck-title">
            <a:extLst xmlns:a="http://schemas.openxmlformats.org/drawingml/2006/main">
              <a:ext uri="{FF2B5EF4-FFF2-40B4-BE49-F238E27FC236}">
                <a16:creationId xmlns:a16="http://schemas.microsoft.com/office/drawing/2014/main" id="{D8BF25D5-FA1B-43D6-9B7A-026B175B4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7524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252B33"/>
                </a:solidFill>
              </a:defRPr>
            </a:pPr>
            <a:r>
              <a:rPr sz="3900" b="1">
                <a:solidFill>
                  <a:srgbClr val="252B33"/>
                </a:solidFill>
              </a:rPr>
              <a:t>研究主题：从生物学问题</a:t>
            </a:r>
          </a:p>
          <a:p xmlns:a="http://schemas.openxmlformats.org/drawingml/2006/main">
            <a:pPr>
              <a:defRPr sz="3900" b="1">
                <a:solidFill>
                  <a:srgbClr val="252B33"/>
                </a:solidFill>
              </a:defRPr>
            </a:pPr>
            <a:r>
              <a:rPr sz="3900" b="1">
                <a:solidFill>
                  <a:srgbClr val="252B33"/>
                </a:solidFill>
              </a:rPr>
              <a:t>到可验证的证据链</a:t>
            </a:r>
          </a:p>
        </p:txBody>
      </p:sp>
      <p:sp>
        <p:nvSpPr>
          <p:cNvPr id="4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4441B24B-CC17-4994-8490-64C0224E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733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F6670"/>
                </a:solidFill>
              </a:defRPr>
            </a:pPr>
            <a:r>
              <a:rPr sz="1725">
                <a:solidFill>
                  <a:srgbClr val="5F6670"/>
                </a:solidFill>
              </a:rPr>
              <a:t>围绕机制、方法与应用案例建立清晰的综述框架</a:t>
            </a:r>
          </a:p>
        </p:txBody>
      </p:sp>
      <p:sp>
        <p:nvSpPr>
          <p:cNvPr id="5" name="accent-block">
            <a:extLst xmlns:a="http://schemas.openxmlformats.org/drawingml/2006/main">
              <a:ext uri="{FF2B5EF4-FFF2-40B4-BE49-F238E27FC236}">
                <a16:creationId xmlns:a16="http://schemas.microsoft.com/office/drawing/2014/main" id="{4D0DFC57-C2A4-4B51-8DC4-8708EDE75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390650"/>
            <a:ext cx="1962150" cy="37147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BF5F2"/>
          </a:solidFill>
          <a:ln xmlns:a="http://schemas.openxmlformats.org/drawingml/2006/main" w="9525">
            <a:solidFill>
              <a:srgbClr val="E8DAD5"/>
            </a:solidFill>
            <a:prstDash val="solid"/>
          </a:ln>
        </p:spPr>
      </p:sp>
      <p:sp>
        <p:nvSpPr>
          <p:cNvPr id="6" name="motif-1">
            <a:extLst xmlns:a="http://schemas.openxmlformats.org/drawingml/2006/main">
              <a:ext uri="{FF2B5EF4-FFF2-40B4-BE49-F238E27FC236}">
                <a16:creationId xmlns:a16="http://schemas.microsoft.com/office/drawing/2014/main" id="{BF1E7A10-4764-4D45-BD8A-77AC2BCB2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8097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otif-2">
            <a:extLst xmlns:a="http://schemas.openxmlformats.org/drawingml/2006/main">
              <a:ext uri="{FF2B5EF4-FFF2-40B4-BE49-F238E27FC236}">
                <a16:creationId xmlns:a16="http://schemas.microsoft.com/office/drawing/2014/main" id="{071EE377-635D-4F94-B503-2D67E7009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5527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A2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otif-3">
            <a:extLst xmlns:a="http://schemas.openxmlformats.org/drawingml/2006/main">
              <a:ext uri="{FF2B5EF4-FFF2-40B4-BE49-F238E27FC236}">
                <a16:creationId xmlns:a16="http://schemas.microsoft.com/office/drawing/2014/main" id="{6FC3B3D5-EF5A-4004-A8E6-A9B23733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27660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5D45"/>
            </a:solidFill>
            <a:prstDash val="solid"/>
          </a:ln>
        </p:spPr>
      </p:sp>
      <p:sp>
        <p:nvSpPr>
          <p:cNvPr id="9" name="author">
            <a:extLst xmlns:a="http://schemas.openxmlformats.org/drawingml/2006/main">
              <a:ext uri="{FF2B5EF4-FFF2-40B4-BE49-F238E27FC236}">
                <a16:creationId xmlns:a16="http://schemas.microsoft.com/office/drawing/2014/main" id="{9171EC87-764D-4DEE-A943-E72176A30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53050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F6670"/>
                </a:solidFill>
              </a:defRPr>
            </a:pPr>
            <a:r>
              <a:rPr sz="1275">
                <a:solidFill>
                  <a:srgbClr val="5F6670"/>
                </a:solidFill>
              </a:rPr>
              <a:t>汇报人｜课题组｜日期</a:t>
            </a:r>
          </a:p>
        </p:txBody>
      </p:sp>
      <p:sp>
        <p:nvSpPr>
          <p:cNvPr id="10" name="palette">
            <a:extLst xmlns:a="http://schemas.openxmlformats.org/drawingml/2006/main">
              <a:ext uri="{FF2B5EF4-FFF2-40B4-BE49-F238E27FC236}">
                <a16:creationId xmlns:a16="http://schemas.microsoft.com/office/drawing/2014/main" id="{85EEB3DF-2A30-4F18-87FD-A945B181F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41020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95D45"/>
                </a:solidFill>
              </a:defRPr>
            </a:pPr>
            <a:r>
              <a:rPr sz="1050" b="1">
                <a:solidFill>
                  <a:srgbClr val="D95D45"/>
                </a:solidFill>
              </a:rPr>
              <a:t>C  编辑珊瑚</a:t>
            </a:r>
          </a:p>
        </p:txBody>
      </p:sp>
    </p:spTree>
    <p:extLst>
      <p:ext uri="{BB962C8B-B14F-4D97-AF65-F5344CB8AC3E}">
        <p14:creationId xmlns:p14="http://schemas.microsoft.com/office/powerpoint/2010/main" val="9099331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ide-rule">
            <a:extLst xmlns:a="http://schemas.openxmlformats.org/drawingml/2006/main">
              <a:ext uri="{FF2B5EF4-FFF2-40B4-BE49-F238E27FC236}">
                <a16:creationId xmlns:a16="http://schemas.microsoft.com/office/drawing/2014/main" id="{0C6E54D7-E701-4098-B675-E6C465F6C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95BB91B2-C019-4037-8D98-D794F467E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85850"/>
            <a:ext cx="152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D95D45"/>
                </a:solidFill>
              </a:defRPr>
            </a:pPr>
            <a:r>
              <a:rPr sz="5400" b="1">
                <a:solidFill>
                  <a:srgbClr val="D95D45"/>
                </a:solidFill>
              </a:rPr>
              <a:t>01</a:t>
            </a:r>
          </a:p>
        </p:txBody>
      </p:sp>
      <p:sp>
        <p:nvSpPr>
          <p:cNvPr id="3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654E61F6-00D8-4631-8C4C-A34969BFD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704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252B33"/>
                </a:solidFill>
              </a:defRPr>
            </a:pPr>
            <a:r>
              <a:rPr sz="3750" b="1">
                <a:solidFill>
                  <a:srgbClr val="252B33"/>
                </a:solidFill>
              </a:rPr>
              <a:t>问题与研究边界</a:t>
            </a:r>
          </a:p>
        </p:txBody>
      </p:sp>
      <p:sp>
        <p:nvSpPr>
          <p:cNvPr id="4" name="section-subtitle">
            <a:extLst xmlns:a="http://schemas.openxmlformats.org/drawingml/2006/main">
              <a:ext uri="{FF2B5EF4-FFF2-40B4-BE49-F238E27FC236}">
                <a16:creationId xmlns:a16="http://schemas.microsoft.com/office/drawing/2014/main" id="{BC0EE274-ADD4-4571-9638-73EF22E9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F6670"/>
                </a:solidFill>
              </a:defRPr>
            </a:pPr>
            <a:r>
              <a:rPr sz="1725">
                <a:solidFill>
                  <a:srgbClr val="5F6670"/>
                </a:solidFill>
              </a:rPr>
              <a:t>先明确要检测的对象，再讨论方法是否合适</a:t>
            </a:r>
          </a:p>
        </p:txBody>
      </p:sp>
      <p:sp>
        <p:nvSpPr>
          <p:cNvPr id="5" name="section-field">
            <a:extLst xmlns:a="http://schemas.openxmlformats.org/drawingml/2006/main">
              <a:ext uri="{FF2B5EF4-FFF2-40B4-BE49-F238E27FC236}">
                <a16:creationId xmlns:a16="http://schemas.microsoft.com/office/drawing/2014/main" id="{28794BC7-4561-4E2D-848D-543673961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971550"/>
            <a:ext cx="2647950" cy="476250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BF5F2"/>
          </a:solidFill>
          <a:ln xmlns:a="http://schemas.openxmlformats.org/drawingml/2006/main" w="9525">
            <a:solidFill>
              <a:srgbClr val="E8DAD5"/>
            </a:solidFill>
            <a:prstDash val="solid"/>
          </a:ln>
        </p:spPr>
      </p:sp>
      <p:sp>
        <p:nvSpPr>
          <p:cNvPr id="6" name="section-prompt">
            <a:extLst xmlns:a="http://schemas.openxmlformats.org/drawingml/2006/main">
              <a:ext uri="{FF2B5EF4-FFF2-40B4-BE49-F238E27FC236}">
                <a16:creationId xmlns:a16="http://schemas.microsoft.com/office/drawing/2014/main" id="{D7A8B106-10AE-4F40-97BC-148A6FB7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6383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95D45"/>
                </a:solidFill>
              </a:defRPr>
            </a:pPr>
            <a:r>
              <a:rPr sz="1125" b="1">
                <a:solidFill>
                  <a:srgbClr val="D95D45"/>
                </a:solidFill>
              </a:rPr>
              <a:t>本节回答</a:t>
            </a:r>
          </a:p>
        </p:txBody>
      </p:sp>
      <p:sp>
        <p:nvSpPr>
          <p:cNvPr id="7" name="section-question">
            <a:extLst xmlns:a="http://schemas.openxmlformats.org/drawingml/2006/main">
              <a:ext uri="{FF2B5EF4-FFF2-40B4-BE49-F238E27FC236}">
                <a16:creationId xmlns:a16="http://schemas.microsoft.com/office/drawing/2014/main" id="{81A388F1-4020-471E-A8B1-C69F295EC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71700"/>
            <a:ext cx="19431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52B33"/>
                </a:solidFill>
              </a:defRPr>
            </a:pPr>
            <a:r>
              <a:rPr sz="1575" b="1">
                <a:solidFill>
                  <a:srgbClr val="252B33"/>
                </a:solidFill>
              </a:rPr>
              <a:t>• 研究对象是什么</a:t>
            </a:r>
          </a:p>
          <a:p xmlns:a="http://schemas.openxmlformats.org/drawingml/2006/main">
            <a:pPr>
              <a:defRPr sz="1575" b="1">
                <a:solidFill>
                  <a:srgbClr val="252B33"/>
                </a:solidFill>
              </a:defRPr>
            </a:pPr>
            <a:r>
              <a:rPr sz="1575" b="1">
                <a:solidFill>
                  <a:srgbClr val="252B33"/>
                </a:solidFill>
              </a:rPr>
              <a:t>• 直接证据有哪些</a:t>
            </a:r>
          </a:p>
          <a:p xmlns:a="http://schemas.openxmlformats.org/drawingml/2006/main">
            <a:pPr>
              <a:defRPr sz="1575" b="1">
                <a:solidFill>
                  <a:srgbClr val="252B33"/>
                </a:solidFill>
              </a:defRPr>
            </a:pPr>
            <a:r>
              <a:rPr sz="1575" b="1">
                <a:solidFill>
                  <a:srgbClr val="252B33"/>
                </a:solidFill>
              </a:rPr>
              <a:t>• 哪些只是间接指标</a:t>
            </a:r>
          </a:p>
        </p:txBody>
      </p:sp>
    </p:spTree>
    <p:extLst>
      <p:ext uri="{BB962C8B-B14F-4D97-AF65-F5344CB8AC3E}">
        <p14:creationId xmlns:p14="http://schemas.microsoft.com/office/powerpoint/2010/main" val="10911133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op-rule">
            <a:extLst xmlns:a="http://schemas.openxmlformats.org/drawingml/2006/main">
              <a:ext uri="{FF2B5EF4-FFF2-40B4-BE49-F238E27FC236}">
                <a16:creationId xmlns:a16="http://schemas.microsoft.com/office/drawing/2014/main" id="{165762B0-8BB7-4C28-8865-5ED966942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0B561912-EAA1-45EB-B2A5-9DE661CAF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95D45"/>
                </a:solidFill>
              </a:defRPr>
            </a:pPr>
            <a:r>
              <a:rPr sz="1050" b="1">
                <a:solidFill>
                  <a:srgbClr val="D95D45"/>
                </a:solidFill>
              </a:rPr>
              <a:t>概念框架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DA25D0C-488B-4C65-889E-7DD1BB319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52B33"/>
                </a:solidFill>
              </a:defRPr>
            </a:pPr>
            <a:r>
              <a:rPr sz="2925" b="1">
                <a:solidFill>
                  <a:srgbClr val="252B33"/>
                </a:solidFill>
              </a:rPr>
              <a:t>先区分检测对象，再选择实验方法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3824344-9A75-47B5-A31E-B4273392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8286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D95D45"/>
                </a:solidFill>
              </a:defRPr>
            </a:pPr>
            <a:r>
              <a:rPr sz="1200" b="1">
                <a:solidFill>
                  <a:srgbClr val="D95D45"/>
                </a:solidFill>
              </a:rPr>
              <a:t>03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1339C82-3226-47F5-8880-CC74EC2DF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A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7186DF4-722B-424E-B306-C23BEFA9A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58B93"/>
                </a:solidFill>
              </a:defRPr>
            </a:pPr>
            <a:r>
              <a:rPr sz="825">
                <a:solidFill>
                  <a:srgbClr val="858B93"/>
                </a:solidFill>
              </a:rPr>
              <a:t>综述型组会 · 示例版式</a:t>
            </a:r>
          </a:p>
        </p:txBody>
      </p:sp>
      <p:sp>
        <p:nvSpPr>
          <p:cNvPr id="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E5919702-5EDF-430C-B2F7-F38C03DD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858B93"/>
                </a:solidFill>
              </a:defRPr>
            </a:pPr>
            <a:r>
              <a:rPr sz="825">
                <a:solidFill>
                  <a:srgbClr val="858B93"/>
                </a:solidFill>
              </a:rPr>
              <a:t>C · 编辑珊瑚</a:t>
            </a:r>
          </a:p>
        </p:txBody>
      </p:sp>
      <p:sp>
        <p:nvSpPr>
          <p:cNvPr id="8" name="subtitle">
            <a:extLst xmlns:a="http://schemas.openxmlformats.org/drawingml/2006/main">
              <a:ext uri="{FF2B5EF4-FFF2-40B4-BE49-F238E27FC236}">
                <a16:creationId xmlns:a16="http://schemas.microsoft.com/office/drawing/2014/main" id="{F04F13C4-A79B-42BE-BA55-C16F813D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670"/>
                </a:solidFill>
              </a:defRPr>
            </a:pPr>
            <a:r>
              <a:rPr sz="1350">
                <a:solidFill>
                  <a:srgbClr val="5F6670"/>
                </a:solidFill>
              </a:rPr>
              <a:t>同一信号可能对应不同层级的生物学变化</a:t>
            </a:r>
          </a:p>
        </p:txBody>
      </p:sp>
      <p:sp>
        <p:nvSpPr>
          <p:cNvPr id="9" name="concept-field-0">
            <a:extLst xmlns:a="http://schemas.openxmlformats.org/drawingml/2006/main">
              <a:ext uri="{FF2B5EF4-FFF2-40B4-BE49-F238E27FC236}">
                <a16:creationId xmlns:a16="http://schemas.microsoft.com/office/drawing/2014/main" id="{D6A84DAC-7EBC-4F25-9BBF-51BE1F6E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27660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BF5F2"/>
          </a:solidFill>
          <a:ln xmlns:a="http://schemas.openxmlformats.org/drawingml/2006/main" w="9525">
            <a:solidFill>
              <a:srgbClr val="E8DAD5"/>
            </a:solidFill>
            <a:prstDash val="solid"/>
          </a:ln>
        </p:spPr>
      </p:sp>
      <p:sp>
        <p:nvSpPr>
          <p:cNvPr id="10" name="concept-number-bg-0">
            <a:extLst xmlns:a="http://schemas.openxmlformats.org/drawingml/2006/main">
              <a:ext uri="{FF2B5EF4-FFF2-40B4-BE49-F238E27FC236}">
                <a16:creationId xmlns:a16="http://schemas.microsoft.com/office/drawing/2014/main" id="{EB66362E-C165-4624-BB87-4C7711E82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14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9525">
            <a:solidFill>
              <a:srgbClr val="E8DAD5"/>
            </a:solidFill>
            <a:prstDash val="solid"/>
          </a:ln>
        </p:spPr>
      </p:sp>
      <p:sp>
        <p:nvSpPr>
          <p:cNvPr id="11" name="concept-number-0">
            <a:extLst xmlns:a="http://schemas.openxmlformats.org/drawingml/2006/main">
              <a:ext uri="{FF2B5EF4-FFF2-40B4-BE49-F238E27FC236}">
                <a16:creationId xmlns:a16="http://schemas.microsoft.com/office/drawing/2014/main" id="{040BA44B-27D7-4069-ADAC-D7E00C7B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908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concept-title-0">
            <a:extLst xmlns:a="http://schemas.openxmlformats.org/drawingml/2006/main">
              <a:ext uri="{FF2B5EF4-FFF2-40B4-BE49-F238E27FC236}">
                <a16:creationId xmlns:a16="http://schemas.microsoft.com/office/drawing/2014/main" id="{6FCD3DF6-9422-4BF5-9949-25091F96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194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2B33"/>
                </a:solidFill>
              </a:defRPr>
            </a:pPr>
            <a:r>
              <a:rPr sz="1875" b="1">
                <a:solidFill>
                  <a:srgbClr val="252B33"/>
                </a:solidFill>
              </a:rPr>
              <a:t>分子状态</a:t>
            </a:r>
          </a:p>
        </p:txBody>
      </p:sp>
      <p:sp>
        <p:nvSpPr>
          <p:cNvPr id="13" name="concept-body-0">
            <a:extLst xmlns:a="http://schemas.openxmlformats.org/drawingml/2006/main">
              <a:ext uri="{FF2B5EF4-FFF2-40B4-BE49-F238E27FC236}">
                <a16:creationId xmlns:a16="http://schemas.microsoft.com/office/drawing/2014/main" id="{5C8890F7-B4B0-44F0-8779-9247B890B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48100"/>
            <a:ext cx="2647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670"/>
                </a:solidFill>
              </a:defRPr>
            </a:pPr>
            <a:r>
              <a:rPr sz="1350">
                <a:solidFill>
                  <a:srgbClr val="5F6670"/>
                </a:solidFill>
              </a:rPr>
              <a:t>构象变化、错误折叠、聚集体形成</a:t>
            </a:r>
          </a:p>
        </p:txBody>
      </p:sp>
      <p:sp>
        <p:nvSpPr>
          <p:cNvPr id="14" name="concept-field-1">
            <a:extLst xmlns:a="http://schemas.openxmlformats.org/drawingml/2006/main">
              <a:ext uri="{FF2B5EF4-FFF2-40B4-BE49-F238E27FC236}">
                <a16:creationId xmlns:a16="http://schemas.microsoft.com/office/drawing/2014/main" id="{72A6FD6C-7795-4923-89AF-72379B124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190750"/>
            <a:ext cx="327660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AD5"/>
            </a:solidFill>
            <a:prstDash val="solid"/>
          </a:ln>
        </p:spPr>
      </p:sp>
      <p:sp>
        <p:nvSpPr>
          <p:cNvPr id="15" name="concept-number-bg-1">
            <a:extLst xmlns:a="http://schemas.openxmlformats.org/drawingml/2006/main">
              <a:ext uri="{FF2B5EF4-FFF2-40B4-BE49-F238E27FC236}">
                <a16:creationId xmlns:a16="http://schemas.microsoft.com/office/drawing/2014/main" id="{7C6ED2E3-2FB2-4895-826D-680E1BEB6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514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5F2"/>
          </a:solidFill>
          <a:ln xmlns:a="http://schemas.openxmlformats.org/drawingml/2006/main" w="9525">
            <a:solidFill>
              <a:srgbClr val="E8DAD5"/>
            </a:solidFill>
            <a:prstDash val="solid"/>
          </a:ln>
        </p:spPr>
      </p:sp>
      <p:sp>
        <p:nvSpPr>
          <p:cNvPr id="16" name="concept-number-1">
            <a:extLst xmlns:a="http://schemas.openxmlformats.org/drawingml/2006/main">
              <a:ext uri="{FF2B5EF4-FFF2-40B4-BE49-F238E27FC236}">
                <a16:creationId xmlns:a16="http://schemas.microsoft.com/office/drawing/2014/main" id="{453019E0-DA74-47B1-AF56-729BE018F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5908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95D45"/>
                </a:solidFill>
              </a:defRPr>
            </a:pPr>
            <a:r>
              <a:rPr sz="1275" b="1">
                <a:solidFill>
                  <a:srgbClr val="D95D45"/>
                </a:solidFill>
              </a:rPr>
              <a:t>2</a:t>
            </a:r>
          </a:p>
        </p:txBody>
      </p:sp>
      <p:sp>
        <p:nvSpPr>
          <p:cNvPr id="17" name="concept-title-1">
            <a:extLst xmlns:a="http://schemas.openxmlformats.org/drawingml/2006/main">
              <a:ext uri="{FF2B5EF4-FFF2-40B4-BE49-F238E27FC236}">
                <a16:creationId xmlns:a16="http://schemas.microsoft.com/office/drawing/2014/main" id="{D09B7CBD-5B58-47E4-B52C-A5B7754F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2194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2B33"/>
                </a:solidFill>
              </a:defRPr>
            </a:pPr>
            <a:r>
              <a:rPr sz="1875" b="1">
                <a:solidFill>
                  <a:srgbClr val="252B33"/>
                </a:solidFill>
              </a:rPr>
              <a:t>细胞定位</a:t>
            </a:r>
          </a:p>
        </p:txBody>
      </p:sp>
      <p:sp>
        <p:nvSpPr>
          <p:cNvPr id="18" name="concept-body-1">
            <a:extLst xmlns:a="http://schemas.openxmlformats.org/drawingml/2006/main">
              <a:ext uri="{FF2B5EF4-FFF2-40B4-BE49-F238E27FC236}">
                <a16:creationId xmlns:a16="http://schemas.microsoft.com/office/drawing/2014/main" id="{42A451A4-1F2E-489A-8374-CABA0AC86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848100"/>
            <a:ext cx="2647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670"/>
                </a:solidFill>
              </a:defRPr>
            </a:pPr>
            <a:r>
              <a:rPr sz="1350">
                <a:solidFill>
                  <a:srgbClr val="5F6670"/>
                </a:solidFill>
              </a:rPr>
              <a:t>胞质、细胞器或特定亚细胞区域</a:t>
            </a:r>
          </a:p>
        </p:txBody>
      </p:sp>
      <p:sp>
        <p:nvSpPr>
          <p:cNvPr id="19" name="concept-field-2">
            <a:extLst xmlns:a="http://schemas.openxmlformats.org/drawingml/2006/main">
              <a:ext uri="{FF2B5EF4-FFF2-40B4-BE49-F238E27FC236}">
                <a16:creationId xmlns:a16="http://schemas.microsoft.com/office/drawing/2014/main" id="{379E1E17-6F10-4217-A551-2490ACCDC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90750"/>
            <a:ext cx="327660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AD5"/>
            </a:solidFill>
            <a:prstDash val="solid"/>
          </a:ln>
        </p:spPr>
      </p:sp>
      <p:sp>
        <p:nvSpPr>
          <p:cNvPr id="20" name="concept-number-bg-2">
            <a:extLst xmlns:a="http://schemas.openxmlformats.org/drawingml/2006/main">
              <a:ext uri="{FF2B5EF4-FFF2-40B4-BE49-F238E27FC236}">
                <a16:creationId xmlns:a16="http://schemas.microsoft.com/office/drawing/2014/main" id="{290B95B4-B0C4-49CD-B529-762BDB551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14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5F2"/>
          </a:solidFill>
          <a:ln xmlns:a="http://schemas.openxmlformats.org/drawingml/2006/main" w="9525">
            <a:solidFill>
              <a:srgbClr val="E8DAD5"/>
            </a:solidFill>
            <a:prstDash val="solid"/>
          </a:ln>
        </p:spPr>
      </p:sp>
      <p:sp>
        <p:nvSpPr>
          <p:cNvPr id="21" name="concept-number-2">
            <a:extLst xmlns:a="http://schemas.openxmlformats.org/drawingml/2006/main">
              <a:ext uri="{FF2B5EF4-FFF2-40B4-BE49-F238E27FC236}">
                <a16:creationId xmlns:a16="http://schemas.microsoft.com/office/drawing/2014/main" id="{D07E8713-6B74-48DE-B542-0D454E787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908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95D45"/>
                </a:solidFill>
              </a:defRPr>
            </a:pPr>
            <a:r>
              <a:rPr sz="1275" b="1">
                <a:solidFill>
                  <a:srgbClr val="D95D45"/>
                </a:solidFill>
              </a:rPr>
              <a:t>3</a:t>
            </a:r>
          </a:p>
        </p:txBody>
      </p:sp>
      <p:sp>
        <p:nvSpPr>
          <p:cNvPr id="22" name="concept-title-2">
            <a:extLst xmlns:a="http://schemas.openxmlformats.org/drawingml/2006/main">
              <a:ext uri="{FF2B5EF4-FFF2-40B4-BE49-F238E27FC236}">
                <a16:creationId xmlns:a16="http://schemas.microsoft.com/office/drawing/2014/main" id="{2D128EC9-67E0-4D77-80AE-3E0F9276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194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2B33"/>
                </a:solidFill>
              </a:defRPr>
            </a:pPr>
            <a:r>
              <a:rPr sz="1875" b="1">
                <a:solidFill>
                  <a:srgbClr val="252B33"/>
                </a:solidFill>
              </a:rPr>
              <a:t>功能后果</a:t>
            </a:r>
          </a:p>
        </p:txBody>
      </p:sp>
      <p:sp>
        <p:nvSpPr>
          <p:cNvPr id="23" name="concept-body-2">
            <a:extLst xmlns:a="http://schemas.openxmlformats.org/drawingml/2006/main">
              <a:ext uri="{FF2B5EF4-FFF2-40B4-BE49-F238E27FC236}">
                <a16:creationId xmlns:a16="http://schemas.microsoft.com/office/drawing/2014/main" id="{3A7203C5-0B5F-400C-9194-3EF59DCF6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48100"/>
            <a:ext cx="2647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670"/>
                </a:solidFill>
              </a:defRPr>
            </a:pPr>
            <a:r>
              <a:rPr sz="1350">
                <a:solidFill>
                  <a:srgbClr val="5F6670"/>
                </a:solidFill>
              </a:rPr>
              <a:t>应激反应、降解障碍或细胞毒性</a:t>
            </a:r>
          </a:p>
        </p:txBody>
      </p:sp>
    </p:spTree>
    <p:extLst>
      <p:ext uri="{BB962C8B-B14F-4D97-AF65-F5344CB8AC3E}">
        <p14:creationId xmlns:p14="http://schemas.microsoft.com/office/powerpoint/2010/main" val="1239623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rule">
            <a:extLst xmlns:a="http://schemas.openxmlformats.org/drawingml/2006/main">
              <a:ext uri="{FF2B5EF4-FFF2-40B4-BE49-F238E27FC236}">
                <a16:creationId xmlns:a16="http://schemas.microsoft.com/office/drawing/2014/main" id="{8607D868-EEAE-471B-9381-E545DDEEE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200BB6AF-2CFB-4E32-A5B5-471B39F2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95D45"/>
                </a:solidFill>
              </a:defRPr>
            </a:pPr>
            <a:r>
              <a:rPr sz="1050" b="1">
                <a:solidFill>
                  <a:srgbClr val="D95D45"/>
                </a:solidFill>
              </a:rPr>
              <a:t>应用案例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C49B940-E99F-4EA1-B2C4-38CDE6A24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52B33"/>
                </a:solidFill>
              </a:defRPr>
            </a:pPr>
            <a:r>
              <a:rPr sz="2925" b="1">
                <a:solidFill>
                  <a:srgbClr val="252B33"/>
                </a:solidFill>
              </a:rPr>
              <a:t>文献图应服务于一个明确判断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A2182FB-C30E-480B-A17A-1A1A1A43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8286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D95D45"/>
                </a:solidFill>
              </a:defRPr>
            </a:pPr>
            <a:r>
              <a:rPr sz="1200" b="1">
                <a:solidFill>
                  <a:srgbClr val="D95D45"/>
                </a:solidFill>
              </a:rPr>
              <a:t>04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9ADC98D-8D7E-4DC5-89CD-1A2917E5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A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2828495-608C-4281-BED8-8F6B0B26F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58B93"/>
                </a:solidFill>
              </a:defRPr>
            </a:pPr>
            <a:r>
              <a:rPr sz="825">
                <a:solidFill>
                  <a:srgbClr val="858B93"/>
                </a:solidFill>
              </a:rPr>
              <a:t>综述型组会 · 示例版式</a:t>
            </a:r>
          </a:p>
        </p:txBody>
      </p:sp>
      <p:sp>
        <p:nvSpPr>
          <p:cNvPr id="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DA5BEA7C-CF4C-4A3F-90AE-4F428374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858B93"/>
                </a:solidFill>
              </a:defRPr>
            </a:pPr>
            <a:r>
              <a:rPr sz="825">
                <a:solidFill>
                  <a:srgbClr val="858B93"/>
                </a:solidFill>
              </a:rPr>
              <a:t>C · 编辑珊瑚</a:t>
            </a:r>
          </a:p>
        </p:txBody>
      </p:sp>
      <p:sp>
        <p:nvSpPr>
          <p:cNvPr id="8" name="figure-frame">
            <a:extLst xmlns:a="http://schemas.openxmlformats.org/drawingml/2006/main">
              <a:ext uri="{FF2B5EF4-FFF2-40B4-BE49-F238E27FC236}">
                <a16:creationId xmlns:a16="http://schemas.microsoft.com/office/drawing/2014/main" id="{9B06B802-4D74-4869-9F32-D343BCAA6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6400800" cy="3600450"/>
          </a:xfrm>
          <a:prstGeom xmlns:a="http://schemas.openxmlformats.org/drawingml/2006/main" prst="roundRect">
            <a:avLst>
              <a:gd name="adj" fmla="val 2116"/>
            </a:avLst>
          </a:prstGeom>
          <a:solidFill xmlns:a="http://schemas.openxmlformats.org/drawingml/2006/main">
            <a:srgbClr val="FAFBFC"/>
          </a:solidFill>
          <a:ln xmlns:a="http://schemas.openxmlformats.org/drawingml/2006/main" w="9525">
            <a:solidFill>
              <a:srgbClr val="E8DAD5"/>
            </a:solidFill>
            <a:prstDash val="solid"/>
          </a:ln>
        </p:spPr>
      </p:sp>
      <p:sp>
        <p:nvSpPr>
          <p:cNvPr id="9" name="figure-label">
            <a:extLst xmlns:a="http://schemas.openxmlformats.org/drawingml/2006/main">
              <a:ext uri="{FF2B5EF4-FFF2-40B4-BE49-F238E27FC236}">
                <a16:creationId xmlns:a16="http://schemas.microsoft.com/office/drawing/2014/main" id="{A30D6180-3BE7-4F34-9854-0A79FA5F8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219450"/>
            <a:ext cx="297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858B93"/>
                </a:solidFill>
              </a:defRPr>
            </a:pPr>
            <a:r>
              <a:rPr sz="1950" b="1">
                <a:solidFill>
                  <a:srgbClr val="858B93"/>
                </a:solidFill>
              </a:rPr>
              <a:t>文献图 / 实验图</a:t>
            </a:r>
          </a:p>
        </p:txBody>
      </p:sp>
      <p:sp>
        <p:nvSpPr>
          <p:cNvPr id="10" name="figure-source">
            <a:extLst xmlns:a="http://schemas.openxmlformats.org/drawingml/2006/main">
              <a:ext uri="{FF2B5EF4-FFF2-40B4-BE49-F238E27FC236}">
                <a16:creationId xmlns:a16="http://schemas.microsoft.com/office/drawing/2014/main" id="{6A8D51F2-B3B2-411E-90BD-FE0307407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7909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858B93"/>
                </a:solidFill>
              </a:defRPr>
            </a:pPr>
            <a:r>
              <a:rPr sz="1050">
                <a:solidFill>
                  <a:srgbClr val="858B93"/>
                </a:solidFill>
              </a:rPr>
              <a:t>图源与面板说明置于图下或备注区</a:t>
            </a:r>
          </a:p>
        </p:txBody>
      </p:sp>
      <p:sp>
        <p:nvSpPr>
          <p:cNvPr id="11" name="finding-label">
            <a:extLst xmlns:a="http://schemas.openxmlformats.org/drawingml/2006/main">
              <a:ext uri="{FF2B5EF4-FFF2-40B4-BE49-F238E27FC236}">
                <a16:creationId xmlns:a16="http://schemas.microsoft.com/office/drawing/2014/main" id="{0DB41915-EB87-4324-8D00-6A874A1F0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00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95D45"/>
                </a:solidFill>
              </a:defRPr>
            </a:pPr>
            <a:r>
              <a:rPr sz="1200" b="1">
                <a:solidFill>
                  <a:srgbClr val="D95D45"/>
                </a:solidFill>
              </a:rPr>
              <a:t>本页结论</a:t>
            </a:r>
          </a:p>
        </p:txBody>
      </p:sp>
      <p:sp>
        <p:nvSpPr>
          <p:cNvPr id="12" name="finding">
            <a:extLst xmlns:a="http://schemas.openxmlformats.org/drawingml/2006/main">
              <a:ext uri="{FF2B5EF4-FFF2-40B4-BE49-F238E27FC236}">
                <a16:creationId xmlns:a16="http://schemas.microsoft.com/office/drawing/2014/main" id="{CE0ED683-2960-4F4B-8CA3-2A876157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57450"/>
            <a:ext cx="3524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52B33"/>
                </a:solidFill>
              </a:defRPr>
            </a:pPr>
            <a:r>
              <a:rPr sz="2175" b="1">
                <a:solidFill>
                  <a:srgbClr val="252B33"/>
                </a:solidFill>
              </a:rPr>
              <a:t>先讲图中最重要的变化，</a:t>
            </a:r>
          </a:p>
          <a:p xmlns:a="http://schemas.openxmlformats.org/drawingml/2006/main">
            <a:pPr>
              <a:defRPr sz="2175" b="1">
                <a:solidFill>
                  <a:srgbClr val="252B33"/>
                </a:solidFill>
              </a:defRPr>
            </a:pPr>
            <a:r>
              <a:rPr sz="2175" b="1">
                <a:solidFill>
                  <a:srgbClr val="252B33"/>
                </a:solidFill>
              </a:rPr>
              <a:t>再说明它支持什么结论。</a:t>
            </a:r>
          </a:p>
        </p:txBody>
      </p:sp>
      <p:sp>
        <p:nvSpPr>
          <p:cNvPr id="13" name="interpretation-rule">
            <a:extLst xmlns:a="http://schemas.openxmlformats.org/drawingml/2006/main">
              <a:ext uri="{FF2B5EF4-FFF2-40B4-BE49-F238E27FC236}">
                <a16:creationId xmlns:a16="http://schemas.microsoft.com/office/drawing/2014/main" id="{C8D94BC8-94BB-44B1-9F51-501FF321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81425"/>
            <a:ext cx="352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interpretation">
            <a:extLst xmlns:a="http://schemas.openxmlformats.org/drawingml/2006/main">
              <a:ext uri="{FF2B5EF4-FFF2-40B4-BE49-F238E27FC236}">
                <a16:creationId xmlns:a16="http://schemas.microsoft.com/office/drawing/2014/main" id="{4ECF0791-2FDF-4984-9B67-403F7666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57650"/>
            <a:ext cx="352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670"/>
                </a:solidFill>
              </a:defRPr>
            </a:pPr>
            <a:r>
              <a:rPr sz="1350">
                <a:solidFill>
                  <a:srgbClr val="5F6670"/>
                </a:solidFill>
              </a:rPr>
              <a:t>避免逐项复述坐标、图例和每一个面板；同时交代样本、对照和证据边界。</a:t>
            </a:r>
          </a:p>
        </p:txBody>
      </p:sp>
    </p:spTree>
    <p:extLst>
      <p:ext uri="{BB962C8B-B14F-4D97-AF65-F5344CB8AC3E}">
        <p14:creationId xmlns:p14="http://schemas.microsoft.com/office/powerpoint/2010/main" val="18459208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top-rule">
            <a:extLst xmlns:a="http://schemas.openxmlformats.org/drawingml/2006/main">
              <a:ext uri="{FF2B5EF4-FFF2-40B4-BE49-F238E27FC236}">
                <a16:creationId xmlns:a16="http://schemas.microsoft.com/office/drawing/2014/main" id="{4E6C8FC0-A73E-49EE-92D7-6CF83EC0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FFBEE476-5972-403B-9272-14A79D5F3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95D45"/>
                </a:solidFill>
              </a:defRPr>
            </a:pPr>
            <a:r>
              <a:rPr sz="1050" b="1">
                <a:solidFill>
                  <a:srgbClr val="D95D45"/>
                </a:solidFill>
              </a:rPr>
              <a:t>方法比较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B09CBEB-9B87-43A4-8EE5-F09D5AF35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52B33"/>
                </a:solidFill>
              </a:defRPr>
            </a:pPr>
            <a:r>
              <a:rPr sz="2925" b="1">
                <a:solidFill>
                  <a:srgbClr val="252B33"/>
                </a:solidFill>
              </a:rPr>
              <a:t>方法选择取决于研究问题与证据强度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F329A46-EDAF-4E5A-B86A-C7AAB3DD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8286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D95D45"/>
                </a:solidFill>
              </a:defRPr>
            </a:pPr>
            <a:r>
              <a:rPr sz="1200" b="1">
                <a:solidFill>
                  <a:srgbClr val="D95D45"/>
                </a:solidFill>
              </a:rPr>
              <a:t>05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5E21E5B-7897-4C16-8C6E-6C93195FB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A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7E5136F-CDEE-4C1E-A372-DDA3BD79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58B93"/>
                </a:solidFill>
              </a:defRPr>
            </a:pPr>
            <a:r>
              <a:rPr sz="825">
                <a:solidFill>
                  <a:srgbClr val="858B93"/>
                </a:solidFill>
              </a:rPr>
              <a:t>综述型组会 · 示例版式</a:t>
            </a:r>
          </a:p>
        </p:txBody>
      </p:sp>
      <p:sp>
        <p:nvSpPr>
          <p:cNvPr id="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03C2F551-9304-43D4-862B-0E7FB4EF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858B93"/>
                </a:solidFill>
              </a:defRPr>
            </a:pPr>
            <a:r>
              <a:rPr sz="825">
                <a:solidFill>
                  <a:srgbClr val="858B93"/>
                </a:solidFill>
              </a:rPr>
              <a:t>C · 编辑珊瑚</a:t>
            </a:r>
          </a:p>
        </p:txBody>
      </p:sp>
      <p:sp>
        <p:nvSpPr>
          <p:cNvPr id="8" name="head-0">
            <a:extLst xmlns:a="http://schemas.openxmlformats.org/drawingml/2006/main">
              <a:ext uri="{FF2B5EF4-FFF2-40B4-BE49-F238E27FC236}">
                <a16:creationId xmlns:a16="http://schemas.microsoft.com/office/drawing/2014/main" id="{2A7E70C5-2202-481B-9946-94FC50E3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819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9525">
            <a:solidFill>
              <a:srgbClr val="E8DAD5"/>
            </a:solidFill>
            <a:prstDash val="solid"/>
          </a:ln>
        </p:spPr>
      </p:sp>
      <p:sp>
        <p:nvSpPr>
          <p:cNvPr id="9" name="head-text-0">
            <a:extLst xmlns:a="http://schemas.openxmlformats.org/drawingml/2006/main">
              <a:ext uri="{FF2B5EF4-FFF2-40B4-BE49-F238E27FC236}">
                <a16:creationId xmlns:a16="http://schemas.microsoft.com/office/drawing/2014/main" id="{29027215-33DD-4375-A97C-55164CA2B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2407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方法</a:t>
            </a:r>
          </a:p>
        </p:txBody>
      </p:sp>
      <p:sp>
        <p:nvSpPr>
          <p:cNvPr id="10" name="head-1">
            <a:extLst xmlns:a="http://schemas.openxmlformats.org/drawingml/2006/main">
              <a:ext uri="{FF2B5EF4-FFF2-40B4-BE49-F238E27FC236}">
                <a16:creationId xmlns:a16="http://schemas.microsoft.com/office/drawing/2014/main" id="{3BFA5B08-7750-46E1-A03F-9BA04081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52625"/>
            <a:ext cx="2266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F2"/>
          </a:solidFill>
          <a:ln xmlns:a="http://schemas.openxmlformats.org/drawingml/2006/main" w="9525">
            <a:solidFill>
              <a:srgbClr val="E8DAD5"/>
            </a:solidFill>
            <a:prstDash val="solid"/>
          </a:ln>
        </p:spPr>
      </p:sp>
      <p:sp>
        <p:nvSpPr>
          <p:cNvPr id="11" name="head-text-1">
            <a:extLst xmlns:a="http://schemas.openxmlformats.org/drawingml/2006/main">
              <a:ext uri="{FF2B5EF4-FFF2-40B4-BE49-F238E27FC236}">
                <a16:creationId xmlns:a16="http://schemas.microsoft.com/office/drawing/2014/main" id="{D74ACCB3-DE56-460B-BD4A-AF972BEF2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240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2B33"/>
                </a:solidFill>
              </a:defRPr>
            </a:pPr>
            <a:r>
              <a:rPr sz="1200" b="1">
                <a:solidFill>
                  <a:srgbClr val="252B33"/>
                </a:solidFill>
              </a:rPr>
              <a:t>主要读出</a:t>
            </a:r>
          </a:p>
        </p:txBody>
      </p:sp>
      <p:sp>
        <p:nvSpPr>
          <p:cNvPr id="12" name="head-2">
            <a:extLst xmlns:a="http://schemas.openxmlformats.org/drawingml/2006/main">
              <a:ext uri="{FF2B5EF4-FFF2-40B4-BE49-F238E27FC236}">
                <a16:creationId xmlns:a16="http://schemas.microsoft.com/office/drawing/2014/main" id="{20A5E54D-F093-41C9-A40C-E7428382D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952625"/>
            <a:ext cx="2266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F2"/>
          </a:solidFill>
          <a:ln xmlns:a="http://schemas.openxmlformats.org/drawingml/2006/main" w="9525">
            <a:solidFill>
              <a:srgbClr val="E8DAD5"/>
            </a:solidFill>
            <a:prstDash val="solid"/>
          </a:ln>
        </p:spPr>
      </p:sp>
      <p:sp>
        <p:nvSpPr>
          <p:cNvPr id="13" name="head-text-2">
            <a:extLst xmlns:a="http://schemas.openxmlformats.org/drawingml/2006/main">
              <a:ext uri="{FF2B5EF4-FFF2-40B4-BE49-F238E27FC236}">
                <a16:creationId xmlns:a16="http://schemas.microsoft.com/office/drawing/2014/main" id="{027D52F2-8131-4780-98CF-5F8D6EDB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240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2B33"/>
                </a:solidFill>
              </a:defRPr>
            </a:pPr>
            <a:r>
              <a:rPr sz="1200" b="1">
                <a:solidFill>
                  <a:srgbClr val="252B33"/>
                </a:solidFill>
              </a:rPr>
              <a:t>优势</a:t>
            </a:r>
          </a:p>
        </p:txBody>
      </p:sp>
      <p:sp>
        <p:nvSpPr>
          <p:cNvPr id="14" name="head-3">
            <a:extLst xmlns:a="http://schemas.openxmlformats.org/drawingml/2006/main">
              <a:ext uri="{FF2B5EF4-FFF2-40B4-BE49-F238E27FC236}">
                <a16:creationId xmlns:a16="http://schemas.microsoft.com/office/drawing/2014/main" id="{A8AE1727-876D-4C7C-B523-2A49F6170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52625"/>
            <a:ext cx="1943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F2"/>
          </a:solidFill>
          <a:ln xmlns:a="http://schemas.openxmlformats.org/drawingml/2006/main" w="9525">
            <a:solidFill>
              <a:srgbClr val="E8DAD5"/>
            </a:solidFill>
            <a:prstDash val="solid"/>
          </a:ln>
        </p:spPr>
      </p:sp>
      <p:sp>
        <p:nvSpPr>
          <p:cNvPr id="15" name="head-text-3">
            <a:extLst xmlns:a="http://schemas.openxmlformats.org/drawingml/2006/main">
              <a:ext uri="{FF2B5EF4-FFF2-40B4-BE49-F238E27FC236}">
                <a16:creationId xmlns:a16="http://schemas.microsoft.com/office/drawing/2014/main" id="{D8B0FF0B-048D-4ACA-B068-C6DE7942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24075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2B33"/>
                </a:solidFill>
              </a:defRPr>
            </a:pPr>
            <a:r>
              <a:rPr sz="1200" b="1">
                <a:solidFill>
                  <a:srgbClr val="252B33"/>
                </a:solidFill>
              </a:rPr>
              <a:t>局限</a:t>
            </a:r>
          </a:p>
        </p:txBody>
      </p:sp>
      <p:sp>
        <p:nvSpPr>
          <p:cNvPr id="16" name="head-4">
            <a:extLst xmlns:a="http://schemas.openxmlformats.org/drawingml/2006/main">
              <a:ext uri="{FF2B5EF4-FFF2-40B4-BE49-F238E27FC236}">
                <a16:creationId xmlns:a16="http://schemas.microsoft.com/office/drawing/2014/main" id="{C25AA02B-F91C-422B-AB73-554CF2C8F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952625"/>
            <a:ext cx="152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F2"/>
          </a:solidFill>
          <a:ln xmlns:a="http://schemas.openxmlformats.org/drawingml/2006/main" w="9525">
            <a:solidFill>
              <a:srgbClr val="E8DAD5"/>
            </a:solidFill>
            <a:prstDash val="solid"/>
          </a:ln>
        </p:spPr>
      </p:sp>
      <p:sp>
        <p:nvSpPr>
          <p:cNvPr id="17" name="head-text-4">
            <a:extLst xmlns:a="http://schemas.openxmlformats.org/drawingml/2006/main">
              <a:ext uri="{FF2B5EF4-FFF2-40B4-BE49-F238E27FC236}">
                <a16:creationId xmlns:a16="http://schemas.microsoft.com/office/drawing/2014/main" id="{E970C733-A41B-4811-8A03-7913C4088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124075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2B33"/>
                </a:solidFill>
              </a:defRPr>
            </a:pPr>
            <a:r>
              <a:rPr sz="1200" b="1">
                <a:solidFill>
                  <a:srgbClr val="252B33"/>
                </a:solidFill>
              </a:rPr>
              <a:t>推荐场景</a:t>
            </a:r>
          </a:p>
        </p:txBody>
      </p:sp>
      <p:sp>
        <p:nvSpPr>
          <p:cNvPr id="18" name="cell-0-0">
            <a:extLst xmlns:a="http://schemas.openxmlformats.org/drawingml/2006/main">
              <a:ext uri="{FF2B5EF4-FFF2-40B4-BE49-F238E27FC236}">
                <a16:creationId xmlns:a16="http://schemas.microsoft.com/office/drawing/2014/main" id="{8E1332E0-D85D-4F6E-9568-61E332B7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62225"/>
            <a:ext cx="2819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AD5"/>
            </a:solidFill>
            <a:prstDash val="solid"/>
          </a:ln>
        </p:spPr>
      </p:sp>
      <p:sp>
        <p:nvSpPr>
          <p:cNvPr id="19" name="cell-text-0-0">
            <a:extLst xmlns:a="http://schemas.openxmlformats.org/drawingml/2006/main">
              <a:ext uri="{FF2B5EF4-FFF2-40B4-BE49-F238E27FC236}">
                <a16:creationId xmlns:a16="http://schemas.microsoft.com/office/drawing/2014/main" id="{42FF3B89-BB42-45C5-9E1A-938FA87E1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552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95D45"/>
                </a:solidFill>
              </a:defRPr>
            </a:pPr>
            <a:r>
              <a:rPr sz="1275" b="1">
                <a:solidFill>
                  <a:srgbClr val="D95D45"/>
                </a:solidFill>
              </a:rPr>
              <a:t>构象探针</a:t>
            </a:r>
          </a:p>
        </p:txBody>
      </p:sp>
      <p:sp>
        <p:nvSpPr>
          <p:cNvPr id="20" name="cell-0-1">
            <a:extLst xmlns:a="http://schemas.openxmlformats.org/drawingml/2006/main">
              <a:ext uri="{FF2B5EF4-FFF2-40B4-BE49-F238E27FC236}">
                <a16:creationId xmlns:a16="http://schemas.microsoft.com/office/drawing/2014/main" id="{1E740388-69CE-4138-8D78-DAB9ECE3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62225"/>
            <a:ext cx="22669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AD5"/>
            </a:solidFill>
            <a:prstDash val="solid"/>
          </a:ln>
        </p:spPr>
      </p:sp>
      <p:sp>
        <p:nvSpPr>
          <p:cNvPr id="21" name="cell-text-0-1">
            <a:extLst xmlns:a="http://schemas.openxmlformats.org/drawingml/2006/main">
              <a:ext uri="{FF2B5EF4-FFF2-40B4-BE49-F238E27FC236}">
                <a16:creationId xmlns:a16="http://schemas.microsoft.com/office/drawing/2014/main" id="{891EC7E8-1AF9-4AC8-A690-46562345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813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F6670"/>
                </a:solidFill>
              </a:defRPr>
            </a:pPr>
            <a:r>
              <a:rPr sz="1125" b="0">
                <a:solidFill>
                  <a:srgbClr val="5F6670"/>
                </a:solidFill>
              </a:rPr>
              <a:t>局部环境变化</a:t>
            </a:r>
          </a:p>
        </p:txBody>
      </p:sp>
      <p:sp>
        <p:nvSpPr>
          <p:cNvPr id="22" name="cell-0-2">
            <a:extLst xmlns:a="http://schemas.openxmlformats.org/drawingml/2006/main">
              <a:ext uri="{FF2B5EF4-FFF2-40B4-BE49-F238E27FC236}">
                <a16:creationId xmlns:a16="http://schemas.microsoft.com/office/drawing/2014/main" id="{B1A25DCD-9CF9-4027-B0EB-71B1D445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562225"/>
            <a:ext cx="22669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AD5"/>
            </a:solidFill>
            <a:prstDash val="solid"/>
          </a:ln>
        </p:spPr>
      </p:sp>
      <p:sp>
        <p:nvSpPr>
          <p:cNvPr id="23" name="cell-text-0-2">
            <a:extLst xmlns:a="http://schemas.openxmlformats.org/drawingml/2006/main">
              <a:ext uri="{FF2B5EF4-FFF2-40B4-BE49-F238E27FC236}">
                <a16:creationId xmlns:a16="http://schemas.microsoft.com/office/drawing/2014/main" id="{655253C4-7A09-4B3E-BCF0-62724A18D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813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F6670"/>
                </a:solidFill>
              </a:defRPr>
            </a:pPr>
            <a:r>
              <a:rPr sz="1125" b="0">
                <a:solidFill>
                  <a:srgbClr val="5F6670"/>
                </a:solidFill>
              </a:rPr>
              <a:t>灵敏、成像直观</a:t>
            </a:r>
          </a:p>
        </p:txBody>
      </p:sp>
      <p:sp>
        <p:nvSpPr>
          <p:cNvPr id="24" name="cell-0-3">
            <a:extLst xmlns:a="http://schemas.openxmlformats.org/drawingml/2006/main">
              <a:ext uri="{FF2B5EF4-FFF2-40B4-BE49-F238E27FC236}">
                <a16:creationId xmlns:a16="http://schemas.microsoft.com/office/drawing/2014/main" id="{BD98EAA4-645B-49C6-A9BB-265EE06C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62225"/>
            <a:ext cx="1943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AD5"/>
            </a:solidFill>
            <a:prstDash val="solid"/>
          </a:ln>
        </p:spPr>
      </p:sp>
      <p:sp>
        <p:nvSpPr>
          <p:cNvPr id="25" name="cell-text-0-3">
            <a:extLst xmlns:a="http://schemas.openxmlformats.org/drawingml/2006/main">
              <a:ext uri="{FF2B5EF4-FFF2-40B4-BE49-F238E27FC236}">
                <a16:creationId xmlns:a16="http://schemas.microsoft.com/office/drawing/2014/main" id="{7D6EFB1D-920E-49C2-92B6-41A544DC1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8130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F6670"/>
                </a:solidFill>
              </a:defRPr>
            </a:pPr>
            <a:r>
              <a:rPr sz="1125" b="0">
                <a:solidFill>
                  <a:srgbClr val="5F6670"/>
                </a:solidFill>
              </a:rPr>
              <a:t>可能非特异</a:t>
            </a:r>
          </a:p>
        </p:txBody>
      </p:sp>
      <p:sp>
        <p:nvSpPr>
          <p:cNvPr id="26" name="cell-0-4">
            <a:extLst xmlns:a="http://schemas.openxmlformats.org/drawingml/2006/main">
              <a:ext uri="{FF2B5EF4-FFF2-40B4-BE49-F238E27FC236}">
                <a16:creationId xmlns:a16="http://schemas.microsoft.com/office/drawing/2014/main" id="{17009EB7-B3F7-48F3-B5FD-0544B2875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562225"/>
            <a:ext cx="152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AD5"/>
            </a:solidFill>
            <a:prstDash val="solid"/>
          </a:ln>
        </p:spPr>
      </p:sp>
      <p:sp>
        <p:nvSpPr>
          <p:cNvPr id="27" name="cell-text-0-4">
            <a:extLst xmlns:a="http://schemas.openxmlformats.org/drawingml/2006/main">
              <a:ext uri="{FF2B5EF4-FFF2-40B4-BE49-F238E27FC236}">
                <a16:creationId xmlns:a16="http://schemas.microsoft.com/office/drawing/2014/main" id="{861C1894-37DC-4278-B40F-9425A995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781300"/>
            <a:ext cx="1257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F6670"/>
                </a:solidFill>
              </a:defRPr>
            </a:pPr>
            <a:r>
              <a:rPr sz="1125" b="0">
                <a:solidFill>
                  <a:srgbClr val="5F6670"/>
                </a:solidFill>
              </a:rPr>
              <a:t>筛查</a:t>
            </a:r>
          </a:p>
        </p:txBody>
      </p:sp>
      <p:sp>
        <p:nvSpPr>
          <p:cNvPr id="28" name="cell-1-0">
            <a:extLst xmlns:a="http://schemas.openxmlformats.org/drawingml/2006/main">
              <a:ext uri="{FF2B5EF4-FFF2-40B4-BE49-F238E27FC236}">
                <a16:creationId xmlns:a16="http://schemas.microsoft.com/office/drawing/2014/main" id="{8742DCCA-0D9D-4444-A0F5-D0BFAE06B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2819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F2"/>
          </a:solidFill>
          <a:ln xmlns:a="http://schemas.openxmlformats.org/drawingml/2006/main" w="9525">
            <a:solidFill>
              <a:srgbClr val="E8DAD5"/>
            </a:solidFill>
            <a:prstDash val="solid"/>
          </a:ln>
        </p:spPr>
      </p:sp>
      <p:sp>
        <p:nvSpPr>
          <p:cNvPr id="29" name="cell-text-1-0">
            <a:extLst xmlns:a="http://schemas.openxmlformats.org/drawingml/2006/main">
              <a:ext uri="{FF2B5EF4-FFF2-40B4-BE49-F238E27FC236}">
                <a16:creationId xmlns:a16="http://schemas.microsoft.com/office/drawing/2014/main" id="{1AE5C2F0-9252-47C3-8ADF-620CFA57E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95700"/>
            <a:ext cx="2552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95D45"/>
                </a:solidFill>
              </a:defRPr>
            </a:pPr>
            <a:r>
              <a:rPr sz="1275" b="1">
                <a:solidFill>
                  <a:srgbClr val="D95D45"/>
                </a:solidFill>
              </a:rPr>
              <a:t>生化分级</a:t>
            </a:r>
          </a:p>
        </p:txBody>
      </p:sp>
      <p:sp>
        <p:nvSpPr>
          <p:cNvPr id="30" name="cell-1-1">
            <a:extLst xmlns:a="http://schemas.openxmlformats.org/drawingml/2006/main">
              <a:ext uri="{FF2B5EF4-FFF2-40B4-BE49-F238E27FC236}">
                <a16:creationId xmlns:a16="http://schemas.microsoft.com/office/drawing/2014/main" id="{250625CD-047A-4386-B4D6-99B8DEEF6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476625"/>
            <a:ext cx="22669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F2"/>
          </a:solidFill>
          <a:ln xmlns:a="http://schemas.openxmlformats.org/drawingml/2006/main" w="9525">
            <a:solidFill>
              <a:srgbClr val="E8DAD5"/>
            </a:solidFill>
            <a:prstDash val="solid"/>
          </a:ln>
        </p:spPr>
      </p:sp>
      <p:sp>
        <p:nvSpPr>
          <p:cNvPr id="31" name="cell-text-1-1">
            <a:extLst xmlns:a="http://schemas.openxmlformats.org/drawingml/2006/main">
              <a:ext uri="{FF2B5EF4-FFF2-40B4-BE49-F238E27FC236}">
                <a16:creationId xmlns:a16="http://schemas.microsoft.com/office/drawing/2014/main" id="{21F29BBA-3772-44D1-8125-6358F455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957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F6670"/>
                </a:solidFill>
              </a:defRPr>
            </a:pPr>
            <a:r>
              <a:rPr sz="1125" b="0">
                <a:solidFill>
                  <a:srgbClr val="5F6670"/>
                </a:solidFill>
              </a:rPr>
              <a:t>可溶 / 不溶组分</a:t>
            </a:r>
          </a:p>
        </p:txBody>
      </p:sp>
      <p:sp>
        <p:nvSpPr>
          <p:cNvPr id="32" name="cell-1-2">
            <a:extLst xmlns:a="http://schemas.openxmlformats.org/drawingml/2006/main">
              <a:ext uri="{FF2B5EF4-FFF2-40B4-BE49-F238E27FC236}">
                <a16:creationId xmlns:a16="http://schemas.microsoft.com/office/drawing/2014/main" id="{2F479E79-5571-49BF-BF1F-60A911838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476625"/>
            <a:ext cx="22669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F2"/>
          </a:solidFill>
          <a:ln xmlns:a="http://schemas.openxmlformats.org/drawingml/2006/main" w="9525">
            <a:solidFill>
              <a:srgbClr val="E8DAD5"/>
            </a:solidFill>
            <a:prstDash val="solid"/>
          </a:ln>
        </p:spPr>
      </p:sp>
      <p:sp>
        <p:nvSpPr>
          <p:cNvPr id="33" name="cell-text-1-2">
            <a:extLst xmlns:a="http://schemas.openxmlformats.org/drawingml/2006/main">
              <a:ext uri="{FF2B5EF4-FFF2-40B4-BE49-F238E27FC236}">
                <a16:creationId xmlns:a16="http://schemas.microsoft.com/office/drawing/2014/main" id="{1BC88A74-27ED-44E9-903E-3EAF99AE6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957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F6670"/>
                </a:solidFill>
              </a:defRPr>
            </a:pPr>
            <a:r>
              <a:rPr sz="1125" b="0">
                <a:solidFill>
                  <a:srgbClr val="5F6670"/>
                </a:solidFill>
              </a:rPr>
              <a:t>直接、可定量</a:t>
            </a:r>
          </a:p>
        </p:txBody>
      </p:sp>
      <p:sp>
        <p:nvSpPr>
          <p:cNvPr id="34" name="cell-1-3">
            <a:extLst xmlns:a="http://schemas.openxmlformats.org/drawingml/2006/main">
              <a:ext uri="{FF2B5EF4-FFF2-40B4-BE49-F238E27FC236}">
                <a16:creationId xmlns:a16="http://schemas.microsoft.com/office/drawing/2014/main" id="{5BF9EA62-6E5B-44DE-BAC8-F54D851A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76625"/>
            <a:ext cx="1943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F2"/>
          </a:solidFill>
          <a:ln xmlns:a="http://schemas.openxmlformats.org/drawingml/2006/main" w="9525">
            <a:solidFill>
              <a:srgbClr val="E8DAD5"/>
            </a:solidFill>
            <a:prstDash val="solid"/>
          </a:ln>
        </p:spPr>
      </p:sp>
      <p:sp>
        <p:nvSpPr>
          <p:cNvPr id="35" name="cell-text-1-3">
            <a:extLst xmlns:a="http://schemas.openxmlformats.org/drawingml/2006/main">
              <a:ext uri="{FF2B5EF4-FFF2-40B4-BE49-F238E27FC236}">
                <a16:creationId xmlns:a16="http://schemas.microsoft.com/office/drawing/2014/main" id="{8FA21095-CD8E-4753-803B-6255339F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9570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F6670"/>
                </a:solidFill>
              </a:defRPr>
            </a:pPr>
            <a:r>
              <a:rPr sz="1125" b="0">
                <a:solidFill>
                  <a:srgbClr val="5F6670"/>
                </a:solidFill>
              </a:rPr>
              <a:t>丢失空间信息</a:t>
            </a:r>
          </a:p>
        </p:txBody>
      </p:sp>
      <p:sp>
        <p:nvSpPr>
          <p:cNvPr id="36" name="cell-1-4">
            <a:extLst xmlns:a="http://schemas.openxmlformats.org/drawingml/2006/main">
              <a:ext uri="{FF2B5EF4-FFF2-40B4-BE49-F238E27FC236}">
                <a16:creationId xmlns:a16="http://schemas.microsoft.com/office/drawing/2014/main" id="{72F662CB-BC22-4A59-A8AD-197963DD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476625"/>
            <a:ext cx="152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F2"/>
          </a:solidFill>
          <a:ln xmlns:a="http://schemas.openxmlformats.org/drawingml/2006/main" w="9525">
            <a:solidFill>
              <a:srgbClr val="E8DAD5"/>
            </a:solidFill>
            <a:prstDash val="solid"/>
          </a:ln>
        </p:spPr>
      </p:sp>
      <p:sp>
        <p:nvSpPr>
          <p:cNvPr id="37" name="cell-text-1-4">
            <a:extLst xmlns:a="http://schemas.openxmlformats.org/drawingml/2006/main">
              <a:ext uri="{FF2B5EF4-FFF2-40B4-BE49-F238E27FC236}">
                <a16:creationId xmlns:a16="http://schemas.microsoft.com/office/drawing/2014/main" id="{4D632986-6625-4487-938F-18E402B2E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695700"/>
            <a:ext cx="1257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F6670"/>
                </a:solidFill>
              </a:defRPr>
            </a:pPr>
            <a:r>
              <a:rPr sz="1125" b="0">
                <a:solidFill>
                  <a:srgbClr val="5F6670"/>
                </a:solidFill>
              </a:rPr>
              <a:t>验证</a:t>
            </a:r>
          </a:p>
        </p:txBody>
      </p:sp>
      <p:sp>
        <p:nvSpPr>
          <p:cNvPr id="38" name="cell-2-0">
            <a:extLst xmlns:a="http://schemas.openxmlformats.org/drawingml/2006/main">
              <a:ext uri="{FF2B5EF4-FFF2-40B4-BE49-F238E27FC236}">
                <a16:creationId xmlns:a16="http://schemas.microsoft.com/office/drawing/2014/main" id="{141A18F4-DE7A-42D3-AFDB-47FCD8EB4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91025"/>
            <a:ext cx="2819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AD5"/>
            </a:solidFill>
            <a:prstDash val="solid"/>
          </a:ln>
        </p:spPr>
      </p:sp>
      <p:sp>
        <p:nvSpPr>
          <p:cNvPr id="39" name="cell-text-2-0">
            <a:extLst xmlns:a="http://schemas.openxmlformats.org/drawingml/2006/main">
              <a:ext uri="{FF2B5EF4-FFF2-40B4-BE49-F238E27FC236}">
                <a16:creationId xmlns:a16="http://schemas.microsoft.com/office/drawing/2014/main" id="{BDDD6559-6EF1-40AC-A78B-E719769B3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10100"/>
            <a:ext cx="2552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95D45"/>
                </a:solidFill>
              </a:defRPr>
            </a:pPr>
            <a:r>
              <a:rPr sz="1275" b="1">
                <a:solidFill>
                  <a:srgbClr val="D95D45"/>
                </a:solidFill>
              </a:rPr>
              <a:t>显微成像</a:t>
            </a:r>
          </a:p>
        </p:txBody>
      </p:sp>
      <p:sp>
        <p:nvSpPr>
          <p:cNvPr id="40" name="cell-2-1">
            <a:extLst xmlns:a="http://schemas.openxmlformats.org/drawingml/2006/main">
              <a:ext uri="{FF2B5EF4-FFF2-40B4-BE49-F238E27FC236}">
                <a16:creationId xmlns:a16="http://schemas.microsoft.com/office/drawing/2014/main" id="{9A835C97-EB7C-4258-A431-0B3FEDD7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391025"/>
            <a:ext cx="22669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AD5"/>
            </a:solidFill>
            <a:prstDash val="solid"/>
          </a:ln>
        </p:spPr>
      </p:sp>
      <p:sp>
        <p:nvSpPr>
          <p:cNvPr id="41" name="cell-text-2-1">
            <a:extLst xmlns:a="http://schemas.openxmlformats.org/drawingml/2006/main">
              <a:ext uri="{FF2B5EF4-FFF2-40B4-BE49-F238E27FC236}">
                <a16:creationId xmlns:a16="http://schemas.microsoft.com/office/drawing/2014/main" id="{24BCE3C6-E91F-4153-B57D-C8748E26D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6101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F6670"/>
                </a:solidFill>
              </a:defRPr>
            </a:pPr>
            <a:r>
              <a:rPr sz="1125" b="0">
                <a:solidFill>
                  <a:srgbClr val="5F6670"/>
                </a:solidFill>
              </a:rPr>
              <a:t>聚集体定位</a:t>
            </a:r>
          </a:p>
        </p:txBody>
      </p:sp>
      <p:sp>
        <p:nvSpPr>
          <p:cNvPr id="42" name="cell-2-2">
            <a:extLst xmlns:a="http://schemas.openxmlformats.org/drawingml/2006/main">
              <a:ext uri="{FF2B5EF4-FFF2-40B4-BE49-F238E27FC236}">
                <a16:creationId xmlns:a16="http://schemas.microsoft.com/office/drawing/2014/main" id="{E7785812-09A3-491D-99EA-7B100B9A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391025"/>
            <a:ext cx="22669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AD5"/>
            </a:solidFill>
            <a:prstDash val="solid"/>
          </a:ln>
        </p:spPr>
      </p:sp>
      <p:sp>
        <p:nvSpPr>
          <p:cNvPr id="43" name="cell-text-2-2">
            <a:extLst xmlns:a="http://schemas.openxmlformats.org/drawingml/2006/main">
              <a:ext uri="{FF2B5EF4-FFF2-40B4-BE49-F238E27FC236}">
                <a16:creationId xmlns:a16="http://schemas.microsoft.com/office/drawing/2014/main" id="{735AE595-EC43-4C11-903F-02C4A774B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101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F6670"/>
                </a:solidFill>
              </a:defRPr>
            </a:pPr>
            <a:r>
              <a:rPr sz="1125" b="0">
                <a:solidFill>
                  <a:srgbClr val="5F6670"/>
                </a:solidFill>
              </a:rPr>
              <a:t>保留细胞背景</a:t>
            </a:r>
          </a:p>
        </p:txBody>
      </p:sp>
      <p:sp>
        <p:nvSpPr>
          <p:cNvPr id="44" name="cell-2-3">
            <a:extLst xmlns:a="http://schemas.openxmlformats.org/drawingml/2006/main">
              <a:ext uri="{FF2B5EF4-FFF2-40B4-BE49-F238E27FC236}">
                <a16:creationId xmlns:a16="http://schemas.microsoft.com/office/drawing/2014/main" id="{97359358-F356-47EA-9A4A-1E63ED4EC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391025"/>
            <a:ext cx="1943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AD5"/>
            </a:solidFill>
            <a:prstDash val="solid"/>
          </a:ln>
        </p:spPr>
      </p:sp>
      <p:sp>
        <p:nvSpPr>
          <p:cNvPr id="45" name="cell-text-2-3">
            <a:extLst xmlns:a="http://schemas.openxmlformats.org/drawingml/2006/main">
              <a:ext uri="{FF2B5EF4-FFF2-40B4-BE49-F238E27FC236}">
                <a16:creationId xmlns:a16="http://schemas.microsoft.com/office/drawing/2014/main" id="{7EA768A1-4096-408B-8A47-9827E3DC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61010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F6670"/>
                </a:solidFill>
              </a:defRPr>
            </a:pPr>
            <a:r>
              <a:rPr sz="1125" b="0">
                <a:solidFill>
                  <a:srgbClr val="5F6670"/>
                </a:solidFill>
              </a:rPr>
              <a:t>依赖抗体与阈值</a:t>
            </a:r>
          </a:p>
        </p:txBody>
      </p:sp>
      <p:sp>
        <p:nvSpPr>
          <p:cNvPr id="46" name="cell-2-4">
            <a:extLst xmlns:a="http://schemas.openxmlformats.org/drawingml/2006/main">
              <a:ext uri="{FF2B5EF4-FFF2-40B4-BE49-F238E27FC236}">
                <a16:creationId xmlns:a16="http://schemas.microsoft.com/office/drawing/2014/main" id="{A5D94474-B7EE-4CF1-A23D-760B4EB07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391025"/>
            <a:ext cx="152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AD5"/>
            </a:solidFill>
            <a:prstDash val="solid"/>
          </a:ln>
        </p:spPr>
      </p:sp>
      <p:sp>
        <p:nvSpPr>
          <p:cNvPr id="47" name="cell-text-2-4">
            <a:extLst xmlns:a="http://schemas.openxmlformats.org/drawingml/2006/main">
              <a:ext uri="{FF2B5EF4-FFF2-40B4-BE49-F238E27FC236}">
                <a16:creationId xmlns:a16="http://schemas.microsoft.com/office/drawing/2014/main" id="{5A861E23-595C-4BAB-B81E-5A7DAAD9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610100"/>
            <a:ext cx="1257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F6670"/>
                </a:solidFill>
              </a:defRPr>
            </a:pPr>
            <a:r>
              <a:rPr sz="1125" b="0">
                <a:solidFill>
                  <a:srgbClr val="5F6670"/>
                </a:solidFill>
              </a:rPr>
              <a:t>定位</a:t>
            </a:r>
          </a:p>
        </p:txBody>
      </p:sp>
    </p:spTree>
    <p:extLst>
      <p:ext uri="{BB962C8B-B14F-4D97-AF65-F5344CB8AC3E}">
        <p14:creationId xmlns:p14="http://schemas.microsoft.com/office/powerpoint/2010/main" val="15598232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op-rule">
            <a:extLst xmlns:a="http://schemas.openxmlformats.org/drawingml/2006/main">
              <a:ext uri="{FF2B5EF4-FFF2-40B4-BE49-F238E27FC236}">
                <a16:creationId xmlns:a16="http://schemas.microsoft.com/office/drawing/2014/main" id="{BDC8E2E2-C085-43CB-AE81-BBE4090B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50FC9F96-1F62-4015-9AD8-85031E7E7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95D45"/>
                </a:solidFill>
              </a:defRPr>
            </a:pPr>
            <a:r>
              <a:rPr sz="1050" b="1">
                <a:solidFill>
                  <a:srgbClr val="D95D45"/>
                </a:solidFill>
              </a:rPr>
              <a:t>证据链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050756E-E4FE-426A-B4DF-6227CDBB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52B33"/>
                </a:solidFill>
              </a:defRPr>
            </a:pPr>
            <a:r>
              <a:rPr sz="2925" b="1">
                <a:solidFill>
                  <a:srgbClr val="252B33"/>
                </a:solidFill>
              </a:rPr>
              <a:t>可靠结论来自多层证据的相互印证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B84772E-D50E-479C-8389-5F3590BF0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8286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D95D45"/>
                </a:solidFill>
              </a:defRPr>
            </a:pPr>
            <a:r>
              <a:rPr sz="1200" b="1">
                <a:solidFill>
                  <a:srgbClr val="D95D45"/>
                </a:solidFill>
              </a:rPr>
              <a:t>06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E6889DF-2934-472A-B743-642915255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A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4F11A74-4E70-4F4D-B990-6D8256F6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58B93"/>
                </a:solidFill>
              </a:defRPr>
            </a:pPr>
            <a:r>
              <a:rPr sz="825">
                <a:solidFill>
                  <a:srgbClr val="858B93"/>
                </a:solidFill>
              </a:rPr>
              <a:t>综述型组会 · 示例版式</a:t>
            </a:r>
          </a:p>
        </p:txBody>
      </p:sp>
      <p:sp>
        <p:nvSpPr>
          <p:cNvPr id="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81492C31-FA74-4CEC-B3BD-23FB6408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858B93"/>
                </a:solidFill>
              </a:defRPr>
            </a:pPr>
            <a:r>
              <a:rPr sz="825">
                <a:solidFill>
                  <a:srgbClr val="858B93"/>
                </a:solidFill>
              </a:rPr>
              <a:t>C · 编辑珊瑚</a:t>
            </a:r>
          </a:p>
        </p:txBody>
      </p:sp>
      <p:sp>
        <p:nvSpPr>
          <p:cNvPr id="8" name="workflow-arrow-0">
            <a:extLst xmlns:a="http://schemas.openxmlformats.org/drawingml/2006/main">
              <a:ext uri="{FF2B5EF4-FFF2-40B4-BE49-F238E27FC236}">
                <a16:creationId xmlns:a16="http://schemas.microsoft.com/office/drawing/2014/main" id="{DF3A903B-66BB-4E4A-998B-800CD217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76625"/>
            <a:ext cx="1162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AA28F"/>
            </a:solidFill>
            <a:prstDash val="solid"/>
          </a:ln>
        </p:spPr>
      </p:sp>
      <p:sp>
        <p:nvSpPr>
          <p:cNvPr id="9" name="workflow-arrow-1">
            <a:extLst xmlns:a="http://schemas.openxmlformats.org/drawingml/2006/main">
              <a:ext uri="{FF2B5EF4-FFF2-40B4-BE49-F238E27FC236}">
                <a16:creationId xmlns:a16="http://schemas.microsoft.com/office/drawing/2014/main" id="{95AF5D5A-7C90-445E-9DC6-9B40E8FCC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476625"/>
            <a:ext cx="1162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AA28F"/>
            </a:solidFill>
            <a:prstDash val="solid"/>
          </a:ln>
        </p:spPr>
      </p:sp>
      <p:sp>
        <p:nvSpPr>
          <p:cNvPr id="10" name="workflow-arrow-2">
            <a:extLst xmlns:a="http://schemas.openxmlformats.org/drawingml/2006/main">
              <a:ext uri="{FF2B5EF4-FFF2-40B4-BE49-F238E27FC236}">
                <a16:creationId xmlns:a16="http://schemas.microsoft.com/office/drawing/2014/main" id="{93B08DBA-2540-4BB7-BD33-05E012DCA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76625"/>
            <a:ext cx="1162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AA28F"/>
            </a:solidFill>
            <a:prstDash val="solid"/>
          </a:ln>
        </p:spPr>
      </p:sp>
      <p:sp>
        <p:nvSpPr>
          <p:cNvPr id="11" name="step-circle-0">
            <a:extLst xmlns:a="http://schemas.openxmlformats.org/drawingml/2006/main">
              <a:ext uri="{FF2B5EF4-FFF2-40B4-BE49-F238E27FC236}">
                <a16:creationId xmlns:a16="http://schemas.microsoft.com/office/drawing/2014/main" id="{46374F11-E876-42DB-ADEC-CA61B5FDD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809875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5F2"/>
          </a:solidFill>
          <a:ln xmlns:a="http://schemas.openxmlformats.org/drawingml/2006/main" w="9525">
            <a:solidFill>
              <a:srgbClr val="E8DAD5"/>
            </a:solidFill>
            <a:prstDash val="solid"/>
          </a:ln>
        </p:spPr>
      </p:sp>
      <p:sp>
        <p:nvSpPr>
          <p:cNvPr id="12" name="step-num-0">
            <a:extLst xmlns:a="http://schemas.openxmlformats.org/drawingml/2006/main">
              <a:ext uri="{FF2B5EF4-FFF2-40B4-BE49-F238E27FC236}">
                <a16:creationId xmlns:a16="http://schemas.microsoft.com/office/drawing/2014/main" id="{47A9638A-3F67-40B4-9F00-EE46A130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1051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95D45"/>
                </a:solidFill>
              </a:defRPr>
            </a:pPr>
            <a:r>
              <a:rPr sz="1650" b="1">
                <a:solidFill>
                  <a:srgbClr val="D95D45"/>
                </a:solidFill>
              </a:rPr>
              <a:t>01</a:t>
            </a:r>
          </a:p>
        </p:txBody>
      </p:sp>
      <p:sp>
        <p:nvSpPr>
          <p:cNvPr id="13" name="step-title-0">
            <a:extLst xmlns:a="http://schemas.openxmlformats.org/drawingml/2006/main">
              <a:ext uri="{FF2B5EF4-FFF2-40B4-BE49-F238E27FC236}">
                <a16:creationId xmlns:a16="http://schemas.microsoft.com/office/drawing/2014/main" id="{144E8E51-403E-4121-936B-3997FF24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2B33"/>
                </a:solidFill>
              </a:defRPr>
            </a:pPr>
            <a:r>
              <a:rPr sz="1650" b="1">
                <a:solidFill>
                  <a:srgbClr val="252B33"/>
                </a:solidFill>
              </a:rPr>
              <a:t>初筛</a:t>
            </a:r>
          </a:p>
        </p:txBody>
      </p:sp>
      <p:sp>
        <p:nvSpPr>
          <p:cNvPr id="14" name="step-body-0">
            <a:extLst xmlns:a="http://schemas.openxmlformats.org/drawingml/2006/main">
              <a:ext uri="{FF2B5EF4-FFF2-40B4-BE49-F238E27FC236}">
                <a16:creationId xmlns:a16="http://schemas.microsoft.com/office/drawing/2014/main" id="{37559BA0-DAD2-4CB4-8DD2-EF27B1C0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38675"/>
            <a:ext cx="186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F6670"/>
                </a:solidFill>
              </a:defRPr>
            </a:pPr>
            <a:r>
              <a:rPr sz="1125">
                <a:solidFill>
                  <a:srgbClr val="5F6670"/>
                </a:solidFill>
              </a:rPr>
              <a:t>探针或高通量读出</a:t>
            </a:r>
          </a:p>
        </p:txBody>
      </p:sp>
      <p:sp>
        <p:nvSpPr>
          <p:cNvPr id="15" name="step-circle-1">
            <a:extLst xmlns:a="http://schemas.openxmlformats.org/drawingml/2006/main">
              <a:ext uri="{FF2B5EF4-FFF2-40B4-BE49-F238E27FC236}">
                <a16:creationId xmlns:a16="http://schemas.microsoft.com/office/drawing/2014/main" id="{C830D622-32F1-40FB-AB93-99AB3453A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809875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5F2"/>
          </a:solidFill>
          <a:ln xmlns:a="http://schemas.openxmlformats.org/drawingml/2006/main" w="9525">
            <a:solidFill>
              <a:srgbClr val="E8DAD5"/>
            </a:solidFill>
            <a:prstDash val="solid"/>
          </a:ln>
        </p:spPr>
      </p:sp>
      <p:sp>
        <p:nvSpPr>
          <p:cNvPr id="16" name="step-num-1">
            <a:extLst xmlns:a="http://schemas.openxmlformats.org/drawingml/2006/main">
              <a:ext uri="{FF2B5EF4-FFF2-40B4-BE49-F238E27FC236}">
                <a16:creationId xmlns:a16="http://schemas.microsoft.com/office/drawing/2014/main" id="{352FCD27-7A83-461D-83B5-5BBAC7E52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1051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95D45"/>
                </a:solidFill>
              </a:defRPr>
            </a:pPr>
            <a:r>
              <a:rPr sz="1650" b="1">
                <a:solidFill>
                  <a:srgbClr val="D95D45"/>
                </a:solidFill>
              </a:rPr>
              <a:t>02</a:t>
            </a:r>
          </a:p>
        </p:txBody>
      </p:sp>
      <p:sp>
        <p:nvSpPr>
          <p:cNvPr id="17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901E07CC-E57E-43C4-8CFB-7655997FA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7195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2B33"/>
                </a:solidFill>
              </a:defRPr>
            </a:pPr>
            <a:r>
              <a:rPr sz="1650" b="1">
                <a:solidFill>
                  <a:srgbClr val="252B33"/>
                </a:solidFill>
              </a:rPr>
              <a:t>定位</a:t>
            </a:r>
          </a:p>
        </p:txBody>
      </p:sp>
      <p:sp>
        <p:nvSpPr>
          <p:cNvPr id="18" name="step-body-1">
            <a:extLst xmlns:a="http://schemas.openxmlformats.org/drawingml/2006/main">
              <a:ext uri="{FF2B5EF4-FFF2-40B4-BE49-F238E27FC236}">
                <a16:creationId xmlns:a16="http://schemas.microsoft.com/office/drawing/2014/main" id="{787BF41F-4D7F-4513-9BA4-69191A29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38675"/>
            <a:ext cx="186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F6670"/>
                </a:solidFill>
              </a:defRPr>
            </a:pPr>
            <a:r>
              <a:rPr sz="1125">
                <a:solidFill>
                  <a:srgbClr val="5F6670"/>
                </a:solidFill>
              </a:rPr>
              <a:t>确认异常发生的位置</a:t>
            </a:r>
          </a:p>
        </p:txBody>
      </p:sp>
      <p:sp>
        <p:nvSpPr>
          <p:cNvPr id="19" name="step-circle-2">
            <a:extLst xmlns:a="http://schemas.openxmlformats.org/drawingml/2006/main">
              <a:ext uri="{FF2B5EF4-FFF2-40B4-BE49-F238E27FC236}">
                <a16:creationId xmlns:a16="http://schemas.microsoft.com/office/drawing/2014/main" id="{692A3315-68D3-4AA1-9FBD-1BC2F132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809875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9525">
            <a:solidFill>
              <a:srgbClr val="E8DAD5"/>
            </a:solidFill>
            <a:prstDash val="solid"/>
          </a:ln>
        </p:spPr>
      </p:sp>
      <p:sp>
        <p:nvSpPr>
          <p:cNvPr id="20" name="step-num-2">
            <a:extLst xmlns:a="http://schemas.openxmlformats.org/drawingml/2006/main">
              <a:ext uri="{FF2B5EF4-FFF2-40B4-BE49-F238E27FC236}">
                <a16:creationId xmlns:a16="http://schemas.microsoft.com/office/drawing/2014/main" id="{2F955660-4903-4B34-9875-C7AF8CC63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1051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1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0158084B-0E4E-4509-B80D-3C43752C5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17195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2B33"/>
                </a:solidFill>
              </a:defRPr>
            </a:pPr>
            <a:r>
              <a:rPr sz="1650" b="1">
                <a:solidFill>
                  <a:srgbClr val="252B33"/>
                </a:solidFill>
              </a:rPr>
              <a:t>验证</a:t>
            </a:r>
          </a:p>
        </p:txBody>
      </p:sp>
      <p:sp>
        <p:nvSpPr>
          <p:cNvPr id="22" name="step-body-2">
            <a:extLst xmlns:a="http://schemas.openxmlformats.org/drawingml/2006/main">
              <a:ext uri="{FF2B5EF4-FFF2-40B4-BE49-F238E27FC236}">
                <a16:creationId xmlns:a16="http://schemas.microsoft.com/office/drawing/2014/main" id="{975CE68C-9508-4C72-90A8-4A821D25E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638675"/>
            <a:ext cx="186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F6670"/>
                </a:solidFill>
              </a:defRPr>
            </a:pPr>
            <a:r>
              <a:rPr sz="1125">
                <a:solidFill>
                  <a:srgbClr val="5F6670"/>
                </a:solidFill>
              </a:rPr>
              <a:t>生化分级或构象证据</a:t>
            </a:r>
          </a:p>
        </p:txBody>
      </p:sp>
      <p:sp>
        <p:nvSpPr>
          <p:cNvPr id="23" name="step-circle-3">
            <a:extLst xmlns:a="http://schemas.openxmlformats.org/drawingml/2006/main">
              <a:ext uri="{FF2B5EF4-FFF2-40B4-BE49-F238E27FC236}">
                <a16:creationId xmlns:a16="http://schemas.microsoft.com/office/drawing/2014/main" id="{454208A0-B2A6-4F13-B750-A0EF08684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809875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5F2"/>
          </a:solidFill>
          <a:ln xmlns:a="http://schemas.openxmlformats.org/drawingml/2006/main" w="9525">
            <a:solidFill>
              <a:srgbClr val="E8DAD5"/>
            </a:solidFill>
            <a:prstDash val="solid"/>
          </a:ln>
        </p:spPr>
      </p:sp>
      <p:sp>
        <p:nvSpPr>
          <p:cNvPr id="24" name="step-num-3">
            <a:extLst xmlns:a="http://schemas.openxmlformats.org/drawingml/2006/main">
              <a:ext uri="{FF2B5EF4-FFF2-40B4-BE49-F238E27FC236}">
                <a16:creationId xmlns:a16="http://schemas.microsoft.com/office/drawing/2014/main" id="{7FF9F81B-9FB8-4DD2-A164-55977035E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1051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95D45"/>
                </a:solidFill>
              </a:defRPr>
            </a:pPr>
            <a:r>
              <a:rPr sz="1650" b="1">
                <a:solidFill>
                  <a:srgbClr val="D95D45"/>
                </a:solidFill>
              </a:rPr>
              <a:t>04</a:t>
            </a:r>
          </a:p>
        </p:txBody>
      </p:sp>
      <p:sp>
        <p:nvSpPr>
          <p:cNvPr id="25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2E1D5EB1-B714-44A2-8252-DDC17CCA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17195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2B33"/>
                </a:solidFill>
              </a:defRPr>
            </a:pPr>
            <a:r>
              <a:rPr sz="1650" b="1">
                <a:solidFill>
                  <a:srgbClr val="252B33"/>
                </a:solidFill>
              </a:rPr>
              <a:t>解释</a:t>
            </a:r>
          </a:p>
        </p:txBody>
      </p:sp>
      <p:sp>
        <p:nvSpPr>
          <p:cNvPr id="26" name="step-body-3">
            <a:extLst xmlns:a="http://schemas.openxmlformats.org/drawingml/2006/main">
              <a:ext uri="{FF2B5EF4-FFF2-40B4-BE49-F238E27FC236}">
                <a16:creationId xmlns:a16="http://schemas.microsoft.com/office/drawing/2014/main" id="{CB8B0712-42B2-4AE1-A1B9-FED752EA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638675"/>
            <a:ext cx="186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F6670"/>
                </a:solidFill>
              </a:defRPr>
            </a:pPr>
            <a:r>
              <a:rPr sz="1125">
                <a:solidFill>
                  <a:srgbClr val="5F6670"/>
                </a:solidFill>
              </a:rPr>
              <a:t>联系细胞功能与表型</a:t>
            </a:r>
          </a:p>
        </p:txBody>
      </p:sp>
    </p:spTree>
    <p:extLst>
      <p:ext uri="{BB962C8B-B14F-4D97-AF65-F5344CB8AC3E}">
        <p14:creationId xmlns:p14="http://schemas.microsoft.com/office/powerpoint/2010/main" val="402184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rule">
            <a:extLst xmlns:a="http://schemas.openxmlformats.org/drawingml/2006/main">
              <a:ext uri="{FF2B5EF4-FFF2-40B4-BE49-F238E27FC236}">
                <a16:creationId xmlns:a16="http://schemas.microsoft.com/office/drawing/2014/main" id="{CFC964E9-8E7A-4DE2-BB29-998CAD5C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E2A865BD-9547-461E-8905-A5AAA1392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95D45"/>
                </a:solidFill>
              </a:defRPr>
            </a:pPr>
            <a:r>
              <a:rPr sz="1050" b="1">
                <a:solidFill>
                  <a:srgbClr val="D95D45"/>
                </a:solidFill>
              </a:rPr>
              <a:t>总结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1665CEF-CF4E-45C4-87EC-7CF1152AD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52B33"/>
                </a:solidFill>
              </a:defRPr>
            </a:pPr>
            <a:r>
              <a:rPr sz="2925" b="1">
                <a:solidFill>
                  <a:srgbClr val="252B33"/>
                </a:solidFill>
              </a:rPr>
              <a:t>结论：先明确对象，再组合互补方法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54233EA-3AC2-427C-92A9-F27D59A2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8286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D95D45"/>
                </a:solidFill>
              </a:defRPr>
            </a:pPr>
            <a:r>
              <a:rPr sz="1200" b="1">
                <a:solidFill>
                  <a:srgbClr val="D95D45"/>
                </a:solidFill>
              </a:rPr>
              <a:t>07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3648F99-CA9E-4C17-9000-C9256036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A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5792D53-2468-4484-BF08-580560F5F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58B93"/>
                </a:solidFill>
              </a:defRPr>
            </a:pPr>
            <a:r>
              <a:rPr sz="825">
                <a:solidFill>
                  <a:srgbClr val="858B93"/>
                </a:solidFill>
              </a:rPr>
              <a:t>综述型组会 · 示例版式</a:t>
            </a:r>
          </a:p>
        </p:txBody>
      </p:sp>
      <p:sp>
        <p:nvSpPr>
          <p:cNvPr id="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6C78D5EA-BA0A-42A4-9266-0C9279E8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858B93"/>
                </a:solidFill>
              </a:defRPr>
            </a:pPr>
            <a:r>
              <a:rPr sz="825">
                <a:solidFill>
                  <a:srgbClr val="858B93"/>
                </a:solidFill>
              </a:rPr>
              <a:t>C · 编辑珊瑚</a:t>
            </a:r>
          </a:p>
        </p:txBody>
      </p:sp>
      <p:sp>
        <p:nvSpPr>
          <p:cNvPr id="8" name="summary-mark-0">
            <a:extLst xmlns:a="http://schemas.openxmlformats.org/drawingml/2006/main">
              <a:ext uri="{FF2B5EF4-FFF2-40B4-BE49-F238E27FC236}">
                <a16:creationId xmlns:a16="http://schemas.microsoft.com/office/drawing/2014/main" id="{9361E207-A367-45FB-B55D-2ACA58C4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A2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ummary-title-0">
            <a:extLst xmlns:a="http://schemas.openxmlformats.org/drawingml/2006/main">
              <a:ext uri="{FF2B5EF4-FFF2-40B4-BE49-F238E27FC236}">
                <a16:creationId xmlns:a16="http://schemas.microsoft.com/office/drawing/2014/main" id="{570E728A-5BEC-4F47-9E7F-191614C9B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002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52B33"/>
                </a:solidFill>
              </a:defRPr>
            </a:pPr>
            <a:r>
              <a:rPr sz="1650" b="1">
                <a:solidFill>
                  <a:srgbClr val="252B33"/>
                </a:solidFill>
              </a:rPr>
              <a:t>检测对象</a:t>
            </a:r>
          </a:p>
        </p:txBody>
      </p:sp>
      <p:sp>
        <p:nvSpPr>
          <p:cNvPr id="10" name="summary-body-0">
            <a:extLst xmlns:a="http://schemas.openxmlformats.org/drawingml/2006/main">
              <a:ext uri="{FF2B5EF4-FFF2-40B4-BE49-F238E27FC236}">
                <a16:creationId xmlns:a16="http://schemas.microsoft.com/office/drawing/2014/main" id="{393C0B9F-0471-45CA-B410-8DA0CEB3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714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F6670"/>
                </a:solidFill>
              </a:defRPr>
            </a:pPr>
            <a:r>
              <a:rPr sz="1575">
                <a:solidFill>
                  <a:srgbClr val="5F6670"/>
                </a:solidFill>
              </a:rPr>
              <a:t>区分构象变化、聚集体、定位和细胞反应</a:t>
            </a:r>
          </a:p>
        </p:txBody>
      </p:sp>
      <p:sp>
        <p:nvSpPr>
          <p:cNvPr id="11" name="summary-mark-1">
            <a:extLst xmlns:a="http://schemas.openxmlformats.org/drawingml/2006/main">
              <a:ext uri="{FF2B5EF4-FFF2-40B4-BE49-F238E27FC236}">
                <a16:creationId xmlns:a16="http://schemas.microsoft.com/office/drawing/2014/main" id="{D4FF54D0-10B9-4DDA-AF52-FE60DC096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ummary-title-1">
            <a:extLst xmlns:a="http://schemas.openxmlformats.org/drawingml/2006/main">
              <a:ext uri="{FF2B5EF4-FFF2-40B4-BE49-F238E27FC236}">
                <a16:creationId xmlns:a16="http://schemas.microsoft.com/office/drawing/2014/main" id="{D52EAB4F-61A2-491B-B706-9EF524237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242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52B33"/>
                </a:solidFill>
              </a:defRPr>
            </a:pPr>
            <a:r>
              <a:rPr sz="1650" b="1">
                <a:solidFill>
                  <a:srgbClr val="252B33"/>
                </a:solidFill>
              </a:rPr>
              <a:t>证据强度</a:t>
            </a:r>
          </a:p>
        </p:txBody>
      </p:sp>
      <p:sp>
        <p:nvSpPr>
          <p:cNvPr id="13" name="summary-body-1">
            <a:extLst xmlns:a="http://schemas.openxmlformats.org/drawingml/2006/main">
              <a:ext uri="{FF2B5EF4-FFF2-40B4-BE49-F238E27FC236}">
                <a16:creationId xmlns:a16="http://schemas.microsoft.com/office/drawing/2014/main" id="{5A69EC99-42E5-4F34-9BA8-0AA5407B8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24200"/>
            <a:ext cx="714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F6670"/>
                </a:solidFill>
              </a:defRPr>
            </a:pPr>
            <a:r>
              <a:rPr sz="1575">
                <a:solidFill>
                  <a:srgbClr val="5F6670"/>
                </a:solidFill>
              </a:rPr>
              <a:t>单一信号用于提示，正交方法用于验证</a:t>
            </a:r>
          </a:p>
        </p:txBody>
      </p:sp>
      <p:sp>
        <p:nvSpPr>
          <p:cNvPr id="14" name="summary-mark-2">
            <a:extLst xmlns:a="http://schemas.openxmlformats.org/drawingml/2006/main">
              <a:ext uri="{FF2B5EF4-FFF2-40B4-BE49-F238E27FC236}">
                <a16:creationId xmlns:a16="http://schemas.microsoft.com/office/drawing/2014/main" id="{CF5FEFB1-3D6A-41D7-8DDC-4057BC13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A2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ummary-title-2">
            <a:extLst xmlns:a="http://schemas.openxmlformats.org/drawingml/2006/main">
              <a:ext uri="{FF2B5EF4-FFF2-40B4-BE49-F238E27FC236}">
                <a16:creationId xmlns:a16="http://schemas.microsoft.com/office/drawing/2014/main" id="{5746B34C-6550-4C98-91BF-C13F9918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481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52B33"/>
                </a:solidFill>
              </a:defRPr>
            </a:pPr>
            <a:r>
              <a:rPr sz="1650" b="1">
                <a:solidFill>
                  <a:srgbClr val="252B33"/>
                </a:solidFill>
              </a:rPr>
              <a:t>实验选择</a:t>
            </a:r>
          </a:p>
        </p:txBody>
      </p:sp>
      <p:sp>
        <p:nvSpPr>
          <p:cNvPr id="16" name="summary-body-2">
            <a:extLst xmlns:a="http://schemas.openxmlformats.org/drawingml/2006/main">
              <a:ext uri="{FF2B5EF4-FFF2-40B4-BE49-F238E27FC236}">
                <a16:creationId xmlns:a16="http://schemas.microsoft.com/office/drawing/2014/main" id="{A5C2E1F3-8E40-498C-9415-C4680CC2C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48150"/>
            <a:ext cx="714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F6670"/>
                </a:solidFill>
              </a:defRPr>
            </a:pPr>
            <a:r>
              <a:rPr sz="1575">
                <a:solidFill>
                  <a:srgbClr val="5F6670"/>
                </a:solidFill>
              </a:rPr>
              <a:t>根据样本、尺度和研究问题组合方法</a:t>
            </a:r>
          </a:p>
        </p:txBody>
      </p:sp>
      <p:sp>
        <p:nvSpPr>
          <p:cNvPr id="17" name="closing">
            <a:extLst xmlns:a="http://schemas.openxmlformats.org/drawingml/2006/main">
              <a:ext uri="{FF2B5EF4-FFF2-40B4-BE49-F238E27FC236}">
                <a16:creationId xmlns:a16="http://schemas.microsoft.com/office/drawing/2014/main" id="{0E7461B1-376D-4F49-9DEF-7481E4F6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57800"/>
            <a:ext cx="10439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BF5F2"/>
          </a:solidFill>
          <a:ln xmlns:a="http://schemas.openxmlformats.org/drawingml/2006/main" w="9525">
            <a:solidFill>
              <a:srgbClr val="E8DAD5"/>
            </a:solidFill>
            <a:prstDash val="solid"/>
          </a:ln>
        </p:spPr>
      </p:sp>
      <p:sp>
        <p:nvSpPr>
          <p:cNvPr id="18" name="closing-text">
            <a:extLst xmlns:a="http://schemas.openxmlformats.org/drawingml/2006/main">
              <a:ext uri="{FF2B5EF4-FFF2-40B4-BE49-F238E27FC236}">
                <a16:creationId xmlns:a16="http://schemas.microsoft.com/office/drawing/2014/main" id="{50BF86A2-CF53-47EB-ACCA-86EB7AF03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197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D95D45"/>
                </a:solidFill>
              </a:defRPr>
            </a:pPr>
            <a:r>
              <a:rPr sz="1425" b="1">
                <a:solidFill>
                  <a:srgbClr val="D95D45"/>
                </a:solidFill>
              </a:rPr>
              <a:t>下一步：用与研究问题匹配的证据组合，减少过度解释。</a:t>
            </a:r>
          </a:p>
        </p:txBody>
      </p:sp>
    </p:spTree>
    <p:extLst>
      <p:ext uri="{BB962C8B-B14F-4D97-AF65-F5344CB8AC3E}">
        <p14:creationId xmlns:p14="http://schemas.microsoft.com/office/powerpoint/2010/main" val="8097973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-rule">
            <a:extLst xmlns:a="http://schemas.openxmlformats.org/drawingml/2006/main">
              <a:ext uri="{FF2B5EF4-FFF2-40B4-BE49-F238E27FC236}">
                <a16:creationId xmlns:a16="http://schemas.microsoft.com/office/drawing/2014/main" id="{4B320F66-86E7-48FA-B0A6-C5C7AD85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1550FA8B-A426-4C67-BA84-B7BF9B424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95D45"/>
                </a:solidFill>
              </a:defRPr>
            </a:pPr>
            <a:r>
              <a:rPr sz="1050" b="1">
                <a:solidFill>
                  <a:srgbClr val="D95D45"/>
                </a:solidFill>
              </a:rPr>
              <a:t>BACKUP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E2959D2-28A8-436B-A1CA-09AD3AF86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52B33"/>
                </a:solidFill>
              </a:defRPr>
            </a:pPr>
            <a:r>
              <a:rPr sz="2925" b="1">
                <a:solidFill>
                  <a:srgbClr val="252B33"/>
                </a:solidFill>
              </a:rPr>
              <a:t>备用页：关键参数与对照设置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D3E60E1-0577-4C96-962B-CEC06D9BF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8286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D95D45"/>
                </a:solidFill>
              </a:defRPr>
            </a:pPr>
            <a:r>
              <a:rPr sz="1200" b="1">
                <a:solidFill>
                  <a:srgbClr val="D95D45"/>
                </a:solidFill>
              </a:rPr>
              <a:t>08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897D949-328A-4C68-8A62-955CBDC4F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A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E58459E-DB3C-4E54-B0F5-D6C384BE3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58B93"/>
                </a:solidFill>
              </a:defRPr>
            </a:pPr>
            <a:r>
              <a:rPr sz="825">
                <a:solidFill>
                  <a:srgbClr val="858B93"/>
                </a:solidFill>
              </a:rPr>
              <a:t>综述型组会 · 示例版式</a:t>
            </a:r>
          </a:p>
        </p:txBody>
      </p:sp>
      <p:sp>
        <p:nvSpPr>
          <p:cNvPr id="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B299C037-04D1-470B-B6D2-7D778813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858B93"/>
                </a:solidFill>
              </a:defRPr>
            </a:pPr>
            <a:r>
              <a:rPr sz="825">
                <a:solidFill>
                  <a:srgbClr val="858B93"/>
                </a:solidFill>
              </a:rPr>
              <a:t>C · 编辑珊瑚</a:t>
            </a:r>
          </a:p>
        </p:txBody>
      </p:sp>
      <p:sp>
        <p:nvSpPr>
          <p:cNvPr id="8" name="backup-tag">
            <a:extLst xmlns:a="http://schemas.openxmlformats.org/drawingml/2006/main">
              <a:ext uri="{FF2B5EF4-FFF2-40B4-BE49-F238E27FC236}">
                <a16:creationId xmlns:a16="http://schemas.microsoft.com/office/drawing/2014/main" id="{B7BD309F-412E-420D-97DC-5C0FD3B2E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428750"/>
            <a:ext cx="1981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ackup-tag-text">
            <a:extLst xmlns:a="http://schemas.openxmlformats.org/drawingml/2006/main">
              <a:ext uri="{FF2B5EF4-FFF2-40B4-BE49-F238E27FC236}">
                <a16:creationId xmlns:a16="http://schemas.microsoft.com/office/drawing/2014/main" id="{6C90D59B-A207-4F21-A408-E6ABF5EF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24000"/>
            <a:ext cx="1790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备用页 · 不计入主汇报</a:t>
            </a:r>
          </a:p>
        </p:txBody>
      </p:sp>
      <p:sp>
        <p:nvSpPr>
          <p:cNvPr id="10" name="backup-field-0">
            <a:extLst xmlns:a="http://schemas.openxmlformats.org/drawingml/2006/main">
              <a:ext uri="{FF2B5EF4-FFF2-40B4-BE49-F238E27FC236}">
                <a16:creationId xmlns:a16="http://schemas.microsoft.com/office/drawing/2014/main" id="{BF60ED58-83AD-4BE9-996E-9C1B485A7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50482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AD5"/>
            </a:solidFill>
            <a:prstDash val="solid"/>
          </a:ln>
        </p:spPr>
      </p:sp>
      <p:sp>
        <p:nvSpPr>
          <p:cNvPr id="11" name="backup-title-0">
            <a:extLst xmlns:a="http://schemas.openxmlformats.org/drawingml/2006/main">
              <a:ext uri="{FF2B5EF4-FFF2-40B4-BE49-F238E27FC236}">
                <a16:creationId xmlns:a16="http://schemas.microsoft.com/office/drawing/2014/main" id="{F9D03747-4D4A-48F9-8C9D-DE18DB7D9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907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2B33"/>
                </a:solidFill>
              </a:defRPr>
            </a:pPr>
            <a:r>
              <a:rPr sz="1500" b="1">
                <a:solidFill>
                  <a:srgbClr val="252B33"/>
                </a:solidFill>
              </a:rPr>
              <a:t>阳性对照</a:t>
            </a:r>
          </a:p>
        </p:txBody>
      </p:sp>
      <p:sp>
        <p:nvSpPr>
          <p:cNvPr id="12" name="backup-body-0">
            <a:extLst xmlns:a="http://schemas.openxmlformats.org/drawingml/2006/main">
              <a:ext uri="{FF2B5EF4-FFF2-40B4-BE49-F238E27FC236}">
                <a16:creationId xmlns:a16="http://schemas.microsoft.com/office/drawing/2014/main" id="{BE831BC7-24CA-4DED-B04A-F82A4C1D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28925"/>
            <a:ext cx="4343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F6670"/>
                </a:solidFill>
              </a:defRPr>
            </a:pPr>
            <a:r>
              <a:rPr sz="1200">
                <a:solidFill>
                  <a:srgbClr val="5F6670"/>
                </a:solidFill>
              </a:rPr>
              <a:t>已知可形成目标构象或聚集状态的样本</a:t>
            </a:r>
          </a:p>
        </p:txBody>
      </p:sp>
      <p:sp>
        <p:nvSpPr>
          <p:cNvPr id="13" name="backup-field-1">
            <a:extLst xmlns:a="http://schemas.openxmlformats.org/drawingml/2006/main">
              <a:ext uri="{FF2B5EF4-FFF2-40B4-BE49-F238E27FC236}">
                <a16:creationId xmlns:a16="http://schemas.microsoft.com/office/drawing/2014/main" id="{05968D60-EF09-418E-A5C0-50A7EC00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33600"/>
            <a:ext cx="50482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AD5"/>
            </a:solidFill>
            <a:prstDash val="solid"/>
          </a:ln>
        </p:spPr>
      </p:sp>
      <p:sp>
        <p:nvSpPr>
          <p:cNvPr id="14" name="backup-title-1">
            <a:extLst xmlns:a="http://schemas.openxmlformats.org/drawingml/2006/main">
              <a:ext uri="{FF2B5EF4-FFF2-40B4-BE49-F238E27FC236}">
                <a16:creationId xmlns:a16="http://schemas.microsoft.com/office/drawing/2014/main" id="{0AD1ACFF-61FC-4ABB-908D-4357B5C78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907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2B33"/>
                </a:solidFill>
              </a:defRPr>
            </a:pPr>
            <a:r>
              <a:rPr sz="1500" b="1">
                <a:solidFill>
                  <a:srgbClr val="252B33"/>
                </a:solidFill>
              </a:rPr>
              <a:t>阴性对照</a:t>
            </a:r>
          </a:p>
        </p:txBody>
      </p:sp>
      <p:sp>
        <p:nvSpPr>
          <p:cNvPr id="15" name="backup-body-1">
            <a:extLst xmlns:a="http://schemas.openxmlformats.org/drawingml/2006/main">
              <a:ext uri="{FF2B5EF4-FFF2-40B4-BE49-F238E27FC236}">
                <a16:creationId xmlns:a16="http://schemas.microsoft.com/office/drawing/2014/main" id="{DE1E131D-AF27-48C9-BF47-0C9CA8E05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28925"/>
            <a:ext cx="4343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F6670"/>
                </a:solidFill>
              </a:defRPr>
            </a:pPr>
            <a:r>
              <a:rPr sz="1200">
                <a:solidFill>
                  <a:srgbClr val="5F6670"/>
                </a:solidFill>
              </a:rPr>
              <a:t>结构相近但不发生目标变化的样本</a:t>
            </a:r>
          </a:p>
        </p:txBody>
      </p:sp>
      <p:sp>
        <p:nvSpPr>
          <p:cNvPr id="16" name="backup-field-2">
            <a:extLst xmlns:a="http://schemas.openxmlformats.org/drawingml/2006/main">
              <a:ext uri="{FF2B5EF4-FFF2-40B4-BE49-F238E27FC236}">
                <a16:creationId xmlns:a16="http://schemas.microsoft.com/office/drawing/2014/main" id="{D9F330D3-6577-4370-8033-C0315C2BE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50482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AD5"/>
            </a:solidFill>
            <a:prstDash val="solid"/>
          </a:ln>
        </p:spPr>
      </p:sp>
      <p:sp>
        <p:nvSpPr>
          <p:cNvPr id="17" name="backup-title-2">
            <a:extLst xmlns:a="http://schemas.openxmlformats.org/drawingml/2006/main">
              <a:ext uri="{FF2B5EF4-FFF2-40B4-BE49-F238E27FC236}">
                <a16:creationId xmlns:a16="http://schemas.microsoft.com/office/drawing/2014/main" id="{6B86C63D-0DFE-42AE-AF94-70092D5D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481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2B33"/>
                </a:solidFill>
              </a:defRPr>
            </a:pPr>
            <a:r>
              <a:rPr sz="1500" b="1">
                <a:solidFill>
                  <a:srgbClr val="252B33"/>
                </a:solidFill>
              </a:rPr>
              <a:t>技术控制</a:t>
            </a:r>
          </a:p>
        </p:txBody>
      </p:sp>
      <p:sp>
        <p:nvSpPr>
          <p:cNvPr id="18" name="backup-body-2">
            <a:extLst xmlns:a="http://schemas.openxmlformats.org/drawingml/2006/main">
              <a:ext uri="{FF2B5EF4-FFF2-40B4-BE49-F238E27FC236}">
                <a16:creationId xmlns:a16="http://schemas.microsoft.com/office/drawing/2014/main" id="{B279EE74-8F03-4D62-AABD-F606B127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86275"/>
            <a:ext cx="4343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F6670"/>
                </a:solidFill>
              </a:defRPr>
            </a:pPr>
            <a:r>
              <a:rPr sz="1200">
                <a:solidFill>
                  <a:srgbClr val="5F6670"/>
                </a:solidFill>
              </a:rPr>
              <a:t>探针浓度、曝光、批次和背景校正</a:t>
            </a:r>
          </a:p>
        </p:txBody>
      </p:sp>
      <p:sp>
        <p:nvSpPr>
          <p:cNvPr id="19" name="backup-field-3">
            <a:extLst xmlns:a="http://schemas.openxmlformats.org/drawingml/2006/main">
              <a:ext uri="{FF2B5EF4-FFF2-40B4-BE49-F238E27FC236}">
                <a16:creationId xmlns:a16="http://schemas.microsoft.com/office/drawing/2014/main" id="{B495A835-5872-454C-8BC2-C37D20D33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90950"/>
            <a:ext cx="50482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BF5F2"/>
          </a:solidFill>
          <a:ln xmlns:a="http://schemas.openxmlformats.org/drawingml/2006/main" w="9525">
            <a:solidFill>
              <a:srgbClr val="E8DAD5"/>
            </a:solidFill>
            <a:prstDash val="solid"/>
          </a:ln>
        </p:spPr>
      </p:sp>
      <p:sp>
        <p:nvSpPr>
          <p:cNvPr id="20" name="backup-title-3">
            <a:extLst xmlns:a="http://schemas.openxmlformats.org/drawingml/2006/main">
              <a:ext uri="{FF2B5EF4-FFF2-40B4-BE49-F238E27FC236}">
                <a16:creationId xmlns:a16="http://schemas.microsoft.com/office/drawing/2014/main" id="{2F027803-0E6A-478F-A6C8-D8D5E6A7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481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95D45"/>
                </a:solidFill>
              </a:defRPr>
            </a:pPr>
            <a:r>
              <a:rPr sz="1500" b="1">
                <a:solidFill>
                  <a:srgbClr val="D95D45"/>
                </a:solidFill>
              </a:rPr>
              <a:t>正交验证</a:t>
            </a:r>
          </a:p>
        </p:txBody>
      </p:sp>
      <p:sp>
        <p:nvSpPr>
          <p:cNvPr id="21" name="backup-body-3">
            <a:extLst xmlns:a="http://schemas.openxmlformats.org/drawingml/2006/main">
              <a:ext uri="{FF2B5EF4-FFF2-40B4-BE49-F238E27FC236}">
                <a16:creationId xmlns:a16="http://schemas.microsoft.com/office/drawing/2014/main" id="{83CEBE3C-D028-400A-BF8B-10F37AA21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86275"/>
            <a:ext cx="4343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F6670"/>
                </a:solidFill>
              </a:defRPr>
            </a:pPr>
            <a:r>
              <a:rPr sz="1200">
                <a:solidFill>
                  <a:srgbClr val="5F6670"/>
                </a:solidFill>
              </a:rPr>
              <a:t>采用不同原理的方法复核主要结论</a:t>
            </a:r>
          </a:p>
        </p:txBody>
      </p:sp>
    </p:spTree>
    <p:extLst>
      <p:ext uri="{BB962C8B-B14F-4D97-AF65-F5344CB8AC3E}">
        <p14:creationId xmlns:p14="http://schemas.microsoft.com/office/powerpoint/2010/main" val="15434620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2026-08-01T10:25:08.0880000Z</dcterms:created>
  <dcterms:modified xsi:type="dcterms:W3CDTF">2026-08-01T10:25:08.0880000Z</dcterms:modified>
</coreProperties>
</file>